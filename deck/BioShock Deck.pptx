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77" r:id="rId2"/>
    <p:sldId id="271" r:id="rId3"/>
    <p:sldId id="269" r:id="rId4"/>
    <p:sldId id="267" r:id="rId5"/>
    <p:sldId id="268" r:id="rId6"/>
    <p:sldId id="259" r:id="rId7"/>
    <p:sldId id="256" r:id="rId8"/>
    <p:sldId id="258" r:id="rId9"/>
    <p:sldId id="257" r:id="rId10"/>
    <p:sldId id="260" r:id="rId11"/>
    <p:sldId id="265" r:id="rId12"/>
    <p:sldId id="262" r:id="rId13"/>
    <p:sldId id="261" r:id="rId14"/>
    <p:sldId id="266" r:id="rId15"/>
    <p:sldId id="272" r:id="rId16"/>
    <p:sldId id="273" r:id="rId17"/>
    <p:sldId id="274" r:id="rId18"/>
    <p:sldId id="275" r:id="rId19"/>
    <p:sldId id="276"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C8C8C"/>
    <a:srgbClr val="1F3A3D"/>
    <a:srgbClr val="C44536"/>
    <a:srgbClr val="EDE4D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26" autoAdjust="0"/>
    <p:restoredTop sz="94660"/>
  </p:normalViewPr>
  <p:slideViewPr>
    <p:cSldViewPr snapToGrid="0">
      <p:cViewPr varScale="1">
        <p:scale>
          <a:sx n="99" d="100"/>
          <a:sy n="99" d="100"/>
        </p:scale>
        <p:origin x="47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stacked"/>
        <c:varyColors val="0"/>
        <c:ser>
          <c:idx val="1"/>
          <c:order val="0"/>
          <c:tx>
            <c:strRef>
              <c:f>Sheet1!$A$3</c:f>
              <c:strCache>
                <c:ptCount val="1"/>
                <c:pt idx="0">
                  <c:v>Negative Reviews</c:v>
                </c:pt>
              </c:strCache>
            </c:strRef>
          </c:tx>
          <c:spPr>
            <a:solidFill>
              <a:srgbClr val="C44536"/>
            </a:solidFill>
            <a:ln>
              <a:noFill/>
            </a:ln>
            <a:effectLst/>
          </c:spPr>
          <c:invertIfNegative val="0"/>
          <c:dLbls>
            <c:dLbl>
              <c:idx val="0"/>
              <c:layout>
                <c:manualLayout>
                  <c:x val="0.10805904307010061"/>
                  <c:y val="-1.239696547664757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1B97-4675-B0E1-0D36A7A1C508}"/>
                </c:ext>
              </c:extLst>
            </c:dLbl>
            <c:dLbl>
              <c:idx val="1"/>
              <c:layout>
                <c:manualLayout>
                  <c:x val="0.10346078591818143"/>
                  <c:y val="-6.1984827383237302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1B97-4675-B0E1-0D36A7A1C508}"/>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Sheet1!$B$1:$C$1</c:f>
              <c:strCache>
                <c:ptCount val="2"/>
                <c:pt idx="0">
                  <c:v>Dishonored (2012)</c:v>
                </c:pt>
                <c:pt idx="1">
                  <c:v>Dishonored 2 (2016)</c:v>
                </c:pt>
              </c:strCache>
            </c:strRef>
          </c:cat>
          <c:val>
            <c:numRef>
              <c:f>Sheet1!$B$3:$C$3</c:f>
              <c:numCache>
                <c:formatCode>#,##0</c:formatCode>
                <c:ptCount val="2"/>
                <c:pt idx="0">
                  <c:v>1190</c:v>
                </c:pt>
                <c:pt idx="1">
                  <c:v>2378</c:v>
                </c:pt>
              </c:numCache>
            </c:numRef>
          </c:val>
          <c:extLst>
            <c:ext xmlns:c16="http://schemas.microsoft.com/office/drawing/2014/chart" uri="{C3380CC4-5D6E-409C-BE32-E72D297353CC}">
              <c16:uniqueId val="{00000004-7F0F-4741-8A9B-45F7FEDD63B7}"/>
            </c:ext>
          </c:extLst>
        </c:ser>
        <c:ser>
          <c:idx val="0"/>
          <c:order val="1"/>
          <c:tx>
            <c:strRef>
              <c:f>Sheet1!$A$2</c:f>
              <c:strCache>
                <c:ptCount val="1"/>
                <c:pt idx="0">
                  <c:v>Positive reviews</c:v>
                </c:pt>
              </c:strCache>
            </c:strRef>
          </c:tx>
          <c:spPr>
            <a:solidFill>
              <a:srgbClr val="8C8C8C"/>
            </a:solidFill>
            <a:ln>
              <a:noFill/>
            </a:ln>
            <a:effectLst/>
          </c:spPr>
          <c:invertIfNegative val="0"/>
          <c:cat>
            <c:strRef>
              <c:f>Sheet1!$B$1:$C$1</c:f>
              <c:strCache>
                <c:ptCount val="2"/>
                <c:pt idx="0">
                  <c:v>Dishonored (2012)</c:v>
                </c:pt>
                <c:pt idx="1">
                  <c:v>Dishonored 2 (2016)</c:v>
                </c:pt>
              </c:strCache>
            </c:strRef>
          </c:cat>
          <c:val>
            <c:numRef>
              <c:f>Sheet1!$B$2:$C$2</c:f>
              <c:numCache>
                <c:formatCode>#,##0</c:formatCode>
                <c:ptCount val="2"/>
                <c:pt idx="0">
                  <c:v>38474</c:v>
                </c:pt>
                <c:pt idx="1">
                  <c:v>17439</c:v>
                </c:pt>
              </c:numCache>
            </c:numRef>
          </c:val>
          <c:extLst>
            <c:ext xmlns:c16="http://schemas.microsoft.com/office/drawing/2014/chart" uri="{C3380CC4-5D6E-409C-BE32-E72D297353CC}">
              <c16:uniqueId val="{00000000-7F0F-4741-8A9B-45F7FEDD63B7}"/>
            </c:ext>
          </c:extLst>
        </c:ser>
        <c:dLbls>
          <c:showLegendKey val="0"/>
          <c:showVal val="0"/>
          <c:showCatName val="0"/>
          <c:showSerName val="0"/>
          <c:showPercent val="0"/>
          <c:showBubbleSize val="0"/>
        </c:dLbls>
        <c:gapWidth val="100"/>
        <c:overlap val="100"/>
        <c:axId val="1414443391"/>
        <c:axId val="1937100655"/>
      </c:barChart>
      <c:catAx>
        <c:axId val="141444339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937100655"/>
        <c:crosses val="autoZero"/>
        <c:auto val="1"/>
        <c:lblAlgn val="ctr"/>
        <c:lblOffset val="100"/>
        <c:noMultiLvlLbl val="0"/>
      </c:catAx>
      <c:valAx>
        <c:axId val="1937100655"/>
        <c:scaling>
          <c:orientation val="minMax"/>
        </c:scaling>
        <c:delete val="0"/>
        <c:axPos val="l"/>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baseline="0" dirty="0"/>
                  <a:t>Total English Steam Reviews</a:t>
                </a:r>
                <a:endParaRPr lang="en-US" dirty="0"/>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414443391"/>
        <c:crosses val="autoZero"/>
        <c:crossBetween val="between"/>
      </c:valAx>
      <c:spPr>
        <a:noFill/>
        <a:ln>
          <a:noFill/>
        </a:ln>
        <a:effectLst/>
      </c:spPr>
    </c:plotArea>
    <c:legend>
      <c:legendPos val="tr"/>
      <c:layout>
        <c:manualLayout>
          <c:xMode val="edge"/>
          <c:yMode val="edge"/>
          <c:x val="0.68843531084942489"/>
          <c:y val="5.8885586014075439E-2"/>
          <c:w val="0.25178734617562593"/>
          <c:h val="0.12684487223194429"/>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839521-9CAD-4864-ACF2-CCD80A6B77DB}" type="datetimeFigureOut">
              <a:rPr lang="en-US" smtClean="0"/>
              <a:t>9/10/2026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F5F989-CB66-4714-A06D-73969DD289E2}" type="slidenum">
              <a:rPr lang="en-US" smtClean="0"/>
              <a:t>‹#›</a:t>
            </a:fld>
            <a:endParaRPr lang="en-US"/>
          </a:p>
        </p:txBody>
      </p:sp>
    </p:spTree>
    <p:extLst>
      <p:ext uri="{BB962C8B-B14F-4D97-AF65-F5344CB8AC3E}">
        <p14:creationId xmlns:p14="http://schemas.microsoft.com/office/powerpoint/2010/main" val="35678318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FAF41-1172-DA7C-CF45-B99C3F04CDA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979F9EB-0E1E-F5F5-6CFB-0BB656E9305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3B7A2E7-F5C8-9BFC-42F0-3F29507DA448}"/>
              </a:ext>
            </a:extLst>
          </p:cNvPr>
          <p:cNvSpPr>
            <a:spLocks noGrp="1"/>
          </p:cNvSpPr>
          <p:nvPr>
            <p:ph type="dt" sz="half" idx="10"/>
          </p:nvPr>
        </p:nvSpPr>
        <p:spPr/>
        <p:txBody>
          <a:bodyPr/>
          <a:lstStyle/>
          <a:p>
            <a:fld id="{374D245B-B30A-4E35-A2B1-F6F71917770A}" type="datetimeFigureOut">
              <a:rPr lang="en-US" smtClean="0"/>
              <a:t>9/10/2026</a:t>
            </a:fld>
            <a:endParaRPr lang="en-US"/>
          </a:p>
        </p:txBody>
      </p:sp>
      <p:sp>
        <p:nvSpPr>
          <p:cNvPr id="5" name="Footer Placeholder 4">
            <a:extLst>
              <a:ext uri="{FF2B5EF4-FFF2-40B4-BE49-F238E27FC236}">
                <a16:creationId xmlns:a16="http://schemas.microsoft.com/office/drawing/2014/main" id="{6BED34DB-E027-3255-F6BF-968B105E50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86A1AD-BA07-77F6-093A-8BAC025F58D1}"/>
              </a:ext>
            </a:extLst>
          </p:cNvPr>
          <p:cNvSpPr>
            <a:spLocks noGrp="1"/>
          </p:cNvSpPr>
          <p:nvPr>
            <p:ph type="sldNum" sz="quarter" idx="12"/>
          </p:nvPr>
        </p:nvSpPr>
        <p:spPr/>
        <p:txBody>
          <a:bodyPr/>
          <a:lstStyle/>
          <a:p>
            <a:fld id="{17F740E1-1D7F-44DF-9296-6DE405E17C79}" type="slidenum">
              <a:rPr lang="en-US" smtClean="0"/>
              <a:t>‹#›</a:t>
            </a:fld>
            <a:endParaRPr lang="en-US"/>
          </a:p>
        </p:txBody>
      </p:sp>
    </p:spTree>
    <p:extLst>
      <p:ext uri="{BB962C8B-B14F-4D97-AF65-F5344CB8AC3E}">
        <p14:creationId xmlns:p14="http://schemas.microsoft.com/office/powerpoint/2010/main" val="1252613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DA7E2-15A6-93EC-3D88-E969E44C43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7C449B0-CBEB-F429-92F6-702DE83D025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4F9ACE-EEB6-3D94-2A9C-CA318B49F1E6}"/>
              </a:ext>
            </a:extLst>
          </p:cNvPr>
          <p:cNvSpPr>
            <a:spLocks noGrp="1"/>
          </p:cNvSpPr>
          <p:nvPr>
            <p:ph type="dt" sz="half" idx="10"/>
          </p:nvPr>
        </p:nvSpPr>
        <p:spPr/>
        <p:txBody>
          <a:bodyPr/>
          <a:lstStyle/>
          <a:p>
            <a:fld id="{374D245B-B30A-4E35-A2B1-F6F71917770A}" type="datetimeFigureOut">
              <a:rPr lang="en-US" smtClean="0"/>
              <a:t>9/10/2026</a:t>
            </a:fld>
            <a:endParaRPr lang="en-US"/>
          </a:p>
        </p:txBody>
      </p:sp>
      <p:sp>
        <p:nvSpPr>
          <p:cNvPr id="5" name="Footer Placeholder 4">
            <a:extLst>
              <a:ext uri="{FF2B5EF4-FFF2-40B4-BE49-F238E27FC236}">
                <a16:creationId xmlns:a16="http://schemas.microsoft.com/office/drawing/2014/main" id="{88F2A5E0-5F45-F24E-1560-F5A518311B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98A4B2-5576-F634-D173-A475EB6D73DB}"/>
              </a:ext>
            </a:extLst>
          </p:cNvPr>
          <p:cNvSpPr>
            <a:spLocks noGrp="1"/>
          </p:cNvSpPr>
          <p:nvPr>
            <p:ph type="sldNum" sz="quarter" idx="12"/>
          </p:nvPr>
        </p:nvSpPr>
        <p:spPr/>
        <p:txBody>
          <a:bodyPr/>
          <a:lstStyle/>
          <a:p>
            <a:fld id="{17F740E1-1D7F-44DF-9296-6DE405E17C79}" type="slidenum">
              <a:rPr lang="en-US" smtClean="0"/>
              <a:t>‹#›</a:t>
            </a:fld>
            <a:endParaRPr lang="en-US"/>
          </a:p>
        </p:txBody>
      </p:sp>
    </p:spTree>
    <p:extLst>
      <p:ext uri="{BB962C8B-B14F-4D97-AF65-F5344CB8AC3E}">
        <p14:creationId xmlns:p14="http://schemas.microsoft.com/office/powerpoint/2010/main" val="17479048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18FD0-6D5E-C2C7-63A6-C51DDCCFD97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8F9C7BC-6C29-DAB0-467A-FF99A977256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EEF0BA4-EA06-947A-50DE-959E58EA8AC5}"/>
              </a:ext>
            </a:extLst>
          </p:cNvPr>
          <p:cNvSpPr>
            <a:spLocks noGrp="1"/>
          </p:cNvSpPr>
          <p:nvPr>
            <p:ph type="dt" sz="half" idx="10"/>
          </p:nvPr>
        </p:nvSpPr>
        <p:spPr/>
        <p:txBody>
          <a:bodyPr/>
          <a:lstStyle/>
          <a:p>
            <a:fld id="{374D245B-B30A-4E35-A2B1-F6F71917770A}" type="datetimeFigureOut">
              <a:rPr lang="en-US" smtClean="0"/>
              <a:t>9/10/2026</a:t>
            </a:fld>
            <a:endParaRPr lang="en-US"/>
          </a:p>
        </p:txBody>
      </p:sp>
      <p:sp>
        <p:nvSpPr>
          <p:cNvPr id="5" name="Footer Placeholder 4">
            <a:extLst>
              <a:ext uri="{FF2B5EF4-FFF2-40B4-BE49-F238E27FC236}">
                <a16:creationId xmlns:a16="http://schemas.microsoft.com/office/drawing/2014/main" id="{600E001F-3ACE-C221-54A1-9BC847CCFD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3B8ED3-919A-155A-7025-19D1209B5521}"/>
              </a:ext>
            </a:extLst>
          </p:cNvPr>
          <p:cNvSpPr>
            <a:spLocks noGrp="1"/>
          </p:cNvSpPr>
          <p:nvPr>
            <p:ph type="sldNum" sz="quarter" idx="12"/>
          </p:nvPr>
        </p:nvSpPr>
        <p:spPr/>
        <p:txBody>
          <a:bodyPr/>
          <a:lstStyle/>
          <a:p>
            <a:fld id="{17F740E1-1D7F-44DF-9296-6DE405E17C79}" type="slidenum">
              <a:rPr lang="en-US" smtClean="0"/>
              <a:t>‹#›</a:t>
            </a:fld>
            <a:endParaRPr lang="en-US"/>
          </a:p>
        </p:txBody>
      </p:sp>
    </p:spTree>
    <p:extLst>
      <p:ext uri="{BB962C8B-B14F-4D97-AF65-F5344CB8AC3E}">
        <p14:creationId xmlns:p14="http://schemas.microsoft.com/office/powerpoint/2010/main" val="22137780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C6F30-D73A-5BEF-F85F-96DF234510A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B973187-E359-FFF0-AB64-8F212CC67F5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1DDF012-74E6-A030-C166-2652FF1A2CF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9DAC76C-6FC2-C161-13CF-DC06EA3ACACC}"/>
              </a:ext>
            </a:extLst>
          </p:cNvPr>
          <p:cNvSpPr>
            <a:spLocks noGrp="1"/>
          </p:cNvSpPr>
          <p:nvPr>
            <p:ph type="dt" sz="half" idx="10"/>
          </p:nvPr>
        </p:nvSpPr>
        <p:spPr/>
        <p:txBody>
          <a:bodyPr/>
          <a:lstStyle/>
          <a:p>
            <a:fld id="{374D245B-B30A-4E35-A2B1-F6F71917770A}" type="datetimeFigureOut">
              <a:rPr lang="en-US" smtClean="0"/>
              <a:t>9/10/2026</a:t>
            </a:fld>
            <a:endParaRPr lang="en-US"/>
          </a:p>
        </p:txBody>
      </p:sp>
      <p:sp>
        <p:nvSpPr>
          <p:cNvPr id="6" name="Footer Placeholder 5">
            <a:extLst>
              <a:ext uri="{FF2B5EF4-FFF2-40B4-BE49-F238E27FC236}">
                <a16:creationId xmlns:a16="http://schemas.microsoft.com/office/drawing/2014/main" id="{31EA549E-F359-E4A5-00A9-C1689919B11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975F340-E234-C7AC-9E26-8DA4D68CF9AA}"/>
              </a:ext>
            </a:extLst>
          </p:cNvPr>
          <p:cNvSpPr>
            <a:spLocks noGrp="1"/>
          </p:cNvSpPr>
          <p:nvPr>
            <p:ph type="sldNum" sz="quarter" idx="12"/>
          </p:nvPr>
        </p:nvSpPr>
        <p:spPr/>
        <p:txBody>
          <a:bodyPr/>
          <a:lstStyle/>
          <a:p>
            <a:fld id="{17F740E1-1D7F-44DF-9296-6DE405E17C79}" type="slidenum">
              <a:rPr lang="en-US" smtClean="0"/>
              <a:t>‹#›</a:t>
            </a:fld>
            <a:endParaRPr lang="en-US"/>
          </a:p>
        </p:txBody>
      </p:sp>
    </p:spTree>
    <p:extLst>
      <p:ext uri="{BB962C8B-B14F-4D97-AF65-F5344CB8AC3E}">
        <p14:creationId xmlns:p14="http://schemas.microsoft.com/office/powerpoint/2010/main" val="20222169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1040D-7B71-DBB5-DA8E-1B14195EBB0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6D1FB31-88B1-4E31-A02C-4160E8E0D67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15BAE74-7947-0274-94A2-5A1229E80D6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E2D5147-56C0-DBE8-8102-FC34A4D2701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93A8FE0-49A3-3B8F-F8F8-7784F45D065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8499D4B-B41F-1E8B-A4B3-DE2404CADA93}"/>
              </a:ext>
            </a:extLst>
          </p:cNvPr>
          <p:cNvSpPr>
            <a:spLocks noGrp="1"/>
          </p:cNvSpPr>
          <p:nvPr>
            <p:ph type="dt" sz="half" idx="10"/>
          </p:nvPr>
        </p:nvSpPr>
        <p:spPr/>
        <p:txBody>
          <a:bodyPr/>
          <a:lstStyle/>
          <a:p>
            <a:fld id="{374D245B-B30A-4E35-A2B1-F6F71917770A}" type="datetimeFigureOut">
              <a:rPr lang="en-US" smtClean="0"/>
              <a:t>9/10/2026</a:t>
            </a:fld>
            <a:endParaRPr lang="en-US"/>
          </a:p>
        </p:txBody>
      </p:sp>
      <p:sp>
        <p:nvSpPr>
          <p:cNvPr id="8" name="Footer Placeholder 7">
            <a:extLst>
              <a:ext uri="{FF2B5EF4-FFF2-40B4-BE49-F238E27FC236}">
                <a16:creationId xmlns:a16="http://schemas.microsoft.com/office/drawing/2014/main" id="{508A1F71-67DF-1D29-7205-6C82BE83AA2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D16AE8D-435A-6942-E2A5-50131DAC29C2}"/>
              </a:ext>
            </a:extLst>
          </p:cNvPr>
          <p:cNvSpPr>
            <a:spLocks noGrp="1"/>
          </p:cNvSpPr>
          <p:nvPr>
            <p:ph type="sldNum" sz="quarter" idx="12"/>
          </p:nvPr>
        </p:nvSpPr>
        <p:spPr/>
        <p:txBody>
          <a:bodyPr/>
          <a:lstStyle/>
          <a:p>
            <a:fld id="{17F740E1-1D7F-44DF-9296-6DE405E17C79}" type="slidenum">
              <a:rPr lang="en-US" smtClean="0"/>
              <a:t>‹#›</a:t>
            </a:fld>
            <a:endParaRPr lang="en-US"/>
          </a:p>
        </p:txBody>
      </p:sp>
    </p:spTree>
    <p:extLst>
      <p:ext uri="{BB962C8B-B14F-4D97-AF65-F5344CB8AC3E}">
        <p14:creationId xmlns:p14="http://schemas.microsoft.com/office/powerpoint/2010/main" val="22531238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B1C97-D4E5-9A31-B47F-AD6CD7DD4D6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148DD79-08A4-3582-3FFF-943EF350CE61}"/>
              </a:ext>
            </a:extLst>
          </p:cNvPr>
          <p:cNvSpPr>
            <a:spLocks noGrp="1"/>
          </p:cNvSpPr>
          <p:nvPr>
            <p:ph type="dt" sz="half" idx="10"/>
          </p:nvPr>
        </p:nvSpPr>
        <p:spPr/>
        <p:txBody>
          <a:bodyPr/>
          <a:lstStyle/>
          <a:p>
            <a:fld id="{374D245B-B30A-4E35-A2B1-F6F71917770A}" type="datetimeFigureOut">
              <a:rPr lang="en-US" smtClean="0"/>
              <a:t>9/10/2026</a:t>
            </a:fld>
            <a:endParaRPr lang="en-US"/>
          </a:p>
        </p:txBody>
      </p:sp>
      <p:sp>
        <p:nvSpPr>
          <p:cNvPr id="4" name="Footer Placeholder 3">
            <a:extLst>
              <a:ext uri="{FF2B5EF4-FFF2-40B4-BE49-F238E27FC236}">
                <a16:creationId xmlns:a16="http://schemas.microsoft.com/office/drawing/2014/main" id="{F16F318F-B016-127E-78C0-FCBD6E74716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7F71CD-6BDA-3DEC-305D-FAE93E3D4A6D}"/>
              </a:ext>
            </a:extLst>
          </p:cNvPr>
          <p:cNvSpPr>
            <a:spLocks noGrp="1"/>
          </p:cNvSpPr>
          <p:nvPr>
            <p:ph type="sldNum" sz="quarter" idx="12"/>
          </p:nvPr>
        </p:nvSpPr>
        <p:spPr/>
        <p:txBody>
          <a:bodyPr/>
          <a:lstStyle/>
          <a:p>
            <a:fld id="{17F740E1-1D7F-44DF-9296-6DE405E17C79}" type="slidenum">
              <a:rPr lang="en-US" smtClean="0"/>
              <a:t>‹#›</a:t>
            </a:fld>
            <a:endParaRPr lang="en-US"/>
          </a:p>
        </p:txBody>
      </p:sp>
    </p:spTree>
    <p:extLst>
      <p:ext uri="{BB962C8B-B14F-4D97-AF65-F5344CB8AC3E}">
        <p14:creationId xmlns:p14="http://schemas.microsoft.com/office/powerpoint/2010/main" val="11210012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C77C5BC-5DC1-4B4C-0F8E-97A31113D9E0}"/>
              </a:ext>
            </a:extLst>
          </p:cNvPr>
          <p:cNvSpPr>
            <a:spLocks noGrp="1"/>
          </p:cNvSpPr>
          <p:nvPr>
            <p:ph type="dt" sz="half" idx="10"/>
          </p:nvPr>
        </p:nvSpPr>
        <p:spPr/>
        <p:txBody>
          <a:bodyPr/>
          <a:lstStyle/>
          <a:p>
            <a:fld id="{374D245B-B30A-4E35-A2B1-F6F71917770A}" type="datetimeFigureOut">
              <a:rPr lang="en-US" smtClean="0"/>
              <a:t>9/10/2026</a:t>
            </a:fld>
            <a:endParaRPr lang="en-US"/>
          </a:p>
        </p:txBody>
      </p:sp>
      <p:sp>
        <p:nvSpPr>
          <p:cNvPr id="3" name="Footer Placeholder 2">
            <a:extLst>
              <a:ext uri="{FF2B5EF4-FFF2-40B4-BE49-F238E27FC236}">
                <a16:creationId xmlns:a16="http://schemas.microsoft.com/office/drawing/2014/main" id="{E5392CD4-5C6D-BF28-E962-8196C7A7BA3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70923FC-2DDF-FA7C-AA69-08DC3D500ACB}"/>
              </a:ext>
            </a:extLst>
          </p:cNvPr>
          <p:cNvSpPr>
            <a:spLocks noGrp="1"/>
          </p:cNvSpPr>
          <p:nvPr>
            <p:ph type="sldNum" sz="quarter" idx="12"/>
          </p:nvPr>
        </p:nvSpPr>
        <p:spPr/>
        <p:txBody>
          <a:bodyPr/>
          <a:lstStyle/>
          <a:p>
            <a:fld id="{17F740E1-1D7F-44DF-9296-6DE405E17C79}" type="slidenum">
              <a:rPr lang="en-US" smtClean="0"/>
              <a:t>‹#›</a:t>
            </a:fld>
            <a:endParaRPr lang="en-US"/>
          </a:p>
        </p:txBody>
      </p:sp>
    </p:spTree>
    <p:extLst>
      <p:ext uri="{BB962C8B-B14F-4D97-AF65-F5344CB8AC3E}">
        <p14:creationId xmlns:p14="http://schemas.microsoft.com/office/powerpoint/2010/main" val="24902682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9A94E-BD68-FE95-B69A-F5393EF9C6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C47B75D-367E-1A03-5AD3-7B11573F49D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BA09CE1-461C-E947-3CD4-A12A3C0DF6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97B26B-1B2E-AA84-A171-C4E421FD872F}"/>
              </a:ext>
            </a:extLst>
          </p:cNvPr>
          <p:cNvSpPr>
            <a:spLocks noGrp="1"/>
          </p:cNvSpPr>
          <p:nvPr>
            <p:ph type="dt" sz="half" idx="10"/>
          </p:nvPr>
        </p:nvSpPr>
        <p:spPr/>
        <p:txBody>
          <a:bodyPr/>
          <a:lstStyle/>
          <a:p>
            <a:fld id="{374D245B-B30A-4E35-A2B1-F6F71917770A}" type="datetimeFigureOut">
              <a:rPr lang="en-US" smtClean="0"/>
              <a:t>9/10/2026</a:t>
            </a:fld>
            <a:endParaRPr lang="en-US"/>
          </a:p>
        </p:txBody>
      </p:sp>
      <p:sp>
        <p:nvSpPr>
          <p:cNvPr id="6" name="Footer Placeholder 5">
            <a:extLst>
              <a:ext uri="{FF2B5EF4-FFF2-40B4-BE49-F238E27FC236}">
                <a16:creationId xmlns:a16="http://schemas.microsoft.com/office/drawing/2014/main" id="{9FB213D9-6822-DC88-6E9F-F1E9952B96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CD68D3-80FA-6523-8A3D-978D3207B20F}"/>
              </a:ext>
            </a:extLst>
          </p:cNvPr>
          <p:cNvSpPr>
            <a:spLocks noGrp="1"/>
          </p:cNvSpPr>
          <p:nvPr>
            <p:ph type="sldNum" sz="quarter" idx="12"/>
          </p:nvPr>
        </p:nvSpPr>
        <p:spPr/>
        <p:txBody>
          <a:bodyPr/>
          <a:lstStyle/>
          <a:p>
            <a:fld id="{17F740E1-1D7F-44DF-9296-6DE405E17C79}" type="slidenum">
              <a:rPr lang="en-US" smtClean="0"/>
              <a:t>‹#›</a:t>
            </a:fld>
            <a:endParaRPr lang="en-US"/>
          </a:p>
        </p:txBody>
      </p:sp>
    </p:spTree>
    <p:extLst>
      <p:ext uri="{BB962C8B-B14F-4D97-AF65-F5344CB8AC3E}">
        <p14:creationId xmlns:p14="http://schemas.microsoft.com/office/powerpoint/2010/main" val="21812329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5FCAA-E8B9-9CB4-9CDE-5E153726BE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37AFD8B-A7E3-53BC-1524-386D2B4137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80FE978-D270-D3B3-B270-A62E088271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FE404E-7093-31BA-15B2-4FB9DDE855E1}"/>
              </a:ext>
            </a:extLst>
          </p:cNvPr>
          <p:cNvSpPr>
            <a:spLocks noGrp="1"/>
          </p:cNvSpPr>
          <p:nvPr>
            <p:ph type="dt" sz="half" idx="10"/>
          </p:nvPr>
        </p:nvSpPr>
        <p:spPr/>
        <p:txBody>
          <a:bodyPr/>
          <a:lstStyle/>
          <a:p>
            <a:fld id="{374D245B-B30A-4E35-A2B1-F6F71917770A}" type="datetimeFigureOut">
              <a:rPr lang="en-US" smtClean="0"/>
              <a:t>9/10/2026</a:t>
            </a:fld>
            <a:endParaRPr lang="en-US"/>
          </a:p>
        </p:txBody>
      </p:sp>
      <p:sp>
        <p:nvSpPr>
          <p:cNvPr id="6" name="Footer Placeholder 5">
            <a:extLst>
              <a:ext uri="{FF2B5EF4-FFF2-40B4-BE49-F238E27FC236}">
                <a16:creationId xmlns:a16="http://schemas.microsoft.com/office/drawing/2014/main" id="{A9D4E3EF-EC39-A3F6-481C-7DECAD3F19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0E65C37-4035-A3E0-BF58-740E1FD5EA36}"/>
              </a:ext>
            </a:extLst>
          </p:cNvPr>
          <p:cNvSpPr>
            <a:spLocks noGrp="1"/>
          </p:cNvSpPr>
          <p:nvPr>
            <p:ph type="sldNum" sz="quarter" idx="12"/>
          </p:nvPr>
        </p:nvSpPr>
        <p:spPr/>
        <p:txBody>
          <a:bodyPr/>
          <a:lstStyle/>
          <a:p>
            <a:fld id="{17F740E1-1D7F-44DF-9296-6DE405E17C79}" type="slidenum">
              <a:rPr lang="en-US" smtClean="0"/>
              <a:t>‹#›</a:t>
            </a:fld>
            <a:endParaRPr lang="en-US"/>
          </a:p>
        </p:txBody>
      </p:sp>
    </p:spTree>
    <p:extLst>
      <p:ext uri="{BB962C8B-B14F-4D97-AF65-F5344CB8AC3E}">
        <p14:creationId xmlns:p14="http://schemas.microsoft.com/office/powerpoint/2010/main" val="32723984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C7717-AE9C-B691-CC9F-FD2A2D265A3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831CC9B-C138-D7FF-0C6F-53F3FA21E4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486D94-BF35-9CC4-1AAE-1626418AD779}"/>
              </a:ext>
            </a:extLst>
          </p:cNvPr>
          <p:cNvSpPr>
            <a:spLocks noGrp="1"/>
          </p:cNvSpPr>
          <p:nvPr>
            <p:ph type="dt" sz="half" idx="10"/>
          </p:nvPr>
        </p:nvSpPr>
        <p:spPr/>
        <p:txBody>
          <a:bodyPr/>
          <a:lstStyle/>
          <a:p>
            <a:fld id="{374D245B-B30A-4E35-A2B1-F6F71917770A}" type="datetimeFigureOut">
              <a:rPr lang="en-US" smtClean="0"/>
              <a:t>9/10/2026</a:t>
            </a:fld>
            <a:endParaRPr lang="en-US"/>
          </a:p>
        </p:txBody>
      </p:sp>
      <p:sp>
        <p:nvSpPr>
          <p:cNvPr id="5" name="Footer Placeholder 4">
            <a:extLst>
              <a:ext uri="{FF2B5EF4-FFF2-40B4-BE49-F238E27FC236}">
                <a16:creationId xmlns:a16="http://schemas.microsoft.com/office/drawing/2014/main" id="{71BA0F78-6A15-9B67-DC0D-49FD8962FD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FE9AAD-B90D-50C9-EEE2-9F60B0A67857}"/>
              </a:ext>
            </a:extLst>
          </p:cNvPr>
          <p:cNvSpPr>
            <a:spLocks noGrp="1"/>
          </p:cNvSpPr>
          <p:nvPr>
            <p:ph type="sldNum" sz="quarter" idx="12"/>
          </p:nvPr>
        </p:nvSpPr>
        <p:spPr/>
        <p:txBody>
          <a:bodyPr/>
          <a:lstStyle/>
          <a:p>
            <a:fld id="{17F740E1-1D7F-44DF-9296-6DE405E17C79}" type="slidenum">
              <a:rPr lang="en-US" smtClean="0"/>
              <a:t>‹#›</a:t>
            </a:fld>
            <a:endParaRPr lang="en-US"/>
          </a:p>
        </p:txBody>
      </p:sp>
    </p:spTree>
    <p:extLst>
      <p:ext uri="{BB962C8B-B14F-4D97-AF65-F5344CB8AC3E}">
        <p14:creationId xmlns:p14="http://schemas.microsoft.com/office/powerpoint/2010/main" val="5998119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BD2371E-F06D-6FA7-4768-D43C14025C6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504A5D1-2D6B-AEC4-0D8B-512F25183D5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851BD0-6BE1-5EF7-455D-A917B2F8410B}"/>
              </a:ext>
            </a:extLst>
          </p:cNvPr>
          <p:cNvSpPr>
            <a:spLocks noGrp="1"/>
          </p:cNvSpPr>
          <p:nvPr>
            <p:ph type="dt" sz="half" idx="10"/>
          </p:nvPr>
        </p:nvSpPr>
        <p:spPr/>
        <p:txBody>
          <a:bodyPr/>
          <a:lstStyle/>
          <a:p>
            <a:fld id="{374D245B-B30A-4E35-A2B1-F6F71917770A}" type="datetimeFigureOut">
              <a:rPr lang="en-US" smtClean="0"/>
              <a:t>9/10/2026</a:t>
            </a:fld>
            <a:endParaRPr lang="en-US"/>
          </a:p>
        </p:txBody>
      </p:sp>
      <p:sp>
        <p:nvSpPr>
          <p:cNvPr id="5" name="Footer Placeholder 4">
            <a:extLst>
              <a:ext uri="{FF2B5EF4-FFF2-40B4-BE49-F238E27FC236}">
                <a16:creationId xmlns:a16="http://schemas.microsoft.com/office/drawing/2014/main" id="{D2568F9E-B81A-83B6-CA05-99F92136F1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3BD015-51D1-8671-DFC0-6F33BFAE6944}"/>
              </a:ext>
            </a:extLst>
          </p:cNvPr>
          <p:cNvSpPr>
            <a:spLocks noGrp="1"/>
          </p:cNvSpPr>
          <p:nvPr>
            <p:ph type="sldNum" sz="quarter" idx="12"/>
          </p:nvPr>
        </p:nvSpPr>
        <p:spPr/>
        <p:txBody>
          <a:bodyPr/>
          <a:lstStyle/>
          <a:p>
            <a:fld id="{17F740E1-1D7F-44DF-9296-6DE405E17C79}" type="slidenum">
              <a:rPr lang="en-US" smtClean="0"/>
              <a:t>‹#›</a:t>
            </a:fld>
            <a:endParaRPr lang="en-US"/>
          </a:p>
        </p:txBody>
      </p:sp>
    </p:spTree>
    <p:extLst>
      <p:ext uri="{BB962C8B-B14F-4D97-AF65-F5344CB8AC3E}">
        <p14:creationId xmlns:p14="http://schemas.microsoft.com/office/powerpoint/2010/main" val="3000229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in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B57D3-0351-E5D5-C398-890FE51F008C}"/>
              </a:ext>
            </a:extLst>
          </p:cNvPr>
          <p:cNvSpPr>
            <a:spLocks noGrp="1"/>
          </p:cNvSpPr>
          <p:nvPr>
            <p:ph type="title" hasCustomPrompt="1"/>
          </p:nvPr>
        </p:nvSpPr>
        <p:spPr>
          <a:xfrm>
            <a:off x="548640" y="457200"/>
            <a:ext cx="10972800" cy="1097280"/>
          </a:xfrm>
        </p:spPr>
        <p:txBody>
          <a:bodyPr lIns="0" tIns="0" rIns="0" bIns="0" anchor="b" anchorCtr="0"/>
          <a:lstStyle>
            <a:lvl1pPr>
              <a:defRPr sz="2800">
                <a:solidFill>
                  <a:srgbClr val="1F3A3D"/>
                </a:solidFill>
                <a:latin typeface="Calibri" panose="020F0502020204030204" pitchFamily="34" charset="0"/>
                <a:ea typeface="Calibri" panose="020F0502020204030204" pitchFamily="34" charset="0"/>
                <a:cs typeface="Calibri" panose="020F0502020204030204" pitchFamily="34" charset="0"/>
              </a:defRPr>
            </a:lvl1pPr>
          </a:lstStyle>
          <a:p>
            <a:r>
              <a:rPr lang="en-US" dirty="0"/>
              <a:t>Click to edit Master title style  </a:t>
            </a:r>
          </a:p>
        </p:txBody>
      </p:sp>
      <p:sp>
        <p:nvSpPr>
          <p:cNvPr id="3" name="Date Placeholder 2">
            <a:extLst>
              <a:ext uri="{FF2B5EF4-FFF2-40B4-BE49-F238E27FC236}">
                <a16:creationId xmlns:a16="http://schemas.microsoft.com/office/drawing/2014/main" id="{F881C54B-F30A-BB23-B918-661CA1B6B7ED}"/>
              </a:ext>
            </a:extLst>
          </p:cNvPr>
          <p:cNvSpPr>
            <a:spLocks noGrp="1"/>
          </p:cNvSpPr>
          <p:nvPr>
            <p:ph type="dt" sz="half" idx="10"/>
          </p:nvPr>
        </p:nvSpPr>
        <p:spPr/>
        <p:txBody>
          <a:bodyPr/>
          <a:lstStyle/>
          <a:p>
            <a:endParaRPr lang="en-US" dirty="0"/>
          </a:p>
        </p:txBody>
      </p:sp>
      <p:sp>
        <p:nvSpPr>
          <p:cNvPr id="4" name="Footer Placeholder 3">
            <a:extLst>
              <a:ext uri="{FF2B5EF4-FFF2-40B4-BE49-F238E27FC236}">
                <a16:creationId xmlns:a16="http://schemas.microsoft.com/office/drawing/2014/main" id="{DB898CF8-1AD3-1AC5-CD0E-C37F435FA61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2278B41-A87A-1D55-311E-F645E23850B0}"/>
              </a:ext>
            </a:extLst>
          </p:cNvPr>
          <p:cNvSpPr>
            <a:spLocks noGrp="1"/>
          </p:cNvSpPr>
          <p:nvPr>
            <p:ph type="sldNum" sz="quarter" idx="12"/>
          </p:nvPr>
        </p:nvSpPr>
        <p:spPr/>
        <p:txBody>
          <a:bodyPr/>
          <a:lstStyle/>
          <a:p>
            <a:fld id="{17F740E1-1D7F-44DF-9296-6DE405E17C79}" type="slidenum">
              <a:rPr lang="en-US" smtClean="0"/>
              <a:t>‹#›</a:t>
            </a:fld>
            <a:endParaRPr lang="en-US"/>
          </a:p>
        </p:txBody>
      </p:sp>
      <p:sp>
        <p:nvSpPr>
          <p:cNvPr id="7" name="Text Placeholder 6">
            <a:extLst>
              <a:ext uri="{FF2B5EF4-FFF2-40B4-BE49-F238E27FC236}">
                <a16:creationId xmlns:a16="http://schemas.microsoft.com/office/drawing/2014/main" id="{F2DEB6E9-EAC2-46A5-1092-245DBE303F75}"/>
              </a:ext>
            </a:extLst>
          </p:cNvPr>
          <p:cNvSpPr>
            <a:spLocks noGrp="1"/>
          </p:cNvSpPr>
          <p:nvPr>
            <p:ph type="body" sz="quarter" idx="13" hasCustomPrompt="1"/>
          </p:nvPr>
        </p:nvSpPr>
        <p:spPr>
          <a:xfrm>
            <a:off x="548640" y="6035040"/>
            <a:ext cx="10972800" cy="457200"/>
          </a:xfrm>
        </p:spPr>
        <p:txBody>
          <a:bodyPr lIns="0" tIns="0" rIns="0" bIns="0"/>
          <a:lstStyle>
            <a:lvl1pPr>
              <a:buNone/>
              <a:defRPr sz="1100">
                <a:solidFill>
                  <a:srgbClr val="8C8C8C"/>
                </a:solidFill>
                <a:latin typeface="Calibri" panose="020F0502020204030204" pitchFamily="34" charset="0"/>
                <a:ea typeface="Calibri" panose="020F0502020204030204" pitchFamily="34" charset="0"/>
                <a:cs typeface="Calibri" panose="020F0502020204030204" pitchFamily="34" charset="0"/>
              </a:defRPr>
            </a:lvl1pPr>
            <a:lvl2pPr>
              <a:buNone/>
              <a:defRPr sz="1100">
                <a:solidFill>
                  <a:srgbClr val="8C8C8C"/>
                </a:solidFill>
                <a:latin typeface="Calibri" panose="020F0502020204030204" pitchFamily="34" charset="0"/>
                <a:ea typeface="Calibri" panose="020F0502020204030204" pitchFamily="34" charset="0"/>
                <a:cs typeface="Calibri" panose="020F0502020204030204" pitchFamily="34" charset="0"/>
              </a:defRPr>
            </a:lvl2pPr>
            <a:lvl3pPr>
              <a:buNone/>
              <a:defRPr sz="1100">
                <a:solidFill>
                  <a:srgbClr val="8C8C8C"/>
                </a:solidFill>
                <a:latin typeface="Calibri" panose="020F0502020204030204" pitchFamily="34" charset="0"/>
                <a:ea typeface="Calibri" panose="020F0502020204030204" pitchFamily="34" charset="0"/>
                <a:cs typeface="Calibri" panose="020F0502020204030204" pitchFamily="34" charset="0"/>
              </a:defRPr>
            </a:lvl3pPr>
            <a:lvl4pPr>
              <a:buNone/>
              <a:defRPr sz="1100">
                <a:solidFill>
                  <a:srgbClr val="8C8C8C"/>
                </a:solidFill>
                <a:latin typeface="Calibri" panose="020F0502020204030204" pitchFamily="34" charset="0"/>
                <a:ea typeface="Calibri" panose="020F0502020204030204" pitchFamily="34" charset="0"/>
                <a:cs typeface="Calibri" panose="020F0502020204030204" pitchFamily="34" charset="0"/>
              </a:defRPr>
            </a:lvl4pPr>
            <a:lvl5pPr>
              <a:buNone/>
              <a:defRPr sz="1100">
                <a:solidFill>
                  <a:srgbClr val="8C8C8C"/>
                </a:solidFill>
                <a:latin typeface="Calibri" panose="020F0502020204030204" pitchFamily="34" charset="0"/>
                <a:ea typeface="Calibri" panose="020F0502020204030204" pitchFamily="34" charset="0"/>
                <a:cs typeface="Calibri" panose="020F0502020204030204" pitchFamily="34" charset="0"/>
              </a:defRPr>
            </a:lvl5pPr>
          </a:lstStyle>
          <a:p>
            <a:pPr lvl="0"/>
            <a:r>
              <a:rPr lang="en-US" dirty="0"/>
              <a:t>Base and limitation</a:t>
            </a:r>
          </a:p>
          <a:p>
            <a:pPr lvl="0"/>
            <a:endParaRPr lang="en-US" dirty="0"/>
          </a:p>
        </p:txBody>
      </p:sp>
    </p:spTree>
    <p:extLst>
      <p:ext uri="{BB962C8B-B14F-4D97-AF65-F5344CB8AC3E}">
        <p14:creationId xmlns:p14="http://schemas.microsoft.com/office/powerpoint/2010/main" val="241632867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18829391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A06F0ED-F571-0284-926D-672E81A3F1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7B5731E-AFF4-43C9-9EEA-899C7622BE2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7115EE-B00E-006F-E4FD-9AC8AA170D7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74D245B-B30A-4E35-A2B1-F6F71917770A}" type="datetimeFigureOut">
              <a:rPr lang="en-US" smtClean="0"/>
              <a:t>9/10/2026</a:t>
            </a:fld>
            <a:endParaRPr lang="en-US"/>
          </a:p>
        </p:txBody>
      </p:sp>
      <p:sp>
        <p:nvSpPr>
          <p:cNvPr id="5" name="Footer Placeholder 4">
            <a:extLst>
              <a:ext uri="{FF2B5EF4-FFF2-40B4-BE49-F238E27FC236}">
                <a16:creationId xmlns:a16="http://schemas.microsoft.com/office/drawing/2014/main" id="{29DA4DD8-7345-E1B6-CE10-708B7C3AF41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F04A9F6-17AE-DD72-E5AF-B299F195138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7F740E1-1D7F-44DF-9296-6DE405E17C79}" type="slidenum">
              <a:rPr lang="en-US" smtClean="0"/>
              <a:t>‹#›</a:t>
            </a:fld>
            <a:endParaRPr lang="en-US"/>
          </a:p>
        </p:txBody>
      </p:sp>
    </p:spTree>
    <p:extLst>
      <p:ext uri="{BB962C8B-B14F-4D97-AF65-F5344CB8AC3E}">
        <p14:creationId xmlns:p14="http://schemas.microsoft.com/office/powerpoint/2010/main" val="6146882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hyperlink" Target="https://www.roic.ai/quote/TTWO:UW/transcripts/2026-year/2-quarter" TargetMode="External"/><Relationship Id="rId2" Type="http://schemas.openxmlformats.org/officeDocument/2006/relationships/hyperlink" Target="ir.take2games.com/node/26586/pdf" TargetMode="External"/><Relationship Id="rId1" Type="http://schemas.openxmlformats.org/officeDocument/2006/relationships/slideLayout" Target="../slideLayouts/slideLayout12.xml"/><Relationship Id="rId5" Type="http://schemas.openxmlformats.org/officeDocument/2006/relationships/hyperlink" Target="https://www.gamefile.news/p/bioshock-gta-nfl-civ7-take-two-strauss-zelnick" TargetMode="External"/><Relationship Id="rId4" Type="http://schemas.openxmlformats.org/officeDocument/2006/relationships/hyperlink" Target="https://www.take2games.com/ir"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itle_bg.png">
            <a:extLst>
              <a:ext uri="{FF2B5EF4-FFF2-40B4-BE49-F238E27FC236}">
                <a16:creationId xmlns:a16="http://schemas.microsoft.com/office/drawing/2014/main" id="{58E305DF-C606-41ED-3995-131DC94C9BD3}"/>
              </a:ext>
            </a:extLst>
          </p:cNvPr>
          <p:cNvPicPr>
            <a:picLocks noChangeAspect="1"/>
          </p:cNvPicPr>
          <p:nvPr/>
        </p:nvPicPr>
        <p:blipFill>
          <a:blip r:embed="rId2"/>
          <a:stretch>
            <a:fillRect/>
          </a:stretch>
        </p:blipFill>
        <p:spPr>
          <a:xfrm>
            <a:off x="0" y="0"/>
            <a:ext cx="12191695" cy="6858000"/>
          </a:xfrm>
          <a:prstGeom prst="rect">
            <a:avLst/>
          </a:prstGeom>
        </p:spPr>
      </p:pic>
      <p:sp>
        <p:nvSpPr>
          <p:cNvPr id="5" name="TextBox 4">
            <a:extLst>
              <a:ext uri="{FF2B5EF4-FFF2-40B4-BE49-F238E27FC236}">
                <a16:creationId xmlns:a16="http://schemas.microsoft.com/office/drawing/2014/main" id="{55E90EED-3039-B9A2-A212-99CD7F7A3EB9}"/>
              </a:ext>
            </a:extLst>
          </p:cNvPr>
          <p:cNvSpPr txBox="1"/>
          <p:nvPr/>
        </p:nvSpPr>
        <p:spPr>
          <a:xfrm>
            <a:off x="822960" y="2395728"/>
            <a:ext cx="3383280" cy="274320"/>
          </a:xfrm>
          <a:prstGeom prst="rect">
            <a:avLst/>
          </a:prstGeom>
          <a:noFill/>
        </p:spPr>
        <p:txBody>
          <a:bodyPr wrap="square" lIns="0" tIns="0" rIns="0" bIns="0">
            <a:spAutoFit/>
          </a:bodyPr>
          <a:lstStyle/>
          <a:p>
            <a:pPr>
              <a:lnSpc>
                <a:spcPct val="110000"/>
              </a:lnSpc>
            </a:pPr>
            <a:r>
              <a:rPr sz="1200" b="1" dirty="0">
                <a:solidFill>
                  <a:srgbClr val="B08D4F"/>
                </a:solidFill>
                <a:latin typeface="Calibri"/>
              </a:rPr>
              <a:t>PORTFOLIO CASE STUDY</a:t>
            </a:r>
          </a:p>
        </p:txBody>
      </p:sp>
      <p:sp>
        <p:nvSpPr>
          <p:cNvPr id="7" name="TextBox 6">
            <a:extLst>
              <a:ext uri="{FF2B5EF4-FFF2-40B4-BE49-F238E27FC236}">
                <a16:creationId xmlns:a16="http://schemas.microsoft.com/office/drawing/2014/main" id="{4BCFD641-4C02-66D9-7AE2-5847B6FFB5B9}"/>
              </a:ext>
            </a:extLst>
          </p:cNvPr>
          <p:cNvSpPr txBox="1"/>
          <p:nvPr/>
        </p:nvSpPr>
        <p:spPr>
          <a:xfrm>
            <a:off x="822960" y="2880360"/>
            <a:ext cx="10058400" cy="1371600"/>
          </a:xfrm>
          <a:prstGeom prst="rect">
            <a:avLst/>
          </a:prstGeom>
          <a:noFill/>
        </p:spPr>
        <p:txBody>
          <a:bodyPr wrap="square" lIns="0" tIns="0" rIns="0" bIns="0">
            <a:spAutoFit/>
          </a:bodyPr>
          <a:lstStyle/>
          <a:p>
            <a:pPr>
              <a:lnSpc>
                <a:spcPct val="110000"/>
              </a:lnSpc>
            </a:pPr>
            <a:r>
              <a:rPr sz="4600" b="1" dirty="0">
                <a:solidFill>
                  <a:srgbClr val="FFFFFF"/>
                </a:solidFill>
                <a:latin typeface="Calibri"/>
              </a:rPr>
              <a:t>BioShock: What Players Value</a:t>
            </a:r>
          </a:p>
        </p:txBody>
      </p:sp>
      <p:sp>
        <p:nvSpPr>
          <p:cNvPr id="9" name="TextBox 8">
            <a:extLst>
              <a:ext uri="{FF2B5EF4-FFF2-40B4-BE49-F238E27FC236}">
                <a16:creationId xmlns:a16="http://schemas.microsoft.com/office/drawing/2014/main" id="{8065CFB2-0426-47D9-21F4-F80E397FDF45}"/>
              </a:ext>
            </a:extLst>
          </p:cNvPr>
          <p:cNvSpPr txBox="1"/>
          <p:nvPr/>
        </p:nvSpPr>
        <p:spPr>
          <a:xfrm>
            <a:off x="822960" y="4160520"/>
            <a:ext cx="9601200" cy="627223"/>
          </a:xfrm>
          <a:prstGeom prst="rect">
            <a:avLst/>
          </a:prstGeom>
          <a:noFill/>
        </p:spPr>
        <p:txBody>
          <a:bodyPr wrap="square" lIns="0" tIns="0" rIns="0" bIns="0">
            <a:spAutoFit/>
          </a:bodyPr>
          <a:lstStyle/>
          <a:p>
            <a:pPr>
              <a:lnSpc>
                <a:spcPct val="110000"/>
              </a:lnSpc>
            </a:pPr>
            <a:r>
              <a:rPr sz="1900" b="0" dirty="0">
                <a:solidFill>
                  <a:srgbClr val="A9BEBF"/>
                </a:solidFill>
                <a:latin typeface="Calibri"/>
              </a:rPr>
              <a:t>A data-driven analysis of the trilogy's reception,
</a:t>
            </a:r>
            <a:r>
              <a:rPr lang="en-US" sz="1900" b="0" dirty="0">
                <a:solidFill>
                  <a:srgbClr val="A9BEBF"/>
                </a:solidFill>
                <a:latin typeface="Calibri"/>
              </a:rPr>
              <a:t>and how it can shape the revival </a:t>
            </a:r>
            <a:endParaRPr sz="1900" b="0" dirty="0">
              <a:solidFill>
                <a:srgbClr val="A9BEBF"/>
              </a:solidFill>
              <a:latin typeface="Calibri"/>
            </a:endParaRPr>
          </a:p>
        </p:txBody>
      </p:sp>
      <p:sp>
        <p:nvSpPr>
          <p:cNvPr id="11" name="TextBox 10">
            <a:extLst>
              <a:ext uri="{FF2B5EF4-FFF2-40B4-BE49-F238E27FC236}">
                <a16:creationId xmlns:a16="http://schemas.microsoft.com/office/drawing/2014/main" id="{B17BB0B5-4926-767D-E2D2-7F1C393C3170}"/>
              </a:ext>
            </a:extLst>
          </p:cNvPr>
          <p:cNvSpPr txBox="1"/>
          <p:nvPr/>
        </p:nvSpPr>
        <p:spPr>
          <a:xfrm>
            <a:off x="822960" y="5870448"/>
            <a:ext cx="5486400" cy="209032"/>
          </a:xfrm>
          <a:prstGeom prst="rect">
            <a:avLst/>
          </a:prstGeom>
          <a:noFill/>
        </p:spPr>
        <p:txBody>
          <a:bodyPr wrap="square" lIns="0" tIns="0" rIns="0" bIns="0">
            <a:spAutoFit/>
          </a:bodyPr>
          <a:lstStyle/>
          <a:p>
            <a:pPr>
              <a:lnSpc>
                <a:spcPct val="110000"/>
              </a:lnSpc>
            </a:pPr>
            <a:r>
              <a:rPr lang="en-US" sz="1300" b="0" dirty="0">
                <a:solidFill>
                  <a:srgbClr val="A9BEBF"/>
                </a:solidFill>
                <a:latin typeface="Calibri"/>
              </a:rPr>
              <a:t>Savion Barron</a:t>
            </a:r>
            <a:r>
              <a:rPr sz="1300" b="0" dirty="0">
                <a:solidFill>
                  <a:srgbClr val="A9BEBF"/>
                </a:solidFill>
                <a:latin typeface="Calibri"/>
              </a:rPr>
              <a:t>|   September 2026</a:t>
            </a:r>
          </a:p>
        </p:txBody>
      </p:sp>
      <p:sp>
        <p:nvSpPr>
          <p:cNvPr id="13" name="TextBox 12">
            <a:extLst>
              <a:ext uri="{FF2B5EF4-FFF2-40B4-BE49-F238E27FC236}">
                <a16:creationId xmlns:a16="http://schemas.microsoft.com/office/drawing/2014/main" id="{AB24B531-3740-48E7-DA16-D0CFB172E3DF}"/>
              </a:ext>
            </a:extLst>
          </p:cNvPr>
          <p:cNvSpPr txBox="1"/>
          <p:nvPr/>
        </p:nvSpPr>
        <p:spPr>
          <a:xfrm>
            <a:off x="7223760" y="5888736"/>
            <a:ext cx="4206240" cy="365760"/>
          </a:xfrm>
          <a:prstGeom prst="rect">
            <a:avLst/>
          </a:prstGeom>
          <a:noFill/>
        </p:spPr>
        <p:txBody>
          <a:bodyPr wrap="square" lIns="0" tIns="0" rIns="0" bIns="0">
            <a:spAutoFit/>
          </a:bodyPr>
          <a:lstStyle/>
          <a:p>
            <a:pPr>
              <a:lnSpc>
                <a:spcPct val="110000"/>
              </a:lnSpc>
            </a:pPr>
            <a:r>
              <a:rPr sz="1200" b="0" dirty="0">
                <a:solidFill>
                  <a:srgbClr val="A9BEBF"/>
                </a:solidFill>
                <a:latin typeface="Calibri"/>
              </a:rPr>
              <a:t>github.com/</a:t>
            </a:r>
            <a:r>
              <a:rPr sz="1200" b="0" dirty="0" err="1">
                <a:solidFill>
                  <a:srgbClr val="A9BEBF"/>
                </a:solidFill>
                <a:latin typeface="Calibri"/>
              </a:rPr>
              <a:t>saviongb</a:t>
            </a:r>
            <a:r>
              <a:rPr sz="1200" b="0" dirty="0">
                <a:solidFill>
                  <a:srgbClr val="A9BEBF"/>
                </a:solidFill>
                <a:latin typeface="Calibri"/>
              </a:rPr>
              <a:t>/Bioshock-Revival-Analysis</a:t>
            </a:r>
          </a:p>
        </p:txBody>
      </p:sp>
    </p:spTree>
    <p:extLst>
      <p:ext uri="{BB962C8B-B14F-4D97-AF65-F5344CB8AC3E}">
        <p14:creationId xmlns:p14="http://schemas.microsoft.com/office/powerpoint/2010/main" val="24930226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gs>
            <a:gs pos="50000">
              <a:schemeClr val="bg1">
                <a:tint val="98000"/>
                <a:satMod val="130000"/>
                <a:shade val="90000"/>
                <a:lumMod val="103000"/>
              </a:schemeClr>
            </a:gs>
            <a:gs pos="100000">
              <a:schemeClr val="bg1">
                <a:shade val="63000"/>
                <a:satMod val="120000"/>
              </a:schemeClr>
            </a:gs>
          </a:gsLst>
          <a:lin ang="5400000" scaled="0"/>
        </a:gradFill>
        <a:effectLst/>
      </p:bgPr>
    </p:bg>
    <p:spTree>
      <p:nvGrpSpPr>
        <p:cNvPr id="1" name=""/>
        <p:cNvGrpSpPr/>
        <p:nvPr/>
      </p:nvGrpSpPr>
      <p:grpSpPr>
        <a:xfrm>
          <a:off x="0" y="0"/>
          <a:ext cx="0" cy="0"/>
          <a:chOff x="0" y="0"/>
          <a:chExt cx="0" cy="0"/>
        </a:xfrm>
      </p:grpSpPr>
      <p:sp>
        <p:nvSpPr>
          <p:cNvPr id="5" name="Text 0">
            <a:extLst>
              <a:ext uri="{FF2B5EF4-FFF2-40B4-BE49-F238E27FC236}">
                <a16:creationId xmlns:a16="http://schemas.microsoft.com/office/drawing/2014/main" id="{FCB8AE7D-EBB7-3BFC-536F-F07424F0E7E0}"/>
              </a:ext>
            </a:extLst>
          </p:cNvPr>
          <p:cNvSpPr/>
          <p:nvPr/>
        </p:nvSpPr>
        <p:spPr>
          <a:xfrm>
            <a:off x="548640" y="438912"/>
            <a:ext cx="4389120" cy="411480"/>
          </a:xfrm>
          <a:prstGeom prst="rect">
            <a:avLst/>
          </a:prstGeom>
          <a:noFill/>
          <a:ln/>
        </p:spPr>
        <p:txBody>
          <a:bodyPr wrap="square" lIns="0" tIns="0" rIns="0" bIns="0" rtlCol="0" anchor="t">
            <a:normAutofit lnSpcReduction="10000"/>
          </a:bodyPr>
          <a:lstStyle/>
          <a:p>
            <a:pPr marL="0" indent="0" algn="l">
              <a:buNone/>
            </a:pPr>
            <a:r>
              <a:rPr lang="en-US" sz="2900" dirty="0">
                <a:solidFill>
                  <a:srgbClr val="203D3F"/>
                </a:solidFill>
                <a:latin typeface="Calibri" panose="020F0502020204030204" pitchFamily="34" charset="0"/>
                <a:ea typeface="Calibri" panose="020F0502020204030204" pitchFamily="34" charset="0"/>
                <a:cs typeface="Calibri" panose="020F0502020204030204" pitchFamily="34" charset="0"/>
              </a:rPr>
              <a:t>Executive Summary</a:t>
            </a:r>
            <a:endParaRPr lang="en-US" sz="2900" dirty="0">
              <a:latin typeface="Calibri" panose="020F0502020204030204" pitchFamily="34" charset="0"/>
              <a:ea typeface="Calibri" panose="020F0502020204030204" pitchFamily="34" charset="0"/>
              <a:cs typeface="Calibri" panose="020F0502020204030204" pitchFamily="34" charset="0"/>
            </a:endParaRPr>
          </a:p>
        </p:txBody>
      </p:sp>
      <p:sp>
        <p:nvSpPr>
          <p:cNvPr id="9" name="Shape 2">
            <a:extLst>
              <a:ext uri="{FF2B5EF4-FFF2-40B4-BE49-F238E27FC236}">
                <a16:creationId xmlns:a16="http://schemas.microsoft.com/office/drawing/2014/main" id="{DF049879-B38B-0514-7710-E5AD27C7E161}"/>
              </a:ext>
            </a:extLst>
          </p:cNvPr>
          <p:cNvSpPr/>
          <p:nvPr/>
        </p:nvSpPr>
        <p:spPr>
          <a:xfrm>
            <a:off x="548640" y="941832"/>
            <a:ext cx="11064240" cy="0"/>
          </a:xfrm>
          <a:prstGeom prst="line">
            <a:avLst/>
          </a:prstGeom>
          <a:noFill/>
          <a:ln w="12700">
            <a:solidFill>
              <a:srgbClr val="D9DDDC"/>
            </a:solidFill>
            <a:prstDash val="solid"/>
          </a:ln>
        </p:spPr>
        <p:txBody>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11" name="Shape 3">
            <a:extLst>
              <a:ext uri="{FF2B5EF4-FFF2-40B4-BE49-F238E27FC236}">
                <a16:creationId xmlns:a16="http://schemas.microsoft.com/office/drawing/2014/main" id="{D9CC9C7A-63B3-AA4C-BE8A-3CC584FB20D4}"/>
              </a:ext>
            </a:extLst>
          </p:cNvPr>
          <p:cNvSpPr/>
          <p:nvPr/>
        </p:nvSpPr>
        <p:spPr>
          <a:xfrm>
            <a:off x="548640" y="1207008"/>
            <a:ext cx="45720" cy="530352"/>
          </a:xfrm>
          <a:prstGeom prst="rect">
            <a:avLst/>
          </a:prstGeom>
          <a:solidFill>
            <a:srgbClr val="1F3A3D"/>
          </a:solidFill>
          <a:ln w="12700">
            <a:solidFill>
              <a:srgbClr val="1F3A3D">
                <a:alpha val="0"/>
              </a:srgbClr>
            </a:solidFill>
            <a:prstDash val="solid"/>
          </a:ln>
        </p:spPr>
        <p:txBody>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13" name="Text 4">
            <a:extLst>
              <a:ext uri="{FF2B5EF4-FFF2-40B4-BE49-F238E27FC236}">
                <a16:creationId xmlns:a16="http://schemas.microsoft.com/office/drawing/2014/main" id="{4B04E072-D3D6-8D6A-C0DD-9B54FCAB862D}"/>
              </a:ext>
            </a:extLst>
          </p:cNvPr>
          <p:cNvSpPr/>
          <p:nvPr/>
        </p:nvSpPr>
        <p:spPr>
          <a:xfrm>
            <a:off x="749808" y="1261872"/>
            <a:ext cx="1188720" cy="201168"/>
          </a:xfrm>
          <a:prstGeom prst="rect">
            <a:avLst/>
          </a:prstGeom>
          <a:noFill/>
          <a:ln/>
        </p:spPr>
        <p:txBody>
          <a:bodyPr wrap="square" lIns="0" tIns="0" rIns="0" bIns="0" rtlCol="0" anchor="t">
            <a:normAutofit/>
          </a:bodyPr>
          <a:lstStyle/>
          <a:p>
            <a:pPr marL="0" indent="0" algn="l">
              <a:buNone/>
            </a:pPr>
            <a:r>
              <a:rPr lang="en-US" sz="850" b="1" dirty="0">
                <a:solidFill>
                  <a:srgbClr val="929292"/>
                </a:solidFill>
                <a:latin typeface="Calibri" panose="020F0502020204030204" pitchFamily="34" charset="0"/>
                <a:ea typeface="Calibri" panose="020F0502020204030204" pitchFamily="34" charset="0"/>
                <a:cs typeface="Calibri" panose="020F0502020204030204" pitchFamily="34" charset="0"/>
              </a:rPr>
              <a:t>SITUATION</a:t>
            </a:r>
            <a:endParaRPr lang="en-US" sz="850" dirty="0">
              <a:latin typeface="Calibri" panose="020F0502020204030204" pitchFamily="34" charset="0"/>
              <a:ea typeface="Calibri" panose="020F0502020204030204" pitchFamily="34" charset="0"/>
              <a:cs typeface="Calibri" panose="020F0502020204030204" pitchFamily="34" charset="0"/>
            </a:endParaRPr>
          </a:p>
        </p:txBody>
      </p:sp>
      <p:sp>
        <p:nvSpPr>
          <p:cNvPr id="15" name="Text 5">
            <a:extLst>
              <a:ext uri="{FF2B5EF4-FFF2-40B4-BE49-F238E27FC236}">
                <a16:creationId xmlns:a16="http://schemas.microsoft.com/office/drawing/2014/main" id="{D4E43689-11B3-4C9B-48A7-0F0A6DBFB5D2}"/>
              </a:ext>
            </a:extLst>
          </p:cNvPr>
          <p:cNvSpPr/>
          <p:nvPr/>
        </p:nvSpPr>
        <p:spPr>
          <a:xfrm>
            <a:off x="2194560" y="1197864"/>
            <a:ext cx="9052560" cy="502920"/>
          </a:xfrm>
          <a:prstGeom prst="rect">
            <a:avLst/>
          </a:prstGeom>
          <a:noFill/>
          <a:ln/>
        </p:spPr>
        <p:txBody>
          <a:bodyPr wrap="square" lIns="0" tIns="0" rIns="0" bIns="0" rtlCol="0" anchor="ctr">
            <a:normAutofit lnSpcReduction="10000"/>
          </a:bodyPr>
          <a:lstStyle/>
          <a:p>
            <a:pPr marL="0" indent="0" algn="l">
              <a:buNone/>
            </a:pPr>
            <a:r>
              <a:rPr lang="en-US" sz="1750" dirty="0">
                <a:solidFill>
                  <a:srgbClr val="203D3F"/>
                </a:solidFill>
                <a:latin typeface="Calibri" panose="020F0502020204030204" pitchFamily="34" charset="0"/>
                <a:ea typeface="Calibri" panose="020F0502020204030204" pitchFamily="34" charset="0"/>
                <a:cs typeface="Calibri" panose="020F0502020204030204" pitchFamily="34" charset="0"/>
              </a:rPr>
              <a:t>Thirteen years after Infinite, BioShock’s next release can draw on 85,395 player reviews across the franchise to guide development direction</a:t>
            </a:r>
            <a:endParaRPr lang="en-US" sz="1750" dirty="0">
              <a:latin typeface="Calibri" panose="020F0502020204030204" pitchFamily="34" charset="0"/>
              <a:ea typeface="Calibri" panose="020F0502020204030204" pitchFamily="34" charset="0"/>
              <a:cs typeface="Calibri" panose="020F0502020204030204" pitchFamily="34" charset="0"/>
            </a:endParaRPr>
          </a:p>
        </p:txBody>
      </p:sp>
      <p:sp>
        <p:nvSpPr>
          <p:cNvPr id="17" name="Shape 6">
            <a:extLst>
              <a:ext uri="{FF2B5EF4-FFF2-40B4-BE49-F238E27FC236}">
                <a16:creationId xmlns:a16="http://schemas.microsoft.com/office/drawing/2014/main" id="{462E07A3-5A68-84F0-FEF7-A87A614B17FB}"/>
              </a:ext>
            </a:extLst>
          </p:cNvPr>
          <p:cNvSpPr/>
          <p:nvPr/>
        </p:nvSpPr>
        <p:spPr>
          <a:xfrm>
            <a:off x="548640" y="1938528"/>
            <a:ext cx="11064240" cy="0"/>
          </a:xfrm>
          <a:prstGeom prst="line">
            <a:avLst/>
          </a:prstGeom>
          <a:noFill/>
          <a:ln w="13970">
            <a:solidFill>
              <a:srgbClr val="D9DDDC"/>
            </a:solidFill>
            <a:prstDash val="solid"/>
          </a:ln>
        </p:spPr>
        <p:txBody>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19" name="Text 7">
            <a:extLst>
              <a:ext uri="{FF2B5EF4-FFF2-40B4-BE49-F238E27FC236}">
                <a16:creationId xmlns:a16="http://schemas.microsoft.com/office/drawing/2014/main" id="{B32FCD30-57E5-C8F0-3CBB-7C812B0E9E8A}"/>
              </a:ext>
            </a:extLst>
          </p:cNvPr>
          <p:cNvSpPr/>
          <p:nvPr/>
        </p:nvSpPr>
        <p:spPr>
          <a:xfrm>
            <a:off x="548640" y="2139696"/>
            <a:ext cx="1325880" cy="201168"/>
          </a:xfrm>
          <a:prstGeom prst="rect">
            <a:avLst/>
          </a:prstGeom>
          <a:noFill/>
          <a:ln/>
        </p:spPr>
        <p:txBody>
          <a:bodyPr wrap="square" lIns="0" tIns="0" rIns="0" bIns="0" rtlCol="0" anchor="t">
            <a:normAutofit/>
          </a:bodyPr>
          <a:lstStyle/>
          <a:p>
            <a:pPr marL="0" indent="0" algn="l">
              <a:buNone/>
            </a:pPr>
            <a:r>
              <a:rPr lang="en-US" sz="850" b="1" dirty="0">
                <a:solidFill>
                  <a:srgbClr val="929292"/>
                </a:solidFill>
                <a:latin typeface="Calibri" panose="020F0502020204030204" pitchFamily="34" charset="0"/>
                <a:ea typeface="Calibri" panose="020F0502020204030204" pitchFamily="34" charset="0"/>
                <a:cs typeface="Calibri" panose="020F0502020204030204" pitchFamily="34" charset="0"/>
              </a:rPr>
              <a:t>WHAT THE REVIEWS SHOW</a:t>
            </a:r>
            <a:endParaRPr lang="en-US" sz="850" dirty="0">
              <a:latin typeface="Calibri" panose="020F0502020204030204" pitchFamily="34" charset="0"/>
              <a:ea typeface="Calibri" panose="020F0502020204030204" pitchFamily="34" charset="0"/>
              <a:cs typeface="Calibri" panose="020F0502020204030204" pitchFamily="34" charset="0"/>
            </a:endParaRPr>
          </a:p>
        </p:txBody>
      </p:sp>
      <p:sp>
        <p:nvSpPr>
          <p:cNvPr id="27" name="Text 11">
            <a:extLst>
              <a:ext uri="{FF2B5EF4-FFF2-40B4-BE49-F238E27FC236}">
                <a16:creationId xmlns:a16="http://schemas.microsoft.com/office/drawing/2014/main" id="{EE8B95B8-AFB0-1055-A8EF-54C0962AEEA0}"/>
              </a:ext>
            </a:extLst>
          </p:cNvPr>
          <p:cNvSpPr/>
          <p:nvPr/>
        </p:nvSpPr>
        <p:spPr>
          <a:xfrm>
            <a:off x="2162476" y="2300571"/>
            <a:ext cx="2651760" cy="301752"/>
          </a:xfrm>
          <a:prstGeom prst="rect">
            <a:avLst/>
          </a:prstGeom>
          <a:noFill/>
          <a:ln/>
        </p:spPr>
        <p:txBody>
          <a:bodyPr wrap="square" lIns="0" tIns="0" rIns="0" bIns="0" rtlCol="0" anchor="t">
            <a:normAutofit fontScale="85000" lnSpcReduction="10000"/>
          </a:bodyPr>
          <a:lstStyle/>
          <a:p>
            <a:pPr marL="0" indent="0" algn="l">
              <a:buNone/>
            </a:pPr>
            <a:r>
              <a:rPr lang="en-US" sz="1650" b="1" dirty="0">
                <a:solidFill>
                  <a:srgbClr val="1F3A3D"/>
                </a:solidFill>
                <a:latin typeface="Calibri" panose="020F0502020204030204" pitchFamily="34" charset="0"/>
                <a:ea typeface="Calibri" panose="020F0502020204030204" pitchFamily="34" charset="0"/>
                <a:cs typeface="Calibri" panose="020F0502020204030204" pitchFamily="34" charset="0"/>
              </a:rPr>
              <a:t>Narrative is the heart of BioShock</a:t>
            </a:r>
            <a:endParaRPr lang="en-US" sz="1650" dirty="0">
              <a:solidFill>
                <a:srgbClr val="1F3A3D"/>
              </a:solidFill>
              <a:latin typeface="Calibri" panose="020F0502020204030204" pitchFamily="34" charset="0"/>
              <a:ea typeface="Calibri" panose="020F0502020204030204" pitchFamily="34" charset="0"/>
              <a:cs typeface="Calibri" panose="020F0502020204030204" pitchFamily="34" charset="0"/>
            </a:endParaRPr>
          </a:p>
        </p:txBody>
      </p:sp>
      <p:sp>
        <p:nvSpPr>
          <p:cNvPr id="29" name="Text 12">
            <a:extLst>
              <a:ext uri="{FF2B5EF4-FFF2-40B4-BE49-F238E27FC236}">
                <a16:creationId xmlns:a16="http://schemas.microsoft.com/office/drawing/2014/main" id="{D04E4315-BC1C-3180-65AC-681E252CA978}"/>
              </a:ext>
            </a:extLst>
          </p:cNvPr>
          <p:cNvSpPr/>
          <p:nvPr/>
        </p:nvSpPr>
        <p:spPr>
          <a:xfrm>
            <a:off x="2162476" y="2721195"/>
            <a:ext cx="2651760" cy="356616"/>
          </a:xfrm>
          <a:prstGeom prst="rect">
            <a:avLst/>
          </a:prstGeom>
          <a:noFill/>
          <a:ln/>
        </p:spPr>
        <p:txBody>
          <a:bodyPr wrap="square" lIns="0" tIns="0" rIns="0" bIns="0" rtlCol="0" anchor="ctr">
            <a:normAutofit lnSpcReduction="10000"/>
          </a:bodyPr>
          <a:lstStyle/>
          <a:p>
            <a:pPr marL="0" indent="0">
              <a:buNone/>
            </a:pPr>
            <a:r>
              <a:rPr lang="en-US" sz="2450" b="1" dirty="0">
                <a:solidFill>
                  <a:srgbClr val="203D3F"/>
                </a:solidFill>
                <a:latin typeface="Calibri" panose="020F0502020204030204" pitchFamily="34" charset="0"/>
                <a:ea typeface="Calibri" panose="020F0502020204030204" pitchFamily="34" charset="0"/>
                <a:cs typeface="Calibri" panose="020F0502020204030204" pitchFamily="34" charset="0"/>
              </a:rPr>
              <a:t>24.6 / 23.5 / </a:t>
            </a:r>
            <a:r>
              <a:rPr lang="en-US" sz="2450" b="1" dirty="0">
                <a:solidFill>
                  <a:srgbClr val="C44536"/>
                </a:solidFill>
                <a:latin typeface="Calibri" panose="020F0502020204030204" pitchFamily="34" charset="0"/>
                <a:ea typeface="Calibri" panose="020F0502020204030204" pitchFamily="34" charset="0"/>
                <a:cs typeface="Calibri" panose="020F0502020204030204" pitchFamily="34" charset="0"/>
              </a:rPr>
              <a:t>40.4</a:t>
            </a:r>
            <a:endParaRPr lang="en-US" sz="2450" dirty="0">
              <a:latin typeface="Calibri" panose="020F0502020204030204" pitchFamily="34" charset="0"/>
              <a:ea typeface="Calibri" panose="020F0502020204030204" pitchFamily="34" charset="0"/>
              <a:cs typeface="Calibri" panose="020F0502020204030204" pitchFamily="34" charset="0"/>
            </a:endParaRPr>
          </a:p>
        </p:txBody>
      </p:sp>
      <p:sp>
        <p:nvSpPr>
          <p:cNvPr id="31" name="Text 13">
            <a:extLst>
              <a:ext uri="{FF2B5EF4-FFF2-40B4-BE49-F238E27FC236}">
                <a16:creationId xmlns:a16="http://schemas.microsoft.com/office/drawing/2014/main" id="{D5BA8D89-AA40-BC8A-2A4E-B398816359CE}"/>
              </a:ext>
            </a:extLst>
          </p:cNvPr>
          <p:cNvSpPr/>
          <p:nvPr/>
        </p:nvSpPr>
        <p:spPr>
          <a:xfrm>
            <a:off x="2162476" y="3160107"/>
            <a:ext cx="2651760" cy="182880"/>
          </a:xfrm>
          <a:prstGeom prst="rect">
            <a:avLst/>
          </a:prstGeom>
          <a:noFill/>
          <a:ln/>
        </p:spPr>
        <p:txBody>
          <a:bodyPr wrap="square" lIns="0" tIns="0" rIns="0" bIns="0" rtlCol="0" anchor="t">
            <a:normAutofit/>
          </a:bodyPr>
          <a:lstStyle/>
          <a:p>
            <a:pPr marL="0" indent="0" algn="l">
              <a:buNone/>
            </a:pPr>
            <a:r>
              <a:rPr lang="en-US" sz="880" dirty="0">
                <a:solidFill>
                  <a:srgbClr val="7C8385"/>
                </a:solidFill>
                <a:latin typeface="Calibri" panose="020F0502020204030204" pitchFamily="34" charset="0"/>
                <a:ea typeface="Calibri" panose="020F0502020204030204" pitchFamily="34" charset="0"/>
                <a:cs typeface="Calibri" panose="020F0502020204030204" pitchFamily="34" charset="0"/>
              </a:rPr>
              <a:t>% of reviews mentioning narrative</a:t>
            </a:r>
            <a:endParaRPr lang="en-US" sz="880" dirty="0">
              <a:latin typeface="Calibri" panose="020F0502020204030204" pitchFamily="34" charset="0"/>
              <a:ea typeface="Calibri" panose="020F0502020204030204" pitchFamily="34" charset="0"/>
              <a:cs typeface="Calibri" panose="020F0502020204030204" pitchFamily="34" charset="0"/>
            </a:endParaRPr>
          </a:p>
        </p:txBody>
      </p:sp>
      <p:sp>
        <p:nvSpPr>
          <p:cNvPr id="33" name="Shape 14">
            <a:extLst>
              <a:ext uri="{FF2B5EF4-FFF2-40B4-BE49-F238E27FC236}">
                <a16:creationId xmlns:a16="http://schemas.microsoft.com/office/drawing/2014/main" id="{61887A6F-4EE4-4F0D-B103-0C3BB706A976}"/>
              </a:ext>
            </a:extLst>
          </p:cNvPr>
          <p:cNvSpPr/>
          <p:nvPr/>
        </p:nvSpPr>
        <p:spPr>
          <a:xfrm>
            <a:off x="2066544" y="4142872"/>
            <a:ext cx="2578608" cy="0"/>
          </a:xfrm>
          <a:prstGeom prst="line">
            <a:avLst/>
          </a:prstGeom>
          <a:noFill/>
          <a:ln w="12700">
            <a:solidFill>
              <a:srgbClr val="D9DDDC"/>
            </a:solidFill>
            <a:prstDash val="solid"/>
          </a:ln>
        </p:spPr>
        <p:txBody>
          <a:bodyPr/>
          <a:lstStyle/>
          <a:p>
            <a:endParaRPr lang="en-US" sz="800">
              <a:latin typeface="Calibri" panose="020F0502020204030204" pitchFamily="34" charset="0"/>
              <a:ea typeface="Calibri" panose="020F0502020204030204" pitchFamily="34" charset="0"/>
              <a:cs typeface="Calibri" panose="020F0502020204030204" pitchFamily="34" charset="0"/>
            </a:endParaRPr>
          </a:p>
        </p:txBody>
      </p:sp>
      <p:sp>
        <p:nvSpPr>
          <p:cNvPr id="35" name="Shape 15">
            <a:extLst>
              <a:ext uri="{FF2B5EF4-FFF2-40B4-BE49-F238E27FC236}">
                <a16:creationId xmlns:a16="http://schemas.microsoft.com/office/drawing/2014/main" id="{CDE73744-298A-B606-E8BA-1552CE7DC41D}"/>
              </a:ext>
            </a:extLst>
          </p:cNvPr>
          <p:cNvSpPr/>
          <p:nvPr/>
        </p:nvSpPr>
        <p:spPr>
          <a:xfrm>
            <a:off x="2267712" y="3940424"/>
            <a:ext cx="329184" cy="202448"/>
          </a:xfrm>
          <a:prstGeom prst="rect">
            <a:avLst/>
          </a:prstGeom>
          <a:solidFill>
            <a:srgbClr val="929292"/>
          </a:solidFill>
          <a:ln w="12700">
            <a:solidFill>
              <a:srgbClr val="929292">
                <a:alpha val="0"/>
              </a:srgbClr>
            </a:solidFill>
            <a:prstDash val="solid"/>
          </a:ln>
        </p:spPr>
        <p:txBody>
          <a:bodyPr/>
          <a:lstStyle/>
          <a:p>
            <a:endParaRPr lang="en-US" sz="800">
              <a:latin typeface="Calibri" panose="020F0502020204030204" pitchFamily="34" charset="0"/>
              <a:ea typeface="Calibri" panose="020F0502020204030204" pitchFamily="34" charset="0"/>
              <a:cs typeface="Calibri" panose="020F0502020204030204" pitchFamily="34" charset="0"/>
            </a:endParaRPr>
          </a:p>
        </p:txBody>
      </p:sp>
      <p:sp>
        <p:nvSpPr>
          <p:cNvPr id="39" name="Text 17">
            <a:extLst>
              <a:ext uri="{FF2B5EF4-FFF2-40B4-BE49-F238E27FC236}">
                <a16:creationId xmlns:a16="http://schemas.microsoft.com/office/drawing/2014/main" id="{81C12CA2-031D-D9FC-974D-03C8910CFC77}"/>
              </a:ext>
            </a:extLst>
          </p:cNvPr>
          <p:cNvSpPr/>
          <p:nvPr/>
        </p:nvSpPr>
        <p:spPr>
          <a:xfrm>
            <a:off x="2221992" y="4216024"/>
            <a:ext cx="420624" cy="118872"/>
          </a:xfrm>
          <a:prstGeom prst="rect">
            <a:avLst/>
          </a:prstGeom>
          <a:noFill/>
          <a:ln/>
        </p:spPr>
        <p:txBody>
          <a:bodyPr wrap="square" lIns="0" tIns="0" rIns="0" bIns="0" rtlCol="0" anchor="t">
            <a:noAutofit/>
          </a:bodyPr>
          <a:lstStyle/>
          <a:p>
            <a:pPr marL="0" indent="0" algn="ctr">
              <a:buNone/>
            </a:pPr>
            <a:r>
              <a:rPr lang="en-US" sz="800" dirty="0">
                <a:solidFill>
                  <a:srgbClr val="7C8385"/>
                </a:solidFill>
                <a:latin typeface="Calibri" panose="020F0502020204030204" pitchFamily="34" charset="0"/>
                <a:ea typeface="Calibri" panose="020F0502020204030204" pitchFamily="34" charset="0"/>
                <a:cs typeface="Calibri" panose="020F0502020204030204" pitchFamily="34" charset="0"/>
              </a:rPr>
              <a:t>B1</a:t>
            </a:r>
            <a:endParaRPr lang="en-US" sz="800" dirty="0">
              <a:latin typeface="Calibri" panose="020F0502020204030204" pitchFamily="34" charset="0"/>
              <a:ea typeface="Calibri" panose="020F0502020204030204" pitchFamily="34" charset="0"/>
              <a:cs typeface="Calibri" panose="020F0502020204030204" pitchFamily="34" charset="0"/>
            </a:endParaRPr>
          </a:p>
        </p:txBody>
      </p:sp>
      <p:sp>
        <p:nvSpPr>
          <p:cNvPr id="41" name="Shape 18">
            <a:extLst>
              <a:ext uri="{FF2B5EF4-FFF2-40B4-BE49-F238E27FC236}">
                <a16:creationId xmlns:a16="http://schemas.microsoft.com/office/drawing/2014/main" id="{8C66AC8C-8FA7-B048-4BD3-FB9BF789BA44}"/>
              </a:ext>
            </a:extLst>
          </p:cNvPr>
          <p:cNvSpPr/>
          <p:nvPr/>
        </p:nvSpPr>
        <p:spPr>
          <a:xfrm>
            <a:off x="3008376" y="3949476"/>
            <a:ext cx="329184" cy="193396"/>
          </a:xfrm>
          <a:prstGeom prst="rect">
            <a:avLst/>
          </a:prstGeom>
          <a:solidFill>
            <a:srgbClr val="929292"/>
          </a:solidFill>
          <a:ln w="12700">
            <a:solidFill>
              <a:srgbClr val="929292">
                <a:alpha val="0"/>
              </a:srgbClr>
            </a:solidFill>
            <a:prstDash val="solid"/>
          </a:ln>
        </p:spPr>
        <p:txBody>
          <a:bodyPr/>
          <a:lstStyle/>
          <a:p>
            <a:endParaRPr lang="en-US" sz="800">
              <a:latin typeface="Calibri" panose="020F0502020204030204" pitchFamily="34" charset="0"/>
              <a:ea typeface="Calibri" panose="020F0502020204030204" pitchFamily="34" charset="0"/>
              <a:cs typeface="Calibri" panose="020F0502020204030204" pitchFamily="34" charset="0"/>
            </a:endParaRPr>
          </a:p>
        </p:txBody>
      </p:sp>
      <p:sp>
        <p:nvSpPr>
          <p:cNvPr id="45" name="Text 20">
            <a:extLst>
              <a:ext uri="{FF2B5EF4-FFF2-40B4-BE49-F238E27FC236}">
                <a16:creationId xmlns:a16="http://schemas.microsoft.com/office/drawing/2014/main" id="{56133F09-8951-2EAE-0966-A9B57632D1A0}"/>
              </a:ext>
            </a:extLst>
          </p:cNvPr>
          <p:cNvSpPr/>
          <p:nvPr/>
        </p:nvSpPr>
        <p:spPr>
          <a:xfrm>
            <a:off x="2962656" y="4216024"/>
            <a:ext cx="420624" cy="118872"/>
          </a:xfrm>
          <a:prstGeom prst="rect">
            <a:avLst/>
          </a:prstGeom>
          <a:noFill/>
          <a:ln/>
        </p:spPr>
        <p:txBody>
          <a:bodyPr wrap="square" lIns="0" tIns="0" rIns="0" bIns="0" rtlCol="0" anchor="t">
            <a:noAutofit/>
          </a:bodyPr>
          <a:lstStyle/>
          <a:p>
            <a:pPr marL="0" indent="0" algn="ctr">
              <a:buNone/>
            </a:pPr>
            <a:r>
              <a:rPr lang="en-US" sz="800" dirty="0">
                <a:solidFill>
                  <a:srgbClr val="7C8385"/>
                </a:solidFill>
                <a:latin typeface="Calibri" panose="020F0502020204030204" pitchFamily="34" charset="0"/>
                <a:ea typeface="Calibri" panose="020F0502020204030204" pitchFamily="34" charset="0"/>
                <a:cs typeface="Calibri" panose="020F0502020204030204" pitchFamily="34" charset="0"/>
              </a:rPr>
              <a:t>B2</a:t>
            </a:r>
            <a:endParaRPr lang="en-US" sz="800" dirty="0">
              <a:latin typeface="Calibri" panose="020F0502020204030204" pitchFamily="34" charset="0"/>
              <a:ea typeface="Calibri" panose="020F0502020204030204" pitchFamily="34" charset="0"/>
              <a:cs typeface="Calibri" panose="020F0502020204030204" pitchFamily="34" charset="0"/>
            </a:endParaRPr>
          </a:p>
        </p:txBody>
      </p:sp>
      <p:sp>
        <p:nvSpPr>
          <p:cNvPr id="47" name="Shape 21">
            <a:extLst>
              <a:ext uri="{FF2B5EF4-FFF2-40B4-BE49-F238E27FC236}">
                <a16:creationId xmlns:a16="http://schemas.microsoft.com/office/drawing/2014/main" id="{9D0581AD-3FD0-7BD8-D14C-C976B1D15991}"/>
              </a:ext>
            </a:extLst>
          </p:cNvPr>
          <p:cNvSpPr/>
          <p:nvPr/>
        </p:nvSpPr>
        <p:spPr>
          <a:xfrm>
            <a:off x="3749040" y="3810396"/>
            <a:ext cx="329184" cy="332476"/>
          </a:xfrm>
          <a:prstGeom prst="rect">
            <a:avLst/>
          </a:prstGeom>
          <a:solidFill>
            <a:srgbClr val="C44536"/>
          </a:solidFill>
          <a:ln w="12700">
            <a:solidFill>
              <a:srgbClr val="C44536">
                <a:alpha val="0"/>
              </a:srgbClr>
            </a:solidFill>
            <a:prstDash val="solid"/>
          </a:ln>
        </p:spPr>
        <p:txBody>
          <a:bodyPr/>
          <a:lstStyle/>
          <a:p>
            <a:endParaRPr lang="en-US" sz="800">
              <a:latin typeface="Calibri" panose="020F0502020204030204" pitchFamily="34" charset="0"/>
              <a:ea typeface="Calibri" panose="020F0502020204030204" pitchFamily="34" charset="0"/>
              <a:cs typeface="Calibri" panose="020F0502020204030204" pitchFamily="34" charset="0"/>
            </a:endParaRPr>
          </a:p>
        </p:txBody>
      </p:sp>
      <p:sp>
        <p:nvSpPr>
          <p:cNvPr id="51" name="Text 23">
            <a:extLst>
              <a:ext uri="{FF2B5EF4-FFF2-40B4-BE49-F238E27FC236}">
                <a16:creationId xmlns:a16="http://schemas.microsoft.com/office/drawing/2014/main" id="{F8FC38E4-511E-C119-CE62-76F7007C26A8}"/>
              </a:ext>
            </a:extLst>
          </p:cNvPr>
          <p:cNvSpPr/>
          <p:nvPr/>
        </p:nvSpPr>
        <p:spPr>
          <a:xfrm>
            <a:off x="3703320" y="4216024"/>
            <a:ext cx="420624" cy="118872"/>
          </a:xfrm>
          <a:prstGeom prst="rect">
            <a:avLst/>
          </a:prstGeom>
          <a:noFill/>
          <a:ln/>
        </p:spPr>
        <p:txBody>
          <a:bodyPr wrap="square" lIns="0" tIns="0" rIns="0" bIns="0" rtlCol="0" anchor="t">
            <a:noAutofit/>
          </a:bodyPr>
          <a:lstStyle/>
          <a:p>
            <a:pPr marL="0" indent="0" algn="ctr">
              <a:buNone/>
            </a:pPr>
            <a:r>
              <a:rPr lang="en-US" sz="800" dirty="0">
                <a:solidFill>
                  <a:srgbClr val="7C8385"/>
                </a:solidFill>
                <a:latin typeface="Calibri" panose="020F0502020204030204" pitchFamily="34" charset="0"/>
                <a:ea typeface="Calibri" panose="020F0502020204030204" pitchFamily="34" charset="0"/>
                <a:cs typeface="Calibri" panose="020F0502020204030204" pitchFamily="34" charset="0"/>
              </a:rPr>
              <a:t>INF</a:t>
            </a:r>
            <a:endParaRPr lang="en-US" sz="800" dirty="0">
              <a:latin typeface="Calibri" panose="020F0502020204030204" pitchFamily="34" charset="0"/>
              <a:ea typeface="Calibri" panose="020F0502020204030204" pitchFamily="34" charset="0"/>
              <a:cs typeface="Calibri" panose="020F0502020204030204" pitchFamily="34" charset="0"/>
            </a:endParaRPr>
          </a:p>
        </p:txBody>
      </p:sp>
      <p:sp>
        <p:nvSpPr>
          <p:cNvPr id="55" name="Text 25">
            <a:extLst>
              <a:ext uri="{FF2B5EF4-FFF2-40B4-BE49-F238E27FC236}">
                <a16:creationId xmlns:a16="http://schemas.microsoft.com/office/drawing/2014/main" id="{F43672DF-822F-41C9-E20B-8FF86AD8F110}"/>
              </a:ext>
            </a:extLst>
          </p:cNvPr>
          <p:cNvSpPr/>
          <p:nvPr/>
        </p:nvSpPr>
        <p:spPr>
          <a:xfrm>
            <a:off x="2098468" y="4597297"/>
            <a:ext cx="2651760" cy="493776"/>
          </a:xfrm>
          <a:prstGeom prst="rect">
            <a:avLst/>
          </a:prstGeom>
          <a:noFill/>
          <a:ln/>
        </p:spPr>
        <p:txBody>
          <a:bodyPr wrap="square" lIns="0" tIns="0" rIns="0" bIns="0" rtlCol="0" anchor="t">
            <a:noAutofit/>
          </a:bodyPr>
          <a:lstStyle/>
          <a:p>
            <a:pPr marL="0" indent="0" algn="l">
              <a:buNone/>
            </a:pPr>
            <a:r>
              <a:rPr lang="en-US" sz="1100" dirty="0">
                <a:solidFill>
                  <a:srgbClr val="1F3A3D"/>
                </a:solidFill>
                <a:latin typeface="Calibri" panose="020F0502020204030204" pitchFamily="34" charset="0"/>
                <a:ea typeface="Calibri" panose="020F0502020204030204" pitchFamily="34" charset="0"/>
                <a:cs typeface="Calibri" panose="020F0502020204030204" pitchFamily="34" charset="0"/>
              </a:rPr>
              <a:t>Reviewers recognize storytelling elements across the franchise. Narrative is the only theme mentioned in at least 20% of reviews for each title</a:t>
            </a:r>
          </a:p>
        </p:txBody>
      </p:sp>
      <p:sp>
        <p:nvSpPr>
          <p:cNvPr id="63" name="Text 29">
            <a:extLst>
              <a:ext uri="{FF2B5EF4-FFF2-40B4-BE49-F238E27FC236}">
                <a16:creationId xmlns:a16="http://schemas.microsoft.com/office/drawing/2014/main" id="{BF2AA7D7-9A62-1A32-24C0-DEAA8DAFFB13}"/>
              </a:ext>
            </a:extLst>
          </p:cNvPr>
          <p:cNvSpPr/>
          <p:nvPr/>
        </p:nvSpPr>
        <p:spPr>
          <a:xfrm>
            <a:off x="5271436" y="2300571"/>
            <a:ext cx="2651760" cy="301752"/>
          </a:xfrm>
          <a:prstGeom prst="rect">
            <a:avLst/>
          </a:prstGeom>
          <a:noFill/>
          <a:ln/>
        </p:spPr>
        <p:txBody>
          <a:bodyPr wrap="square" lIns="0" tIns="0" rIns="0" bIns="0" rtlCol="0" anchor="t">
            <a:normAutofit fontScale="70000" lnSpcReduction="20000"/>
          </a:bodyPr>
          <a:lstStyle/>
          <a:p>
            <a:pPr marL="0" indent="0" algn="l">
              <a:buNone/>
            </a:pPr>
            <a:r>
              <a:rPr lang="en-US" sz="1650" b="1" dirty="0">
                <a:solidFill>
                  <a:srgbClr val="1F3A3D"/>
                </a:solidFill>
                <a:latin typeface="Calibri" panose="020F0502020204030204" pitchFamily="34" charset="0"/>
                <a:ea typeface="Calibri" panose="020F0502020204030204" pitchFamily="34" charset="0"/>
                <a:cs typeface="Calibri" panose="020F0502020204030204" pitchFamily="34" charset="0"/>
              </a:rPr>
              <a:t>Technical performance dominates negative reviews</a:t>
            </a:r>
            <a:endParaRPr lang="en-US" sz="1650" dirty="0">
              <a:solidFill>
                <a:srgbClr val="1F3A3D"/>
              </a:solidFill>
              <a:latin typeface="Calibri" panose="020F0502020204030204" pitchFamily="34" charset="0"/>
              <a:ea typeface="Calibri" panose="020F0502020204030204" pitchFamily="34" charset="0"/>
              <a:cs typeface="Calibri" panose="020F0502020204030204" pitchFamily="34" charset="0"/>
            </a:endParaRPr>
          </a:p>
        </p:txBody>
      </p:sp>
      <p:sp>
        <p:nvSpPr>
          <p:cNvPr id="65" name="Text 30">
            <a:extLst>
              <a:ext uri="{FF2B5EF4-FFF2-40B4-BE49-F238E27FC236}">
                <a16:creationId xmlns:a16="http://schemas.microsoft.com/office/drawing/2014/main" id="{D06EEE1A-F3A5-3658-71AE-CFB0701C0A17}"/>
              </a:ext>
            </a:extLst>
          </p:cNvPr>
          <p:cNvSpPr/>
          <p:nvPr/>
        </p:nvSpPr>
        <p:spPr>
          <a:xfrm>
            <a:off x="5271436" y="2721195"/>
            <a:ext cx="2651760" cy="356616"/>
          </a:xfrm>
          <a:prstGeom prst="rect">
            <a:avLst/>
          </a:prstGeom>
          <a:noFill/>
          <a:ln/>
        </p:spPr>
        <p:txBody>
          <a:bodyPr wrap="square" lIns="0" tIns="0" rIns="0" bIns="0" rtlCol="0" anchor="ctr">
            <a:normAutofit lnSpcReduction="10000"/>
          </a:bodyPr>
          <a:lstStyle/>
          <a:p>
            <a:pPr marL="0" indent="0">
              <a:buNone/>
            </a:pPr>
            <a:r>
              <a:rPr lang="en-US" sz="2450" b="1" dirty="0">
                <a:solidFill>
                  <a:srgbClr val="203D3F"/>
                </a:solidFill>
                <a:latin typeface="Calibri" panose="020F0502020204030204" pitchFamily="34" charset="0"/>
                <a:ea typeface="Calibri" panose="020F0502020204030204" pitchFamily="34" charset="0"/>
                <a:cs typeface="Calibri" panose="020F0502020204030204" pitchFamily="34" charset="0"/>
              </a:rPr>
              <a:t>60.5 / </a:t>
            </a:r>
            <a:r>
              <a:rPr lang="en-US" sz="2450" b="1" dirty="0">
                <a:solidFill>
                  <a:srgbClr val="C44536"/>
                </a:solidFill>
                <a:latin typeface="Calibri" panose="020F0502020204030204" pitchFamily="34" charset="0"/>
                <a:ea typeface="Calibri" panose="020F0502020204030204" pitchFamily="34" charset="0"/>
                <a:cs typeface="Calibri" panose="020F0502020204030204" pitchFamily="34" charset="0"/>
              </a:rPr>
              <a:t>75.3 / </a:t>
            </a:r>
            <a:r>
              <a:rPr lang="en-US" sz="2450" b="1" dirty="0">
                <a:solidFill>
                  <a:srgbClr val="203D3F"/>
                </a:solidFill>
                <a:latin typeface="Calibri" panose="020F0502020204030204" pitchFamily="34" charset="0"/>
                <a:ea typeface="Calibri" panose="020F0502020204030204" pitchFamily="34" charset="0"/>
                <a:cs typeface="Calibri" panose="020F0502020204030204" pitchFamily="34" charset="0"/>
              </a:rPr>
              <a:t>12.0</a:t>
            </a:r>
            <a:endParaRPr lang="en-US" sz="2450" dirty="0">
              <a:latin typeface="Calibri" panose="020F0502020204030204" pitchFamily="34" charset="0"/>
              <a:ea typeface="Calibri" panose="020F0502020204030204" pitchFamily="34" charset="0"/>
              <a:cs typeface="Calibri" panose="020F0502020204030204" pitchFamily="34" charset="0"/>
            </a:endParaRPr>
          </a:p>
        </p:txBody>
      </p:sp>
      <p:sp>
        <p:nvSpPr>
          <p:cNvPr id="67" name="Text 31">
            <a:extLst>
              <a:ext uri="{FF2B5EF4-FFF2-40B4-BE49-F238E27FC236}">
                <a16:creationId xmlns:a16="http://schemas.microsoft.com/office/drawing/2014/main" id="{348DA2D3-EDF4-11DF-A1FC-B075943A3D09}"/>
              </a:ext>
            </a:extLst>
          </p:cNvPr>
          <p:cNvSpPr/>
          <p:nvPr/>
        </p:nvSpPr>
        <p:spPr>
          <a:xfrm>
            <a:off x="5271436" y="3160107"/>
            <a:ext cx="2651760" cy="182880"/>
          </a:xfrm>
          <a:prstGeom prst="rect">
            <a:avLst/>
          </a:prstGeom>
          <a:noFill/>
          <a:ln/>
        </p:spPr>
        <p:txBody>
          <a:bodyPr wrap="square" lIns="0" tIns="0" rIns="0" bIns="0" rtlCol="0" anchor="t">
            <a:normAutofit/>
          </a:bodyPr>
          <a:lstStyle/>
          <a:p>
            <a:pPr marL="0" indent="0" algn="l">
              <a:buNone/>
            </a:pPr>
            <a:r>
              <a:rPr lang="en-US" sz="880" dirty="0">
                <a:solidFill>
                  <a:srgbClr val="7C8385"/>
                </a:solidFill>
                <a:latin typeface="Calibri" panose="020F0502020204030204" pitchFamily="34" charset="0"/>
                <a:ea typeface="Calibri" panose="020F0502020204030204" pitchFamily="34" charset="0"/>
                <a:cs typeface="Calibri" panose="020F0502020204030204" pitchFamily="34" charset="0"/>
              </a:rPr>
              <a:t>% of negative reviews mentioning technical</a:t>
            </a:r>
            <a:endParaRPr lang="en-US" sz="880" dirty="0">
              <a:latin typeface="Calibri" panose="020F0502020204030204" pitchFamily="34" charset="0"/>
              <a:ea typeface="Calibri" panose="020F0502020204030204" pitchFamily="34" charset="0"/>
              <a:cs typeface="Calibri" panose="020F0502020204030204" pitchFamily="34" charset="0"/>
            </a:endParaRPr>
          </a:p>
        </p:txBody>
      </p:sp>
      <p:sp>
        <p:nvSpPr>
          <p:cNvPr id="69" name="Shape 32">
            <a:extLst>
              <a:ext uri="{FF2B5EF4-FFF2-40B4-BE49-F238E27FC236}">
                <a16:creationId xmlns:a16="http://schemas.microsoft.com/office/drawing/2014/main" id="{4C910C19-F827-0BAD-E35C-351754E09292}"/>
              </a:ext>
            </a:extLst>
          </p:cNvPr>
          <p:cNvSpPr/>
          <p:nvPr/>
        </p:nvSpPr>
        <p:spPr>
          <a:xfrm>
            <a:off x="5175504" y="4142872"/>
            <a:ext cx="2578608" cy="0"/>
          </a:xfrm>
          <a:prstGeom prst="line">
            <a:avLst/>
          </a:prstGeom>
          <a:noFill/>
          <a:ln w="12700">
            <a:solidFill>
              <a:srgbClr val="D9DDDC"/>
            </a:solidFill>
            <a:prstDash val="solid"/>
          </a:ln>
        </p:spPr>
        <p:txBody>
          <a:bodyPr/>
          <a:lstStyle/>
          <a:p>
            <a:endParaRPr lang="en-US" sz="800">
              <a:latin typeface="Calibri" panose="020F0502020204030204" pitchFamily="34" charset="0"/>
              <a:ea typeface="Calibri" panose="020F0502020204030204" pitchFamily="34" charset="0"/>
              <a:cs typeface="Calibri" panose="020F0502020204030204" pitchFamily="34" charset="0"/>
            </a:endParaRPr>
          </a:p>
        </p:txBody>
      </p:sp>
      <p:sp>
        <p:nvSpPr>
          <p:cNvPr id="71" name="Shape 33">
            <a:extLst>
              <a:ext uri="{FF2B5EF4-FFF2-40B4-BE49-F238E27FC236}">
                <a16:creationId xmlns:a16="http://schemas.microsoft.com/office/drawing/2014/main" id="{427C8350-DECF-68B4-4AED-66203850CE68}"/>
              </a:ext>
            </a:extLst>
          </p:cNvPr>
          <p:cNvSpPr/>
          <p:nvPr/>
        </p:nvSpPr>
        <p:spPr>
          <a:xfrm>
            <a:off x="5376672" y="3644981"/>
            <a:ext cx="329184" cy="497891"/>
          </a:xfrm>
          <a:prstGeom prst="rect">
            <a:avLst/>
          </a:prstGeom>
          <a:solidFill>
            <a:srgbClr val="929292"/>
          </a:solidFill>
          <a:ln w="12700">
            <a:solidFill>
              <a:srgbClr val="929292">
                <a:alpha val="0"/>
              </a:srgbClr>
            </a:solidFill>
            <a:prstDash val="solid"/>
          </a:ln>
        </p:spPr>
        <p:txBody>
          <a:bodyPr/>
          <a:lstStyle/>
          <a:p>
            <a:endParaRPr lang="en-US" sz="800">
              <a:latin typeface="Calibri" panose="020F0502020204030204" pitchFamily="34" charset="0"/>
              <a:ea typeface="Calibri" panose="020F0502020204030204" pitchFamily="34" charset="0"/>
              <a:cs typeface="Calibri" panose="020F0502020204030204" pitchFamily="34" charset="0"/>
            </a:endParaRPr>
          </a:p>
        </p:txBody>
      </p:sp>
      <p:sp>
        <p:nvSpPr>
          <p:cNvPr id="75" name="Text 35">
            <a:extLst>
              <a:ext uri="{FF2B5EF4-FFF2-40B4-BE49-F238E27FC236}">
                <a16:creationId xmlns:a16="http://schemas.microsoft.com/office/drawing/2014/main" id="{F77E7604-426F-08A7-8995-A7A0111F421B}"/>
              </a:ext>
            </a:extLst>
          </p:cNvPr>
          <p:cNvSpPr/>
          <p:nvPr/>
        </p:nvSpPr>
        <p:spPr>
          <a:xfrm>
            <a:off x="5330952" y="4216024"/>
            <a:ext cx="420624" cy="118872"/>
          </a:xfrm>
          <a:prstGeom prst="rect">
            <a:avLst/>
          </a:prstGeom>
          <a:noFill/>
          <a:ln/>
        </p:spPr>
        <p:txBody>
          <a:bodyPr wrap="square" lIns="0" tIns="0" rIns="0" bIns="0" rtlCol="0" anchor="t">
            <a:noAutofit/>
          </a:bodyPr>
          <a:lstStyle/>
          <a:p>
            <a:pPr marL="0" indent="0" algn="ctr">
              <a:buNone/>
            </a:pPr>
            <a:r>
              <a:rPr lang="en-US" sz="800" dirty="0">
                <a:solidFill>
                  <a:srgbClr val="7C8385"/>
                </a:solidFill>
                <a:latin typeface="Calibri" panose="020F0502020204030204" pitchFamily="34" charset="0"/>
                <a:ea typeface="Calibri" panose="020F0502020204030204" pitchFamily="34" charset="0"/>
                <a:cs typeface="Calibri" panose="020F0502020204030204" pitchFamily="34" charset="0"/>
              </a:rPr>
              <a:t>B1</a:t>
            </a:r>
            <a:endParaRPr lang="en-US" sz="800" dirty="0">
              <a:latin typeface="Calibri" panose="020F0502020204030204" pitchFamily="34" charset="0"/>
              <a:ea typeface="Calibri" panose="020F0502020204030204" pitchFamily="34" charset="0"/>
              <a:cs typeface="Calibri" panose="020F0502020204030204" pitchFamily="34" charset="0"/>
            </a:endParaRPr>
          </a:p>
        </p:txBody>
      </p:sp>
      <p:sp>
        <p:nvSpPr>
          <p:cNvPr id="77" name="Shape 36">
            <a:extLst>
              <a:ext uri="{FF2B5EF4-FFF2-40B4-BE49-F238E27FC236}">
                <a16:creationId xmlns:a16="http://schemas.microsoft.com/office/drawing/2014/main" id="{BE11A461-958A-CEC7-A22B-35FA30957F06}"/>
              </a:ext>
            </a:extLst>
          </p:cNvPr>
          <p:cNvSpPr/>
          <p:nvPr/>
        </p:nvSpPr>
        <p:spPr>
          <a:xfrm>
            <a:off x="6117336" y="3523183"/>
            <a:ext cx="329184" cy="619689"/>
          </a:xfrm>
          <a:prstGeom prst="rect">
            <a:avLst/>
          </a:prstGeom>
          <a:solidFill>
            <a:srgbClr val="C44536"/>
          </a:solidFill>
          <a:ln w="12700">
            <a:solidFill>
              <a:srgbClr val="C44536">
                <a:alpha val="0"/>
              </a:srgbClr>
            </a:solidFill>
            <a:prstDash val="solid"/>
          </a:ln>
        </p:spPr>
        <p:txBody>
          <a:bodyPr/>
          <a:lstStyle/>
          <a:p>
            <a:endParaRPr lang="en-US" sz="800">
              <a:latin typeface="Calibri" panose="020F0502020204030204" pitchFamily="34" charset="0"/>
              <a:ea typeface="Calibri" panose="020F0502020204030204" pitchFamily="34" charset="0"/>
              <a:cs typeface="Calibri" panose="020F0502020204030204" pitchFamily="34" charset="0"/>
            </a:endParaRPr>
          </a:p>
        </p:txBody>
      </p:sp>
      <p:sp>
        <p:nvSpPr>
          <p:cNvPr id="81" name="Text 38">
            <a:extLst>
              <a:ext uri="{FF2B5EF4-FFF2-40B4-BE49-F238E27FC236}">
                <a16:creationId xmlns:a16="http://schemas.microsoft.com/office/drawing/2014/main" id="{331D1685-E211-3104-555C-EE8985D11618}"/>
              </a:ext>
            </a:extLst>
          </p:cNvPr>
          <p:cNvSpPr/>
          <p:nvPr/>
        </p:nvSpPr>
        <p:spPr>
          <a:xfrm>
            <a:off x="6071616" y="4216024"/>
            <a:ext cx="420624" cy="118872"/>
          </a:xfrm>
          <a:prstGeom prst="rect">
            <a:avLst/>
          </a:prstGeom>
          <a:noFill/>
          <a:ln/>
        </p:spPr>
        <p:txBody>
          <a:bodyPr wrap="square" lIns="0" tIns="0" rIns="0" bIns="0" rtlCol="0" anchor="t">
            <a:noAutofit/>
          </a:bodyPr>
          <a:lstStyle/>
          <a:p>
            <a:pPr marL="0" indent="0" algn="ctr">
              <a:buNone/>
            </a:pPr>
            <a:r>
              <a:rPr lang="en-US" sz="800" dirty="0">
                <a:solidFill>
                  <a:srgbClr val="7C8385"/>
                </a:solidFill>
                <a:latin typeface="Calibri" panose="020F0502020204030204" pitchFamily="34" charset="0"/>
                <a:ea typeface="Calibri" panose="020F0502020204030204" pitchFamily="34" charset="0"/>
                <a:cs typeface="Calibri" panose="020F0502020204030204" pitchFamily="34" charset="0"/>
              </a:rPr>
              <a:t>B2</a:t>
            </a:r>
            <a:endParaRPr lang="en-US" sz="800" dirty="0">
              <a:latin typeface="Calibri" panose="020F0502020204030204" pitchFamily="34" charset="0"/>
              <a:ea typeface="Calibri" panose="020F0502020204030204" pitchFamily="34" charset="0"/>
              <a:cs typeface="Calibri" panose="020F0502020204030204" pitchFamily="34" charset="0"/>
            </a:endParaRPr>
          </a:p>
        </p:txBody>
      </p:sp>
      <p:sp>
        <p:nvSpPr>
          <p:cNvPr id="83" name="Shape 39">
            <a:extLst>
              <a:ext uri="{FF2B5EF4-FFF2-40B4-BE49-F238E27FC236}">
                <a16:creationId xmlns:a16="http://schemas.microsoft.com/office/drawing/2014/main" id="{1E3D0D60-5ADB-A7ED-4B79-7ECEA54D6192}"/>
              </a:ext>
            </a:extLst>
          </p:cNvPr>
          <p:cNvSpPr/>
          <p:nvPr/>
        </p:nvSpPr>
        <p:spPr>
          <a:xfrm>
            <a:off x="6858000" y="4044117"/>
            <a:ext cx="329184" cy="98755"/>
          </a:xfrm>
          <a:prstGeom prst="rect">
            <a:avLst/>
          </a:prstGeom>
          <a:solidFill>
            <a:srgbClr val="929292"/>
          </a:solidFill>
          <a:ln w="12700">
            <a:solidFill>
              <a:srgbClr val="929292">
                <a:alpha val="0"/>
              </a:srgbClr>
            </a:solidFill>
            <a:prstDash val="solid"/>
          </a:ln>
        </p:spPr>
        <p:txBody>
          <a:bodyPr/>
          <a:lstStyle/>
          <a:p>
            <a:endParaRPr lang="en-US" sz="800">
              <a:latin typeface="Calibri" panose="020F0502020204030204" pitchFamily="34" charset="0"/>
              <a:ea typeface="Calibri" panose="020F0502020204030204" pitchFamily="34" charset="0"/>
              <a:cs typeface="Calibri" panose="020F0502020204030204" pitchFamily="34" charset="0"/>
            </a:endParaRPr>
          </a:p>
        </p:txBody>
      </p:sp>
      <p:sp>
        <p:nvSpPr>
          <p:cNvPr id="87" name="Text 41">
            <a:extLst>
              <a:ext uri="{FF2B5EF4-FFF2-40B4-BE49-F238E27FC236}">
                <a16:creationId xmlns:a16="http://schemas.microsoft.com/office/drawing/2014/main" id="{661292FB-070E-A7DC-B323-DAB1A8A608A2}"/>
              </a:ext>
            </a:extLst>
          </p:cNvPr>
          <p:cNvSpPr/>
          <p:nvPr/>
        </p:nvSpPr>
        <p:spPr>
          <a:xfrm>
            <a:off x="6812280" y="4216024"/>
            <a:ext cx="420624" cy="118872"/>
          </a:xfrm>
          <a:prstGeom prst="rect">
            <a:avLst/>
          </a:prstGeom>
          <a:noFill/>
          <a:ln/>
        </p:spPr>
        <p:txBody>
          <a:bodyPr wrap="square" lIns="0" tIns="0" rIns="0" bIns="0" rtlCol="0" anchor="t">
            <a:noAutofit/>
          </a:bodyPr>
          <a:lstStyle/>
          <a:p>
            <a:pPr marL="0" indent="0" algn="ctr">
              <a:buNone/>
            </a:pPr>
            <a:r>
              <a:rPr lang="en-US" sz="800" dirty="0">
                <a:solidFill>
                  <a:srgbClr val="7C8385"/>
                </a:solidFill>
                <a:latin typeface="Calibri" panose="020F0502020204030204" pitchFamily="34" charset="0"/>
                <a:ea typeface="Calibri" panose="020F0502020204030204" pitchFamily="34" charset="0"/>
                <a:cs typeface="Calibri" panose="020F0502020204030204" pitchFamily="34" charset="0"/>
              </a:rPr>
              <a:t>INF</a:t>
            </a:r>
            <a:endParaRPr lang="en-US" sz="800" dirty="0">
              <a:latin typeface="Calibri" panose="020F0502020204030204" pitchFamily="34" charset="0"/>
              <a:ea typeface="Calibri" panose="020F0502020204030204" pitchFamily="34" charset="0"/>
              <a:cs typeface="Calibri" panose="020F0502020204030204" pitchFamily="34" charset="0"/>
            </a:endParaRPr>
          </a:p>
        </p:txBody>
      </p:sp>
      <p:sp>
        <p:nvSpPr>
          <p:cNvPr id="91" name="Text 43">
            <a:extLst>
              <a:ext uri="{FF2B5EF4-FFF2-40B4-BE49-F238E27FC236}">
                <a16:creationId xmlns:a16="http://schemas.microsoft.com/office/drawing/2014/main" id="{07A03513-C30D-C331-8643-47B95CBC4607}"/>
              </a:ext>
            </a:extLst>
          </p:cNvPr>
          <p:cNvSpPr/>
          <p:nvPr/>
        </p:nvSpPr>
        <p:spPr>
          <a:xfrm>
            <a:off x="5271436" y="4630581"/>
            <a:ext cx="2651760" cy="493776"/>
          </a:xfrm>
          <a:prstGeom prst="rect">
            <a:avLst/>
          </a:prstGeom>
          <a:noFill/>
          <a:ln/>
        </p:spPr>
        <p:txBody>
          <a:bodyPr wrap="square" lIns="0" tIns="0" rIns="0" bIns="0" rtlCol="0" anchor="t">
            <a:normAutofit lnSpcReduction="10000"/>
          </a:bodyPr>
          <a:lstStyle/>
          <a:p>
            <a:pPr marL="0" indent="0" algn="l">
              <a:buNone/>
            </a:pPr>
            <a:r>
              <a:rPr lang="en-US" sz="1100" dirty="0">
                <a:solidFill>
                  <a:srgbClr val="1F3A3D"/>
                </a:solidFill>
                <a:latin typeface="Calibri" panose="020F0502020204030204" pitchFamily="34" charset="0"/>
                <a:ea typeface="Calibri" panose="020F0502020204030204" pitchFamily="34" charset="0"/>
                <a:cs typeface="Calibri" panose="020F0502020204030204" pitchFamily="34" charset="0"/>
              </a:rPr>
              <a:t>Negative reviews of the B1 and B2 mentioned technical performance at significantly higher rates than infinite</a:t>
            </a:r>
          </a:p>
        </p:txBody>
      </p:sp>
      <p:sp>
        <p:nvSpPr>
          <p:cNvPr id="99" name="Text 47">
            <a:extLst>
              <a:ext uri="{FF2B5EF4-FFF2-40B4-BE49-F238E27FC236}">
                <a16:creationId xmlns:a16="http://schemas.microsoft.com/office/drawing/2014/main" id="{B9D141CF-6169-4503-9B02-4778C37686B2}"/>
              </a:ext>
            </a:extLst>
          </p:cNvPr>
          <p:cNvSpPr/>
          <p:nvPr/>
        </p:nvSpPr>
        <p:spPr>
          <a:xfrm>
            <a:off x="8380396" y="2300571"/>
            <a:ext cx="2651760" cy="301752"/>
          </a:xfrm>
          <a:prstGeom prst="rect">
            <a:avLst/>
          </a:prstGeom>
          <a:noFill/>
          <a:ln/>
        </p:spPr>
        <p:txBody>
          <a:bodyPr wrap="square" lIns="0" tIns="0" rIns="0" bIns="0" rtlCol="0" anchor="t">
            <a:normAutofit fontScale="70000" lnSpcReduction="20000"/>
          </a:bodyPr>
          <a:lstStyle/>
          <a:p>
            <a:pPr marL="0" indent="0" algn="l">
              <a:buNone/>
            </a:pPr>
            <a:r>
              <a:rPr lang="en-US" sz="1650" b="1" dirty="0">
                <a:solidFill>
                  <a:srgbClr val="1F3A3D"/>
                </a:solidFill>
                <a:latin typeface="Calibri" panose="020F0502020204030204" pitchFamily="34" charset="0"/>
                <a:ea typeface="Calibri" panose="020F0502020204030204" pitchFamily="34" charset="0"/>
                <a:cs typeface="Calibri" panose="020F0502020204030204" pitchFamily="34" charset="0"/>
              </a:rPr>
              <a:t>Infinite leaned into narrative, away from combat</a:t>
            </a:r>
          </a:p>
        </p:txBody>
      </p:sp>
      <p:sp>
        <p:nvSpPr>
          <p:cNvPr id="101" name="Text 48">
            <a:extLst>
              <a:ext uri="{FF2B5EF4-FFF2-40B4-BE49-F238E27FC236}">
                <a16:creationId xmlns:a16="http://schemas.microsoft.com/office/drawing/2014/main" id="{4C64C9F2-5A3E-C537-C1B6-925B753B5D1A}"/>
              </a:ext>
            </a:extLst>
          </p:cNvPr>
          <p:cNvSpPr/>
          <p:nvPr/>
        </p:nvSpPr>
        <p:spPr>
          <a:xfrm>
            <a:off x="8380396" y="2721195"/>
            <a:ext cx="2651760" cy="356616"/>
          </a:xfrm>
          <a:prstGeom prst="rect">
            <a:avLst/>
          </a:prstGeom>
          <a:noFill/>
          <a:ln/>
        </p:spPr>
        <p:txBody>
          <a:bodyPr wrap="square" lIns="0" tIns="0" rIns="0" bIns="0" rtlCol="0" anchor="ctr">
            <a:normAutofit lnSpcReduction="10000"/>
          </a:bodyPr>
          <a:lstStyle/>
          <a:p>
            <a:pPr marL="0" indent="0">
              <a:buNone/>
            </a:pPr>
            <a:r>
              <a:rPr lang="en-US" sz="2450" b="1" dirty="0">
                <a:solidFill>
                  <a:srgbClr val="1F3A3D"/>
                </a:solidFill>
                <a:latin typeface="Calibri" panose="020F0502020204030204" pitchFamily="34" charset="0"/>
                <a:ea typeface="Calibri" panose="020F0502020204030204" pitchFamily="34" charset="0"/>
                <a:cs typeface="Calibri" panose="020F0502020204030204" pitchFamily="34" charset="0"/>
              </a:rPr>
              <a:t>8.0</a:t>
            </a:r>
            <a:r>
              <a:rPr lang="en-US" sz="2450" b="1" dirty="0">
                <a:solidFill>
                  <a:srgbClr val="C44536"/>
                </a:solidFill>
                <a:latin typeface="Calibri" panose="020F0502020204030204" pitchFamily="34" charset="0"/>
                <a:ea typeface="Calibri" panose="020F0502020204030204" pitchFamily="34" charset="0"/>
                <a:cs typeface="Calibri" panose="020F0502020204030204" pitchFamily="34" charset="0"/>
              </a:rPr>
              <a:t> </a:t>
            </a:r>
            <a:r>
              <a:rPr lang="en-US" sz="2450" b="1" dirty="0">
                <a:solidFill>
                  <a:srgbClr val="1F3A3D"/>
                </a:solidFill>
                <a:latin typeface="Calibri" panose="020F0502020204030204" pitchFamily="34" charset="0"/>
                <a:ea typeface="Calibri" panose="020F0502020204030204" pitchFamily="34" charset="0"/>
                <a:cs typeface="Calibri" panose="020F0502020204030204" pitchFamily="34" charset="0"/>
              </a:rPr>
              <a:t>/</a:t>
            </a:r>
            <a:r>
              <a:rPr lang="en-US" sz="2450" b="1" dirty="0">
                <a:solidFill>
                  <a:srgbClr val="C44536"/>
                </a:solidFill>
                <a:latin typeface="Calibri" panose="020F0502020204030204" pitchFamily="34" charset="0"/>
                <a:ea typeface="Calibri" panose="020F0502020204030204" pitchFamily="34" charset="0"/>
                <a:cs typeface="Calibri" panose="020F0502020204030204" pitchFamily="34" charset="0"/>
              </a:rPr>
              <a:t> </a:t>
            </a:r>
            <a:r>
              <a:rPr lang="en-US" sz="2450" b="1" dirty="0">
                <a:solidFill>
                  <a:srgbClr val="203D3F"/>
                </a:solidFill>
                <a:latin typeface="Calibri" panose="020F0502020204030204" pitchFamily="34" charset="0"/>
                <a:ea typeface="Calibri" panose="020F0502020204030204" pitchFamily="34" charset="0"/>
                <a:cs typeface="Calibri" panose="020F0502020204030204" pitchFamily="34" charset="0"/>
              </a:rPr>
              <a:t>7.9 / </a:t>
            </a:r>
            <a:r>
              <a:rPr lang="en-US" sz="2450" b="1" dirty="0">
                <a:solidFill>
                  <a:srgbClr val="C44536"/>
                </a:solidFill>
                <a:latin typeface="Calibri" panose="020F0502020204030204" pitchFamily="34" charset="0"/>
                <a:ea typeface="Calibri" panose="020F0502020204030204" pitchFamily="34" charset="0"/>
                <a:cs typeface="Calibri" panose="020F0502020204030204" pitchFamily="34" charset="0"/>
              </a:rPr>
              <a:t>23.6</a:t>
            </a:r>
            <a:endParaRPr lang="en-US" sz="2450" dirty="0">
              <a:solidFill>
                <a:srgbClr val="C44536"/>
              </a:solidFill>
              <a:latin typeface="Calibri" panose="020F0502020204030204" pitchFamily="34" charset="0"/>
              <a:ea typeface="Calibri" panose="020F0502020204030204" pitchFamily="34" charset="0"/>
              <a:cs typeface="Calibri" panose="020F0502020204030204" pitchFamily="34" charset="0"/>
            </a:endParaRPr>
          </a:p>
        </p:txBody>
      </p:sp>
      <p:sp>
        <p:nvSpPr>
          <p:cNvPr id="103" name="Text 49">
            <a:extLst>
              <a:ext uri="{FF2B5EF4-FFF2-40B4-BE49-F238E27FC236}">
                <a16:creationId xmlns:a16="http://schemas.microsoft.com/office/drawing/2014/main" id="{29750D25-377F-EA25-4D2D-C2AB2C80166D}"/>
              </a:ext>
            </a:extLst>
          </p:cNvPr>
          <p:cNvSpPr/>
          <p:nvPr/>
        </p:nvSpPr>
        <p:spPr>
          <a:xfrm>
            <a:off x="8380396" y="3160107"/>
            <a:ext cx="2651760" cy="182880"/>
          </a:xfrm>
          <a:prstGeom prst="rect">
            <a:avLst/>
          </a:prstGeom>
          <a:noFill/>
          <a:ln/>
        </p:spPr>
        <p:txBody>
          <a:bodyPr wrap="square" lIns="0" tIns="0" rIns="0" bIns="0" rtlCol="0" anchor="t">
            <a:normAutofit/>
          </a:bodyPr>
          <a:lstStyle/>
          <a:p>
            <a:pPr marL="0" indent="0" algn="l">
              <a:buNone/>
            </a:pPr>
            <a:r>
              <a:rPr lang="en-US" sz="880" dirty="0">
                <a:solidFill>
                  <a:srgbClr val="7C8385"/>
                </a:solidFill>
                <a:latin typeface="Calibri" panose="020F0502020204030204" pitchFamily="34" charset="0"/>
                <a:ea typeface="Calibri" panose="020F0502020204030204" pitchFamily="34" charset="0"/>
                <a:cs typeface="Calibri" panose="020F0502020204030204" pitchFamily="34" charset="0"/>
              </a:rPr>
              <a:t>% of negative reviews mentioning combat</a:t>
            </a:r>
            <a:endParaRPr lang="en-US" sz="880" dirty="0">
              <a:latin typeface="Calibri" panose="020F0502020204030204" pitchFamily="34" charset="0"/>
              <a:ea typeface="Calibri" panose="020F0502020204030204" pitchFamily="34" charset="0"/>
              <a:cs typeface="Calibri" panose="020F0502020204030204" pitchFamily="34" charset="0"/>
            </a:endParaRPr>
          </a:p>
        </p:txBody>
      </p:sp>
      <p:sp>
        <p:nvSpPr>
          <p:cNvPr id="105" name="Shape 50">
            <a:extLst>
              <a:ext uri="{FF2B5EF4-FFF2-40B4-BE49-F238E27FC236}">
                <a16:creationId xmlns:a16="http://schemas.microsoft.com/office/drawing/2014/main" id="{E1B098B6-0463-9F50-D7CA-ED224DD699CF}"/>
              </a:ext>
            </a:extLst>
          </p:cNvPr>
          <p:cNvSpPr/>
          <p:nvPr/>
        </p:nvSpPr>
        <p:spPr>
          <a:xfrm>
            <a:off x="8284464" y="4142872"/>
            <a:ext cx="2578608" cy="0"/>
          </a:xfrm>
          <a:prstGeom prst="line">
            <a:avLst/>
          </a:prstGeom>
          <a:noFill/>
          <a:ln w="12700">
            <a:solidFill>
              <a:srgbClr val="D9DDDC"/>
            </a:solidFill>
            <a:prstDash val="solid"/>
          </a:ln>
        </p:spPr>
        <p:txBody>
          <a:bodyPr/>
          <a:lstStyle/>
          <a:p>
            <a:endParaRPr lang="en-US" sz="800">
              <a:latin typeface="Calibri" panose="020F0502020204030204" pitchFamily="34" charset="0"/>
              <a:ea typeface="Calibri" panose="020F0502020204030204" pitchFamily="34" charset="0"/>
              <a:cs typeface="Calibri" panose="020F0502020204030204" pitchFamily="34" charset="0"/>
            </a:endParaRPr>
          </a:p>
        </p:txBody>
      </p:sp>
      <p:sp>
        <p:nvSpPr>
          <p:cNvPr id="107" name="Shape 51">
            <a:extLst>
              <a:ext uri="{FF2B5EF4-FFF2-40B4-BE49-F238E27FC236}">
                <a16:creationId xmlns:a16="http://schemas.microsoft.com/office/drawing/2014/main" id="{74616E90-3106-1E09-EBAF-D8BA4D5A5048}"/>
              </a:ext>
            </a:extLst>
          </p:cNvPr>
          <p:cNvSpPr/>
          <p:nvPr/>
        </p:nvSpPr>
        <p:spPr>
          <a:xfrm>
            <a:off x="9950276" y="3949448"/>
            <a:ext cx="329184" cy="194219"/>
          </a:xfrm>
          <a:prstGeom prst="rect">
            <a:avLst/>
          </a:prstGeom>
          <a:solidFill>
            <a:srgbClr val="C44536"/>
          </a:solidFill>
          <a:ln w="12700">
            <a:solidFill>
              <a:srgbClr val="C44536">
                <a:alpha val="0"/>
              </a:srgbClr>
            </a:solidFill>
            <a:prstDash val="solid"/>
          </a:ln>
        </p:spPr>
        <p:txBody>
          <a:bodyPr/>
          <a:lstStyle/>
          <a:p>
            <a:endParaRPr lang="en-US" sz="800">
              <a:latin typeface="Calibri" panose="020F0502020204030204" pitchFamily="34" charset="0"/>
              <a:ea typeface="Calibri" panose="020F0502020204030204" pitchFamily="34" charset="0"/>
              <a:cs typeface="Calibri" panose="020F0502020204030204" pitchFamily="34" charset="0"/>
            </a:endParaRPr>
          </a:p>
        </p:txBody>
      </p:sp>
      <p:sp>
        <p:nvSpPr>
          <p:cNvPr id="111" name="Text 53">
            <a:extLst>
              <a:ext uri="{FF2B5EF4-FFF2-40B4-BE49-F238E27FC236}">
                <a16:creationId xmlns:a16="http://schemas.microsoft.com/office/drawing/2014/main" id="{A1CF05CB-A641-B78B-D5D6-C42305199039}"/>
              </a:ext>
            </a:extLst>
          </p:cNvPr>
          <p:cNvSpPr/>
          <p:nvPr/>
        </p:nvSpPr>
        <p:spPr>
          <a:xfrm>
            <a:off x="8439912" y="4216024"/>
            <a:ext cx="420624" cy="118872"/>
          </a:xfrm>
          <a:prstGeom prst="rect">
            <a:avLst/>
          </a:prstGeom>
          <a:noFill/>
          <a:ln/>
        </p:spPr>
        <p:txBody>
          <a:bodyPr wrap="square" lIns="0" tIns="0" rIns="0" bIns="0" rtlCol="0" anchor="t">
            <a:noAutofit/>
          </a:bodyPr>
          <a:lstStyle/>
          <a:p>
            <a:pPr marL="0" indent="0" algn="ctr">
              <a:buNone/>
            </a:pPr>
            <a:r>
              <a:rPr lang="en-US" sz="800" dirty="0">
                <a:solidFill>
                  <a:srgbClr val="7C8385"/>
                </a:solidFill>
                <a:latin typeface="Calibri" panose="020F0502020204030204" pitchFamily="34" charset="0"/>
                <a:ea typeface="Calibri" panose="020F0502020204030204" pitchFamily="34" charset="0"/>
                <a:cs typeface="Calibri" panose="020F0502020204030204" pitchFamily="34" charset="0"/>
              </a:rPr>
              <a:t>B1</a:t>
            </a:r>
            <a:endParaRPr lang="en-US" sz="800" dirty="0">
              <a:latin typeface="Calibri" panose="020F0502020204030204" pitchFamily="34" charset="0"/>
              <a:ea typeface="Calibri" panose="020F0502020204030204" pitchFamily="34" charset="0"/>
              <a:cs typeface="Calibri" panose="020F0502020204030204" pitchFamily="34" charset="0"/>
            </a:endParaRPr>
          </a:p>
        </p:txBody>
      </p:sp>
      <p:sp>
        <p:nvSpPr>
          <p:cNvPr id="113" name="Shape 54">
            <a:extLst>
              <a:ext uri="{FF2B5EF4-FFF2-40B4-BE49-F238E27FC236}">
                <a16:creationId xmlns:a16="http://schemas.microsoft.com/office/drawing/2014/main" id="{4E15BB6D-1BAF-7965-CA0D-FE8C909E6142}"/>
              </a:ext>
            </a:extLst>
          </p:cNvPr>
          <p:cNvSpPr/>
          <p:nvPr/>
        </p:nvSpPr>
        <p:spPr>
          <a:xfrm>
            <a:off x="9229344" y="4078662"/>
            <a:ext cx="329184" cy="65837"/>
          </a:xfrm>
          <a:prstGeom prst="rect">
            <a:avLst/>
          </a:prstGeom>
          <a:solidFill>
            <a:srgbClr val="929292"/>
          </a:solidFill>
          <a:ln w="12700">
            <a:solidFill>
              <a:srgbClr val="929292">
                <a:alpha val="0"/>
              </a:srgbClr>
            </a:solidFill>
            <a:prstDash val="solid"/>
          </a:ln>
        </p:spPr>
        <p:txBody>
          <a:bodyPr/>
          <a:lstStyle/>
          <a:p>
            <a:endParaRPr lang="en-US" sz="800">
              <a:latin typeface="Calibri" panose="020F0502020204030204" pitchFamily="34" charset="0"/>
              <a:ea typeface="Calibri" panose="020F0502020204030204" pitchFamily="34" charset="0"/>
              <a:cs typeface="Calibri" panose="020F0502020204030204" pitchFamily="34" charset="0"/>
            </a:endParaRPr>
          </a:p>
        </p:txBody>
      </p:sp>
      <p:sp>
        <p:nvSpPr>
          <p:cNvPr id="117" name="Text 56">
            <a:extLst>
              <a:ext uri="{FF2B5EF4-FFF2-40B4-BE49-F238E27FC236}">
                <a16:creationId xmlns:a16="http://schemas.microsoft.com/office/drawing/2014/main" id="{3F77369F-E60F-3D28-58F2-E94DED30A5FF}"/>
              </a:ext>
            </a:extLst>
          </p:cNvPr>
          <p:cNvSpPr/>
          <p:nvPr/>
        </p:nvSpPr>
        <p:spPr>
          <a:xfrm>
            <a:off x="9180576" y="4216024"/>
            <a:ext cx="420624" cy="118872"/>
          </a:xfrm>
          <a:prstGeom prst="rect">
            <a:avLst/>
          </a:prstGeom>
          <a:noFill/>
          <a:ln/>
        </p:spPr>
        <p:txBody>
          <a:bodyPr wrap="square" lIns="0" tIns="0" rIns="0" bIns="0" rtlCol="0" anchor="t">
            <a:noAutofit/>
          </a:bodyPr>
          <a:lstStyle/>
          <a:p>
            <a:pPr marL="0" indent="0" algn="ctr">
              <a:buNone/>
            </a:pPr>
            <a:r>
              <a:rPr lang="en-US" sz="800" dirty="0">
                <a:solidFill>
                  <a:srgbClr val="7C8385"/>
                </a:solidFill>
                <a:latin typeface="Calibri" panose="020F0502020204030204" pitchFamily="34" charset="0"/>
                <a:ea typeface="Calibri" panose="020F0502020204030204" pitchFamily="34" charset="0"/>
                <a:cs typeface="Calibri" panose="020F0502020204030204" pitchFamily="34" charset="0"/>
              </a:rPr>
              <a:t>B2</a:t>
            </a:r>
            <a:endParaRPr lang="en-US" sz="800" dirty="0">
              <a:latin typeface="Calibri" panose="020F0502020204030204" pitchFamily="34" charset="0"/>
              <a:ea typeface="Calibri" panose="020F0502020204030204" pitchFamily="34" charset="0"/>
              <a:cs typeface="Calibri" panose="020F0502020204030204" pitchFamily="34" charset="0"/>
            </a:endParaRPr>
          </a:p>
        </p:txBody>
      </p:sp>
      <p:sp>
        <p:nvSpPr>
          <p:cNvPr id="119" name="Shape 57">
            <a:extLst>
              <a:ext uri="{FF2B5EF4-FFF2-40B4-BE49-F238E27FC236}">
                <a16:creationId xmlns:a16="http://schemas.microsoft.com/office/drawing/2014/main" id="{20A27F09-428F-8283-10C8-30D611101B56}"/>
              </a:ext>
            </a:extLst>
          </p:cNvPr>
          <p:cNvSpPr/>
          <p:nvPr/>
        </p:nvSpPr>
        <p:spPr>
          <a:xfrm>
            <a:off x="8502316" y="4077858"/>
            <a:ext cx="329184" cy="65014"/>
          </a:xfrm>
          <a:prstGeom prst="rect">
            <a:avLst/>
          </a:prstGeom>
          <a:solidFill>
            <a:srgbClr val="929292"/>
          </a:solidFill>
          <a:ln w="12700">
            <a:solidFill>
              <a:srgbClr val="929292">
                <a:alpha val="0"/>
              </a:srgbClr>
            </a:solidFill>
            <a:prstDash val="solid"/>
          </a:ln>
        </p:spPr>
        <p:txBody>
          <a:bodyPr/>
          <a:lstStyle/>
          <a:p>
            <a:endParaRPr lang="en-US" sz="800">
              <a:latin typeface="Calibri" panose="020F0502020204030204" pitchFamily="34" charset="0"/>
              <a:ea typeface="Calibri" panose="020F0502020204030204" pitchFamily="34" charset="0"/>
              <a:cs typeface="Calibri" panose="020F0502020204030204" pitchFamily="34" charset="0"/>
            </a:endParaRPr>
          </a:p>
        </p:txBody>
      </p:sp>
      <p:sp>
        <p:nvSpPr>
          <p:cNvPr id="123" name="Text 59">
            <a:extLst>
              <a:ext uri="{FF2B5EF4-FFF2-40B4-BE49-F238E27FC236}">
                <a16:creationId xmlns:a16="http://schemas.microsoft.com/office/drawing/2014/main" id="{5984AF90-ED6B-811C-FA7D-377C7222C48A}"/>
              </a:ext>
            </a:extLst>
          </p:cNvPr>
          <p:cNvSpPr/>
          <p:nvPr/>
        </p:nvSpPr>
        <p:spPr>
          <a:xfrm>
            <a:off x="9921240" y="4216024"/>
            <a:ext cx="420624" cy="118872"/>
          </a:xfrm>
          <a:prstGeom prst="rect">
            <a:avLst/>
          </a:prstGeom>
          <a:noFill/>
          <a:ln/>
        </p:spPr>
        <p:txBody>
          <a:bodyPr wrap="square" lIns="0" tIns="0" rIns="0" bIns="0" rtlCol="0" anchor="t">
            <a:noAutofit/>
          </a:bodyPr>
          <a:lstStyle/>
          <a:p>
            <a:pPr marL="0" indent="0" algn="ctr">
              <a:buNone/>
            </a:pPr>
            <a:r>
              <a:rPr lang="en-US" sz="800" dirty="0">
                <a:solidFill>
                  <a:srgbClr val="7C8385"/>
                </a:solidFill>
                <a:latin typeface="Calibri" panose="020F0502020204030204" pitchFamily="34" charset="0"/>
                <a:ea typeface="Calibri" panose="020F0502020204030204" pitchFamily="34" charset="0"/>
                <a:cs typeface="Calibri" panose="020F0502020204030204" pitchFamily="34" charset="0"/>
              </a:rPr>
              <a:t>INF</a:t>
            </a:r>
            <a:endParaRPr lang="en-US" sz="800" dirty="0">
              <a:latin typeface="Calibri" panose="020F0502020204030204" pitchFamily="34" charset="0"/>
              <a:ea typeface="Calibri" panose="020F0502020204030204" pitchFamily="34" charset="0"/>
              <a:cs typeface="Calibri" panose="020F0502020204030204" pitchFamily="34" charset="0"/>
            </a:endParaRPr>
          </a:p>
        </p:txBody>
      </p:sp>
      <p:sp>
        <p:nvSpPr>
          <p:cNvPr id="127" name="Text 61">
            <a:extLst>
              <a:ext uri="{FF2B5EF4-FFF2-40B4-BE49-F238E27FC236}">
                <a16:creationId xmlns:a16="http://schemas.microsoft.com/office/drawing/2014/main" id="{C1EAF0EA-7770-C80D-D83D-937F3A6F5787}"/>
              </a:ext>
            </a:extLst>
          </p:cNvPr>
          <p:cNvSpPr/>
          <p:nvPr/>
        </p:nvSpPr>
        <p:spPr>
          <a:xfrm>
            <a:off x="8279732" y="4607721"/>
            <a:ext cx="2651760" cy="493776"/>
          </a:xfrm>
          <a:prstGeom prst="rect">
            <a:avLst/>
          </a:prstGeom>
          <a:noFill/>
          <a:ln/>
        </p:spPr>
        <p:txBody>
          <a:bodyPr wrap="square" lIns="0" tIns="0" rIns="0" bIns="0" rtlCol="0" anchor="t">
            <a:noAutofit/>
          </a:bodyPr>
          <a:lstStyle/>
          <a:p>
            <a:pPr marL="0" indent="0" algn="l">
              <a:buNone/>
            </a:pPr>
            <a:r>
              <a:rPr lang="en-US" sz="1100" dirty="0">
                <a:solidFill>
                  <a:srgbClr val="1F3A3D"/>
                </a:solidFill>
                <a:latin typeface="Calibri" panose="020F0502020204030204" pitchFamily="34" charset="0"/>
                <a:ea typeface="Calibri" panose="020F0502020204030204" pitchFamily="34" charset="0"/>
                <a:cs typeface="Calibri" panose="020F0502020204030204" pitchFamily="34" charset="0"/>
              </a:rPr>
              <a:t>Nearly ¼ of the negative reviews of Infinite mentioned combat elements with pacing following a similar trend</a:t>
            </a:r>
          </a:p>
        </p:txBody>
      </p:sp>
      <p:sp>
        <p:nvSpPr>
          <p:cNvPr id="129" name="Shape 62">
            <a:extLst>
              <a:ext uri="{FF2B5EF4-FFF2-40B4-BE49-F238E27FC236}">
                <a16:creationId xmlns:a16="http://schemas.microsoft.com/office/drawing/2014/main" id="{EDAEDA64-9612-13F5-0A9B-08BFF6476270}"/>
              </a:ext>
            </a:extLst>
          </p:cNvPr>
          <p:cNvSpPr/>
          <p:nvPr/>
        </p:nvSpPr>
        <p:spPr>
          <a:xfrm>
            <a:off x="548640" y="5532120"/>
            <a:ext cx="11064240" cy="804672"/>
          </a:xfrm>
          <a:prstGeom prst="roundRect">
            <a:avLst>
              <a:gd name="adj" fmla="val 6818"/>
            </a:avLst>
          </a:prstGeom>
          <a:solidFill>
            <a:srgbClr val="FFFFFF"/>
          </a:solidFill>
          <a:ln w="12700">
            <a:solidFill>
              <a:srgbClr val="FFFFFF">
                <a:alpha val="0"/>
              </a:srgbClr>
            </a:solidFill>
            <a:prstDash val="solid"/>
          </a:ln>
        </p:spPr>
        <p:txBody>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131" name="Shape 63">
            <a:extLst>
              <a:ext uri="{FF2B5EF4-FFF2-40B4-BE49-F238E27FC236}">
                <a16:creationId xmlns:a16="http://schemas.microsoft.com/office/drawing/2014/main" id="{DA39A043-6C67-35ED-E0D6-0AF99BC46D9D}"/>
              </a:ext>
            </a:extLst>
          </p:cNvPr>
          <p:cNvSpPr/>
          <p:nvPr/>
        </p:nvSpPr>
        <p:spPr>
          <a:xfrm>
            <a:off x="548640" y="5532120"/>
            <a:ext cx="73152" cy="804672"/>
          </a:xfrm>
          <a:prstGeom prst="rect">
            <a:avLst/>
          </a:prstGeom>
          <a:solidFill>
            <a:srgbClr val="C44536"/>
          </a:solidFill>
          <a:ln w="12700">
            <a:solidFill>
              <a:srgbClr val="C44536">
                <a:alpha val="0"/>
              </a:srgbClr>
            </a:solidFill>
            <a:prstDash val="solid"/>
          </a:ln>
        </p:spPr>
        <p:txBody>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133" name="Text 64">
            <a:extLst>
              <a:ext uri="{FF2B5EF4-FFF2-40B4-BE49-F238E27FC236}">
                <a16:creationId xmlns:a16="http://schemas.microsoft.com/office/drawing/2014/main" id="{5D9E7DF0-C710-1DED-515B-C0A0EAE90962}"/>
              </a:ext>
            </a:extLst>
          </p:cNvPr>
          <p:cNvSpPr/>
          <p:nvPr/>
        </p:nvSpPr>
        <p:spPr>
          <a:xfrm>
            <a:off x="804672" y="5715000"/>
            <a:ext cx="1417320" cy="201168"/>
          </a:xfrm>
          <a:prstGeom prst="rect">
            <a:avLst/>
          </a:prstGeom>
          <a:noFill/>
          <a:ln/>
        </p:spPr>
        <p:txBody>
          <a:bodyPr wrap="square" lIns="0" tIns="0" rIns="0" bIns="0" rtlCol="0" anchor="t">
            <a:normAutofit/>
          </a:bodyPr>
          <a:lstStyle/>
          <a:p>
            <a:pPr marL="0" indent="0" algn="l">
              <a:buNone/>
            </a:pPr>
            <a:r>
              <a:rPr lang="en-US" sz="850" b="1" dirty="0">
                <a:solidFill>
                  <a:srgbClr val="C44536"/>
                </a:solidFill>
                <a:latin typeface="Calibri" panose="020F0502020204030204" pitchFamily="34" charset="0"/>
                <a:ea typeface="Calibri" panose="020F0502020204030204" pitchFamily="34" charset="0"/>
                <a:cs typeface="Calibri" panose="020F0502020204030204" pitchFamily="34" charset="0"/>
              </a:rPr>
              <a:t>RECOMMENDATION</a:t>
            </a:r>
            <a:endParaRPr lang="en-US" sz="850" dirty="0">
              <a:latin typeface="Calibri" panose="020F0502020204030204" pitchFamily="34" charset="0"/>
              <a:ea typeface="Calibri" panose="020F0502020204030204" pitchFamily="34" charset="0"/>
              <a:cs typeface="Calibri" panose="020F0502020204030204" pitchFamily="34" charset="0"/>
            </a:endParaRPr>
          </a:p>
        </p:txBody>
      </p:sp>
      <p:sp>
        <p:nvSpPr>
          <p:cNvPr id="135" name="Text 65">
            <a:extLst>
              <a:ext uri="{FF2B5EF4-FFF2-40B4-BE49-F238E27FC236}">
                <a16:creationId xmlns:a16="http://schemas.microsoft.com/office/drawing/2014/main" id="{5F6D06AB-86C3-3E8C-28A7-7DFF3D36ABCF}"/>
              </a:ext>
            </a:extLst>
          </p:cNvPr>
          <p:cNvSpPr/>
          <p:nvPr/>
        </p:nvSpPr>
        <p:spPr>
          <a:xfrm>
            <a:off x="2194560" y="5700966"/>
            <a:ext cx="8732520" cy="475488"/>
          </a:xfrm>
          <a:prstGeom prst="rect">
            <a:avLst/>
          </a:prstGeom>
          <a:noFill/>
          <a:ln/>
        </p:spPr>
        <p:txBody>
          <a:bodyPr wrap="square" lIns="0" tIns="0" rIns="0" bIns="0" rtlCol="0" anchor="ctr">
            <a:normAutofit fontScale="70000" lnSpcReduction="20000"/>
          </a:bodyPr>
          <a:lstStyle/>
          <a:p>
            <a:r>
              <a:rPr lang="en-US" sz="2000" b="1" dirty="0">
                <a:solidFill>
                  <a:srgbClr val="111111"/>
                </a:solidFill>
                <a:latin typeface="Calibri" panose="020F0502020204030204" pitchFamily="34" charset="0"/>
                <a:ea typeface="Calibri" panose="020F0502020204030204" pitchFamily="34" charset="0"/>
                <a:cs typeface="Calibri" panose="020F0502020204030204" pitchFamily="34" charset="0"/>
              </a:rPr>
              <a:t>The next BioShock should protect its narrative driven identity while not losing sight of what differentiates it from other titles, an engaging combat system. Additionally, delivering a polished product will be key for launch success.</a:t>
            </a:r>
            <a:endParaRPr lang="en-US" sz="2000" b="1" dirty="0">
              <a:latin typeface="Calibri" panose="020F0502020204030204" pitchFamily="34" charset="0"/>
              <a:ea typeface="Calibri" panose="020F0502020204030204" pitchFamily="34" charset="0"/>
              <a:cs typeface="Calibri" panose="020F0502020204030204" pitchFamily="34" charset="0"/>
            </a:endParaRPr>
          </a:p>
        </p:txBody>
      </p:sp>
      <p:sp>
        <p:nvSpPr>
          <p:cNvPr id="137" name="Text 66">
            <a:extLst>
              <a:ext uri="{FF2B5EF4-FFF2-40B4-BE49-F238E27FC236}">
                <a16:creationId xmlns:a16="http://schemas.microsoft.com/office/drawing/2014/main" id="{3BE917A7-5D77-3A73-F711-1DB03D5D6240}"/>
              </a:ext>
            </a:extLst>
          </p:cNvPr>
          <p:cNvSpPr/>
          <p:nvPr/>
        </p:nvSpPr>
        <p:spPr>
          <a:xfrm>
            <a:off x="548640" y="6510528"/>
            <a:ext cx="8321040" cy="128016"/>
          </a:xfrm>
          <a:prstGeom prst="rect">
            <a:avLst/>
          </a:prstGeom>
          <a:noFill/>
          <a:ln/>
        </p:spPr>
        <p:txBody>
          <a:bodyPr wrap="square" lIns="0" tIns="0" rIns="0" bIns="0" rtlCol="0" anchor="t">
            <a:normAutofit/>
          </a:bodyPr>
          <a:lstStyle/>
          <a:p>
            <a:pPr marL="0" indent="0" algn="l">
              <a:buNone/>
            </a:pPr>
            <a:r>
              <a:rPr lang="en-US" sz="820" dirty="0">
                <a:solidFill>
                  <a:srgbClr val="929292"/>
                </a:solidFill>
                <a:latin typeface="Calibri" panose="020F0502020204030204" pitchFamily="34" charset="0"/>
                <a:ea typeface="Calibri" panose="020F0502020204030204" pitchFamily="34" charset="0"/>
                <a:cs typeface="Calibri" panose="020F0502020204030204" pitchFamily="34" charset="0"/>
              </a:rPr>
              <a:t>Base: 85,395 English Steam reviews. Themes detected by keyword dictionaries written before analysis and validated against hand coded sample. See scope and definitions. Method on slide 3.</a:t>
            </a:r>
            <a:endParaRPr lang="en-US" sz="82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443682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gs>
            <a:gs pos="50000">
              <a:schemeClr val="bg1">
                <a:tint val="98000"/>
                <a:satMod val="130000"/>
                <a:shade val="90000"/>
                <a:lumMod val="103000"/>
              </a:schemeClr>
            </a:gs>
            <a:gs pos="100000">
              <a:schemeClr val="bg1">
                <a:shade val="63000"/>
                <a:satMod val="120000"/>
              </a:schemeClr>
            </a:gs>
          </a:gsLst>
          <a:lin ang="5400000" scaled="0"/>
        </a:gra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8F74520-BDEB-ED43-F025-4FEC8383478E}"/>
              </a:ext>
            </a:extLst>
          </p:cNvPr>
          <p:cNvSpPr>
            <a:spLocks noGrp="1"/>
          </p:cNvSpPr>
          <p:nvPr>
            <p:ph type="title"/>
          </p:nvPr>
        </p:nvSpPr>
        <p:spPr>
          <a:xfrm>
            <a:off x="548640" y="365760"/>
            <a:ext cx="10972800" cy="1097280"/>
          </a:xfrm>
        </p:spPr>
        <p:txBody>
          <a:bodyPr>
            <a:normAutofit/>
          </a:bodyPr>
          <a:lstStyle/>
          <a:p>
            <a:r>
              <a:rPr lang="en-US" b="1" dirty="0"/>
              <a:t>State of the next BioShock</a:t>
            </a:r>
            <a:endParaRPr b="1" dirty="0"/>
          </a:p>
        </p:txBody>
      </p:sp>
      <p:sp>
        <p:nvSpPr>
          <p:cNvPr id="7" name="Text Placeholder 2">
            <a:extLst>
              <a:ext uri="{FF2B5EF4-FFF2-40B4-BE49-F238E27FC236}">
                <a16:creationId xmlns:a16="http://schemas.microsoft.com/office/drawing/2014/main" id="{0576DC32-C5D3-B27C-4713-74EFA20F4210}"/>
              </a:ext>
            </a:extLst>
          </p:cNvPr>
          <p:cNvSpPr>
            <a:spLocks noGrp="1"/>
          </p:cNvSpPr>
          <p:nvPr>
            <p:ph type="body" sz="quarter" idx="13"/>
          </p:nvPr>
        </p:nvSpPr>
        <p:spPr>
          <a:xfrm>
            <a:off x="457200" y="6248841"/>
            <a:ext cx="10972800" cy="554940"/>
          </a:xfrm>
        </p:spPr>
        <p:txBody>
          <a:bodyPr>
            <a:normAutofit/>
          </a:bodyPr>
          <a:lstStyle/>
          <a:p>
            <a:r>
              <a:rPr lang="en-US" dirty="0"/>
              <a:t>Sources: Take-Two investor materials (Q3 FY2020, Q2 FY2026, Q1 FY2027) and Game File, May 2026. Full citations in appendix.</a:t>
            </a:r>
          </a:p>
          <a:p>
            <a:endParaRPr lang="en-US" dirty="0"/>
          </a:p>
          <a:p>
            <a:endParaRPr lang="en-US" dirty="0"/>
          </a:p>
          <a:p>
            <a:endParaRPr lang="en-US" dirty="0"/>
          </a:p>
          <a:p>
            <a:endParaRPr dirty="0"/>
          </a:p>
        </p:txBody>
      </p:sp>
      <p:sp>
        <p:nvSpPr>
          <p:cNvPr id="8" name="TextBox 7">
            <a:extLst>
              <a:ext uri="{FF2B5EF4-FFF2-40B4-BE49-F238E27FC236}">
                <a16:creationId xmlns:a16="http://schemas.microsoft.com/office/drawing/2014/main" id="{02F55832-A07F-4DF1-DBD3-510BFB9F7812}"/>
              </a:ext>
            </a:extLst>
          </p:cNvPr>
          <p:cNvSpPr txBox="1"/>
          <p:nvPr/>
        </p:nvSpPr>
        <p:spPr>
          <a:xfrm>
            <a:off x="548640" y="1783080"/>
            <a:ext cx="5120640" cy="274320"/>
          </a:xfrm>
          <a:prstGeom prst="rect">
            <a:avLst/>
          </a:prstGeom>
          <a:noFill/>
        </p:spPr>
        <p:txBody>
          <a:bodyPr wrap="square" lIns="0" tIns="0" rIns="0" bIns="0">
            <a:spAutoFit/>
          </a:bodyPr>
          <a:lstStyle/>
          <a:p>
            <a:pPr>
              <a:lnSpc>
                <a:spcPct val="115000"/>
              </a:lnSpc>
            </a:pPr>
            <a:r>
              <a:rPr sz="1100" b="1">
                <a:solidFill>
                  <a:srgbClr val="8C8C8C"/>
                </a:solidFill>
                <a:latin typeface="Calibri"/>
              </a:rPr>
              <a:t>WHAT IS KNOWN</a:t>
            </a:r>
          </a:p>
        </p:txBody>
      </p:sp>
      <p:sp>
        <p:nvSpPr>
          <p:cNvPr id="9" name="Rectangle 8">
            <a:extLst>
              <a:ext uri="{FF2B5EF4-FFF2-40B4-BE49-F238E27FC236}">
                <a16:creationId xmlns:a16="http://schemas.microsoft.com/office/drawing/2014/main" id="{EF9A9C6F-BC1D-B076-8271-E053F444CA82}"/>
              </a:ext>
            </a:extLst>
          </p:cNvPr>
          <p:cNvSpPr/>
          <p:nvPr/>
        </p:nvSpPr>
        <p:spPr>
          <a:xfrm>
            <a:off x="548640" y="2103120"/>
            <a:ext cx="5120640" cy="10972"/>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60FDD987-DFA2-2439-ED45-83CFC55ECA83}"/>
              </a:ext>
            </a:extLst>
          </p:cNvPr>
          <p:cNvSpPr txBox="1"/>
          <p:nvPr/>
        </p:nvSpPr>
        <p:spPr>
          <a:xfrm>
            <a:off x="548640" y="2286000"/>
            <a:ext cx="320040" cy="365760"/>
          </a:xfrm>
          <a:prstGeom prst="rect">
            <a:avLst/>
          </a:prstGeom>
          <a:noFill/>
        </p:spPr>
        <p:txBody>
          <a:bodyPr wrap="square" lIns="0" tIns="0" rIns="0" bIns="0">
            <a:spAutoFit/>
          </a:bodyPr>
          <a:lstStyle/>
          <a:p>
            <a:pPr>
              <a:lnSpc>
                <a:spcPct val="115000"/>
              </a:lnSpc>
            </a:pPr>
            <a:r>
              <a:rPr sz="1600" b="1">
                <a:solidFill>
                  <a:srgbClr val="8C8C8C"/>
                </a:solidFill>
                <a:latin typeface="Calibri"/>
              </a:rPr>
              <a:t>1</a:t>
            </a:r>
          </a:p>
        </p:txBody>
      </p:sp>
      <p:sp>
        <p:nvSpPr>
          <p:cNvPr id="11" name="TextBox 10">
            <a:extLst>
              <a:ext uri="{FF2B5EF4-FFF2-40B4-BE49-F238E27FC236}">
                <a16:creationId xmlns:a16="http://schemas.microsoft.com/office/drawing/2014/main" id="{ADFB6D6E-6D7D-6581-B077-9BCC1C21999E}"/>
              </a:ext>
            </a:extLst>
          </p:cNvPr>
          <p:cNvSpPr txBox="1"/>
          <p:nvPr/>
        </p:nvSpPr>
        <p:spPr>
          <a:xfrm>
            <a:off x="1051560" y="2286000"/>
            <a:ext cx="4617720" cy="728726"/>
          </a:xfrm>
          <a:prstGeom prst="rect">
            <a:avLst/>
          </a:prstGeom>
          <a:noFill/>
        </p:spPr>
        <p:txBody>
          <a:bodyPr wrap="square" lIns="0" tIns="0" rIns="0" bIns="0">
            <a:spAutoFit/>
          </a:bodyPr>
          <a:lstStyle/>
          <a:p>
            <a:pPr>
              <a:lnSpc>
                <a:spcPct val="115000"/>
              </a:lnSpc>
            </a:pPr>
            <a:r>
              <a:rPr lang="en-US" sz="1400" dirty="0">
                <a:solidFill>
                  <a:srgbClr val="1F3A3D"/>
                </a:solidFill>
                <a:latin typeface="Calibri"/>
              </a:rPr>
              <a:t>2K announced Cloud Chamber in 2019, the studio that will develop the next BioShock. Q3 FY2020 materials noted that the next installment would be in development for several years</a:t>
            </a:r>
            <a:endParaRPr sz="1400" b="0" dirty="0">
              <a:solidFill>
                <a:srgbClr val="1F3A3D"/>
              </a:solidFill>
              <a:latin typeface="Calibri"/>
            </a:endParaRPr>
          </a:p>
        </p:txBody>
      </p:sp>
      <p:sp>
        <p:nvSpPr>
          <p:cNvPr id="12" name="TextBox 11">
            <a:extLst>
              <a:ext uri="{FF2B5EF4-FFF2-40B4-BE49-F238E27FC236}">
                <a16:creationId xmlns:a16="http://schemas.microsoft.com/office/drawing/2014/main" id="{2D10BBB8-E241-A3F0-5EEE-E98C1C71275D}"/>
              </a:ext>
            </a:extLst>
          </p:cNvPr>
          <p:cNvSpPr txBox="1"/>
          <p:nvPr/>
        </p:nvSpPr>
        <p:spPr>
          <a:xfrm>
            <a:off x="548640" y="3246120"/>
            <a:ext cx="320040" cy="365760"/>
          </a:xfrm>
          <a:prstGeom prst="rect">
            <a:avLst/>
          </a:prstGeom>
          <a:noFill/>
        </p:spPr>
        <p:txBody>
          <a:bodyPr wrap="square" lIns="0" tIns="0" rIns="0" bIns="0">
            <a:spAutoFit/>
          </a:bodyPr>
          <a:lstStyle/>
          <a:p>
            <a:pPr>
              <a:lnSpc>
                <a:spcPct val="115000"/>
              </a:lnSpc>
            </a:pPr>
            <a:r>
              <a:rPr sz="1600" b="1">
                <a:solidFill>
                  <a:srgbClr val="8C8C8C"/>
                </a:solidFill>
                <a:latin typeface="Calibri"/>
              </a:rPr>
              <a:t>2</a:t>
            </a:r>
          </a:p>
        </p:txBody>
      </p:sp>
      <p:sp>
        <p:nvSpPr>
          <p:cNvPr id="13" name="TextBox 12">
            <a:extLst>
              <a:ext uri="{FF2B5EF4-FFF2-40B4-BE49-F238E27FC236}">
                <a16:creationId xmlns:a16="http://schemas.microsoft.com/office/drawing/2014/main" id="{A403836E-8FDD-38FB-0EA8-03DE436F439A}"/>
              </a:ext>
            </a:extLst>
          </p:cNvPr>
          <p:cNvSpPr txBox="1"/>
          <p:nvPr/>
        </p:nvSpPr>
        <p:spPr>
          <a:xfrm>
            <a:off x="1051560" y="3246120"/>
            <a:ext cx="4617720" cy="1224246"/>
          </a:xfrm>
          <a:prstGeom prst="rect">
            <a:avLst/>
          </a:prstGeom>
          <a:noFill/>
        </p:spPr>
        <p:txBody>
          <a:bodyPr wrap="square" lIns="0" tIns="0" rIns="0" bIns="0">
            <a:spAutoFit/>
          </a:bodyPr>
          <a:lstStyle/>
          <a:p>
            <a:pPr>
              <a:lnSpc>
                <a:spcPct val="115000"/>
              </a:lnSpc>
            </a:pPr>
            <a:r>
              <a:rPr lang="en-US" sz="1400" b="0" dirty="0">
                <a:solidFill>
                  <a:srgbClr val="1F3A3D"/>
                </a:solidFill>
                <a:latin typeface="Calibri"/>
              </a:rPr>
              <a:t>Leadership change and reset. Take-Two Q2 FY2026 earnings call confirmed Rod Fergusson as head of BioShock franchise and now leading Cloud Chamber. </a:t>
            </a:r>
            <a:r>
              <a:rPr lang="en-US" sz="1400" b="0" dirty="0" err="1">
                <a:solidFill>
                  <a:srgbClr val="1F3A3D"/>
                </a:solidFill>
                <a:latin typeface="Calibri"/>
              </a:rPr>
              <a:t>Slatoff</a:t>
            </a:r>
            <a:r>
              <a:rPr lang="en-US" sz="1400" b="0" dirty="0">
                <a:solidFill>
                  <a:srgbClr val="1F3A3D"/>
                </a:solidFill>
                <a:latin typeface="Calibri"/>
              </a:rPr>
              <a:t> (2K President) on record stating that “the next BioShock is going to take the franchise to the next level”.</a:t>
            </a:r>
            <a:endParaRPr sz="1400" b="0" dirty="0">
              <a:solidFill>
                <a:srgbClr val="1F3A3D"/>
              </a:solidFill>
              <a:latin typeface="Calibri"/>
            </a:endParaRPr>
          </a:p>
        </p:txBody>
      </p:sp>
      <p:sp>
        <p:nvSpPr>
          <p:cNvPr id="14" name="TextBox 13">
            <a:extLst>
              <a:ext uri="{FF2B5EF4-FFF2-40B4-BE49-F238E27FC236}">
                <a16:creationId xmlns:a16="http://schemas.microsoft.com/office/drawing/2014/main" id="{E2A7CEF4-5193-A1C8-E730-7D1A7309DE9B}"/>
              </a:ext>
            </a:extLst>
          </p:cNvPr>
          <p:cNvSpPr txBox="1"/>
          <p:nvPr/>
        </p:nvSpPr>
        <p:spPr>
          <a:xfrm>
            <a:off x="548640" y="4572000"/>
            <a:ext cx="320040" cy="365760"/>
          </a:xfrm>
          <a:prstGeom prst="rect">
            <a:avLst/>
          </a:prstGeom>
          <a:noFill/>
        </p:spPr>
        <p:txBody>
          <a:bodyPr wrap="square" lIns="0" tIns="0" rIns="0" bIns="0">
            <a:spAutoFit/>
          </a:bodyPr>
          <a:lstStyle/>
          <a:p>
            <a:pPr>
              <a:lnSpc>
                <a:spcPct val="115000"/>
              </a:lnSpc>
            </a:pPr>
            <a:r>
              <a:rPr sz="1600" b="1" dirty="0">
                <a:solidFill>
                  <a:srgbClr val="8C8C8C"/>
                </a:solidFill>
                <a:latin typeface="Calibri"/>
              </a:rPr>
              <a:t>3</a:t>
            </a:r>
          </a:p>
        </p:txBody>
      </p:sp>
      <p:sp>
        <p:nvSpPr>
          <p:cNvPr id="15" name="TextBox 14">
            <a:extLst>
              <a:ext uri="{FF2B5EF4-FFF2-40B4-BE49-F238E27FC236}">
                <a16:creationId xmlns:a16="http://schemas.microsoft.com/office/drawing/2014/main" id="{DB1DE161-AC6A-2981-C5A1-4830A5274B80}"/>
              </a:ext>
            </a:extLst>
          </p:cNvPr>
          <p:cNvSpPr txBox="1"/>
          <p:nvPr/>
        </p:nvSpPr>
        <p:spPr>
          <a:xfrm>
            <a:off x="1051560" y="4572000"/>
            <a:ext cx="4617720" cy="976486"/>
          </a:xfrm>
          <a:prstGeom prst="rect">
            <a:avLst/>
          </a:prstGeom>
          <a:noFill/>
        </p:spPr>
        <p:txBody>
          <a:bodyPr wrap="square" lIns="0" tIns="0" rIns="0" bIns="0">
            <a:spAutoFit/>
          </a:bodyPr>
          <a:lstStyle/>
          <a:p>
            <a:pPr>
              <a:lnSpc>
                <a:spcPct val="115000"/>
              </a:lnSpc>
            </a:pPr>
            <a:r>
              <a:rPr lang="en-US" sz="1400" b="0" dirty="0">
                <a:solidFill>
                  <a:srgbClr val="1F3A3D"/>
                </a:solidFill>
                <a:latin typeface="Calibri"/>
              </a:rPr>
              <a:t>CEO commented on the difficulty of development. Zelnick expresses his disappointment with the wait, explaining that resources were committed to creative directions that led nowhere.</a:t>
            </a:r>
            <a:endParaRPr sz="1400" b="0" dirty="0">
              <a:solidFill>
                <a:srgbClr val="1F3A3D"/>
              </a:solidFill>
              <a:latin typeface="Calibri"/>
            </a:endParaRPr>
          </a:p>
        </p:txBody>
      </p:sp>
      <p:sp>
        <p:nvSpPr>
          <p:cNvPr id="16" name="TextBox 15">
            <a:extLst>
              <a:ext uri="{FF2B5EF4-FFF2-40B4-BE49-F238E27FC236}">
                <a16:creationId xmlns:a16="http://schemas.microsoft.com/office/drawing/2014/main" id="{4A909A1C-A12C-5983-39B4-56F35765F4C7}"/>
              </a:ext>
            </a:extLst>
          </p:cNvPr>
          <p:cNvSpPr txBox="1"/>
          <p:nvPr/>
        </p:nvSpPr>
        <p:spPr>
          <a:xfrm>
            <a:off x="6492240" y="1783080"/>
            <a:ext cx="5120640" cy="183255"/>
          </a:xfrm>
          <a:prstGeom prst="rect">
            <a:avLst/>
          </a:prstGeom>
          <a:noFill/>
        </p:spPr>
        <p:txBody>
          <a:bodyPr wrap="square" lIns="0" tIns="0" rIns="0" bIns="0">
            <a:spAutoFit/>
          </a:bodyPr>
          <a:lstStyle/>
          <a:p>
            <a:pPr>
              <a:lnSpc>
                <a:spcPct val="115000"/>
              </a:lnSpc>
            </a:pPr>
            <a:r>
              <a:rPr lang="en-US" sz="1100" b="1" dirty="0">
                <a:solidFill>
                  <a:srgbClr val="C44536"/>
                </a:solidFill>
                <a:latin typeface="Calibri"/>
              </a:rPr>
              <a:t>QUESTIONS THAT IMPACT DEVELOPMENT</a:t>
            </a:r>
            <a:endParaRPr sz="1100" b="1" dirty="0">
              <a:solidFill>
                <a:srgbClr val="C44536"/>
              </a:solidFill>
              <a:latin typeface="Calibri"/>
            </a:endParaRPr>
          </a:p>
        </p:txBody>
      </p:sp>
      <p:sp>
        <p:nvSpPr>
          <p:cNvPr id="17" name="Rectangle 16">
            <a:extLst>
              <a:ext uri="{FF2B5EF4-FFF2-40B4-BE49-F238E27FC236}">
                <a16:creationId xmlns:a16="http://schemas.microsoft.com/office/drawing/2014/main" id="{6579B10C-4ACE-86BF-9CFF-8811CB6A5253}"/>
              </a:ext>
            </a:extLst>
          </p:cNvPr>
          <p:cNvSpPr/>
          <p:nvPr/>
        </p:nvSpPr>
        <p:spPr>
          <a:xfrm>
            <a:off x="6492240" y="2103120"/>
            <a:ext cx="5120640" cy="10972"/>
          </a:xfrm>
          <a:prstGeom prst="rect">
            <a:avLst/>
          </a:prstGeom>
          <a:solidFill>
            <a:srgbClr val="C445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a:extLst>
              <a:ext uri="{FF2B5EF4-FFF2-40B4-BE49-F238E27FC236}">
                <a16:creationId xmlns:a16="http://schemas.microsoft.com/office/drawing/2014/main" id="{2EFB702C-48FC-A5D2-78F3-BE16BC3B50FD}"/>
              </a:ext>
            </a:extLst>
          </p:cNvPr>
          <p:cNvSpPr txBox="1"/>
          <p:nvPr/>
        </p:nvSpPr>
        <p:spPr>
          <a:xfrm>
            <a:off x="6492240" y="2286000"/>
            <a:ext cx="320040" cy="365760"/>
          </a:xfrm>
          <a:prstGeom prst="rect">
            <a:avLst/>
          </a:prstGeom>
          <a:noFill/>
        </p:spPr>
        <p:txBody>
          <a:bodyPr wrap="square" lIns="0" tIns="0" rIns="0" bIns="0">
            <a:spAutoFit/>
          </a:bodyPr>
          <a:lstStyle/>
          <a:p>
            <a:pPr>
              <a:lnSpc>
                <a:spcPct val="115000"/>
              </a:lnSpc>
            </a:pPr>
            <a:r>
              <a:rPr sz="1600" b="1">
                <a:solidFill>
                  <a:srgbClr val="8C8C8C"/>
                </a:solidFill>
                <a:latin typeface="Calibri"/>
              </a:rPr>
              <a:t>1</a:t>
            </a:r>
          </a:p>
        </p:txBody>
      </p:sp>
      <p:sp>
        <p:nvSpPr>
          <p:cNvPr id="19" name="TextBox 18">
            <a:extLst>
              <a:ext uri="{FF2B5EF4-FFF2-40B4-BE49-F238E27FC236}">
                <a16:creationId xmlns:a16="http://schemas.microsoft.com/office/drawing/2014/main" id="{224A4CFB-1E63-178D-CD0F-EAB3735C6669}"/>
              </a:ext>
            </a:extLst>
          </p:cNvPr>
          <p:cNvSpPr txBox="1"/>
          <p:nvPr/>
        </p:nvSpPr>
        <p:spPr>
          <a:xfrm>
            <a:off x="6995160" y="2286000"/>
            <a:ext cx="4617720" cy="480966"/>
          </a:xfrm>
          <a:prstGeom prst="rect">
            <a:avLst/>
          </a:prstGeom>
          <a:noFill/>
        </p:spPr>
        <p:txBody>
          <a:bodyPr wrap="square" lIns="0" tIns="0" rIns="0" bIns="0">
            <a:spAutoFit/>
          </a:bodyPr>
          <a:lstStyle/>
          <a:p>
            <a:pPr>
              <a:lnSpc>
                <a:spcPct val="115000"/>
              </a:lnSpc>
            </a:pPr>
            <a:r>
              <a:rPr lang="en-US" sz="1400" b="0" dirty="0">
                <a:solidFill>
                  <a:srgbClr val="1F3A3D"/>
                </a:solidFill>
                <a:latin typeface="Calibri"/>
              </a:rPr>
              <a:t>What elements of past BioShock titles should 2K protect/retain? </a:t>
            </a:r>
            <a:endParaRPr sz="1400" b="0" dirty="0">
              <a:solidFill>
                <a:srgbClr val="1F3A3D"/>
              </a:solidFill>
              <a:latin typeface="Calibri"/>
            </a:endParaRPr>
          </a:p>
        </p:txBody>
      </p:sp>
      <p:sp>
        <p:nvSpPr>
          <p:cNvPr id="20" name="TextBox 19">
            <a:extLst>
              <a:ext uri="{FF2B5EF4-FFF2-40B4-BE49-F238E27FC236}">
                <a16:creationId xmlns:a16="http://schemas.microsoft.com/office/drawing/2014/main" id="{4D46C40C-13AF-7481-1FA9-3E0ADE75E984}"/>
              </a:ext>
            </a:extLst>
          </p:cNvPr>
          <p:cNvSpPr txBox="1"/>
          <p:nvPr/>
        </p:nvSpPr>
        <p:spPr>
          <a:xfrm>
            <a:off x="6492240" y="3246120"/>
            <a:ext cx="320040" cy="365760"/>
          </a:xfrm>
          <a:prstGeom prst="rect">
            <a:avLst/>
          </a:prstGeom>
          <a:noFill/>
        </p:spPr>
        <p:txBody>
          <a:bodyPr wrap="square" lIns="0" tIns="0" rIns="0" bIns="0">
            <a:spAutoFit/>
          </a:bodyPr>
          <a:lstStyle/>
          <a:p>
            <a:pPr>
              <a:lnSpc>
                <a:spcPct val="115000"/>
              </a:lnSpc>
            </a:pPr>
            <a:r>
              <a:rPr sz="1600" b="1">
                <a:solidFill>
                  <a:srgbClr val="8C8C8C"/>
                </a:solidFill>
                <a:latin typeface="Calibri"/>
              </a:rPr>
              <a:t>2</a:t>
            </a:r>
          </a:p>
        </p:txBody>
      </p:sp>
      <p:sp>
        <p:nvSpPr>
          <p:cNvPr id="21" name="TextBox 20">
            <a:extLst>
              <a:ext uri="{FF2B5EF4-FFF2-40B4-BE49-F238E27FC236}">
                <a16:creationId xmlns:a16="http://schemas.microsoft.com/office/drawing/2014/main" id="{48722442-4C27-4808-AADB-3C24D40BEDE4}"/>
              </a:ext>
            </a:extLst>
          </p:cNvPr>
          <p:cNvSpPr txBox="1"/>
          <p:nvPr/>
        </p:nvSpPr>
        <p:spPr>
          <a:xfrm>
            <a:off x="6995160" y="3246120"/>
            <a:ext cx="4617720" cy="233205"/>
          </a:xfrm>
          <a:prstGeom prst="rect">
            <a:avLst/>
          </a:prstGeom>
          <a:noFill/>
        </p:spPr>
        <p:txBody>
          <a:bodyPr wrap="square" lIns="0" tIns="0" rIns="0" bIns="0">
            <a:spAutoFit/>
          </a:bodyPr>
          <a:lstStyle/>
          <a:p>
            <a:pPr>
              <a:lnSpc>
                <a:spcPct val="115000"/>
              </a:lnSpc>
            </a:pPr>
            <a:r>
              <a:rPr lang="en-US" sz="1400" b="0" dirty="0">
                <a:solidFill>
                  <a:srgbClr val="1F3A3D"/>
                </a:solidFill>
                <a:latin typeface="Calibri"/>
              </a:rPr>
              <a:t>Where </a:t>
            </a:r>
            <a:r>
              <a:rPr lang="en-US" sz="1400" dirty="0">
                <a:solidFill>
                  <a:srgbClr val="1F3A3D"/>
                </a:solidFill>
                <a:latin typeface="Calibri"/>
              </a:rPr>
              <a:t>was </a:t>
            </a:r>
            <a:r>
              <a:rPr lang="en-US" sz="1400" b="0" dirty="0">
                <a:solidFill>
                  <a:srgbClr val="1F3A3D"/>
                </a:solidFill>
                <a:latin typeface="Calibri"/>
              </a:rPr>
              <a:t>negative reception of the franchise directed?</a:t>
            </a:r>
            <a:endParaRPr sz="1400" b="0" dirty="0">
              <a:solidFill>
                <a:srgbClr val="1F3A3D"/>
              </a:solidFill>
              <a:latin typeface="Calibri"/>
            </a:endParaRPr>
          </a:p>
        </p:txBody>
      </p:sp>
      <p:sp>
        <p:nvSpPr>
          <p:cNvPr id="22" name="TextBox 21">
            <a:extLst>
              <a:ext uri="{FF2B5EF4-FFF2-40B4-BE49-F238E27FC236}">
                <a16:creationId xmlns:a16="http://schemas.microsoft.com/office/drawing/2014/main" id="{F98A2E5E-CF21-65DE-9A47-DF5E6DDB81BC}"/>
              </a:ext>
            </a:extLst>
          </p:cNvPr>
          <p:cNvSpPr txBox="1"/>
          <p:nvPr/>
        </p:nvSpPr>
        <p:spPr>
          <a:xfrm>
            <a:off x="6492240" y="4206240"/>
            <a:ext cx="320040" cy="365760"/>
          </a:xfrm>
          <a:prstGeom prst="rect">
            <a:avLst/>
          </a:prstGeom>
          <a:noFill/>
        </p:spPr>
        <p:txBody>
          <a:bodyPr wrap="square" lIns="0" tIns="0" rIns="0" bIns="0">
            <a:spAutoFit/>
          </a:bodyPr>
          <a:lstStyle/>
          <a:p>
            <a:pPr>
              <a:lnSpc>
                <a:spcPct val="115000"/>
              </a:lnSpc>
            </a:pPr>
            <a:r>
              <a:rPr sz="1600" b="1">
                <a:solidFill>
                  <a:srgbClr val="8C8C8C"/>
                </a:solidFill>
                <a:latin typeface="Calibri"/>
              </a:rPr>
              <a:t>3</a:t>
            </a:r>
          </a:p>
        </p:txBody>
      </p:sp>
      <p:sp>
        <p:nvSpPr>
          <p:cNvPr id="23" name="TextBox 22">
            <a:extLst>
              <a:ext uri="{FF2B5EF4-FFF2-40B4-BE49-F238E27FC236}">
                <a16:creationId xmlns:a16="http://schemas.microsoft.com/office/drawing/2014/main" id="{9BD27D18-5CBB-E2BC-3DF8-067E4FD42938}"/>
              </a:ext>
            </a:extLst>
          </p:cNvPr>
          <p:cNvSpPr txBox="1"/>
          <p:nvPr/>
        </p:nvSpPr>
        <p:spPr>
          <a:xfrm>
            <a:off x="6995160" y="4206240"/>
            <a:ext cx="4617720" cy="480966"/>
          </a:xfrm>
          <a:prstGeom prst="rect">
            <a:avLst/>
          </a:prstGeom>
          <a:noFill/>
        </p:spPr>
        <p:txBody>
          <a:bodyPr wrap="square" lIns="0" tIns="0" rIns="0" bIns="0">
            <a:spAutoFit/>
          </a:bodyPr>
          <a:lstStyle/>
          <a:p>
            <a:pPr>
              <a:lnSpc>
                <a:spcPct val="115000"/>
              </a:lnSpc>
            </a:pPr>
            <a:r>
              <a:rPr lang="en-US" sz="1400" b="0" dirty="0">
                <a:solidFill>
                  <a:srgbClr val="1F3A3D"/>
                </a:solidFill>
                <a:latin typeface="Calibri"/>
              </a:rPr>
              <a:t>Has the 13-year dormancy changed perception or interest in the franchise?</a:t>
            </a:r>
            <a:endParaRPr sz="1400" b="0" dirty="0">
              <a:solidFill>
                <a:srgbClr val="1F3A3D"/>
              </a:solidFill>
              <a:latin typeface="Calibri"/>
            </a:endParaRPr>
          </a:p>
        </p:txBody>
      </p:sp>
      <p:sp>
        <p:nvSpPr>
          <p:cNvPr id="24" name="Rectangle 23">
            <a:extLst>
              <a:ext uri="{FF2B5EF4-FFF2-40B4-BE49-F238E27FC236}">
                <a16:creationId xmlns:a16="http://schemas.microsoft.com/office/drawing/2014/main" id="{6B018D42-2348-40C0-C8EA-9FA7140A8A42}"/>
              </a:ext>
            </a:extLst>
          </p:cNvPr>
          <p:cNvSpPr/>
          <p:nvPr/>
        </p:nvSpPr>
        <p:spPr>
          <a:xfrm>
            <a:off x="548640" y="5257800"/>
            <a:ext cx="11064240" cy="10972"/>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4196989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gs>
            <a:gs pos="50000">
              <a:schemeClr val="bg1">
                <a:tint val="98000"/>
                <a:satMod val="130000"/>
                <a:shade val="90000"/>
                <a:lumMod val="103000"/>
              </a:schemeClr>
            </a:gs>
            <a:gs pos="100000">
              <a:schemeClr val="bg1">
                <a:shade val="63000"/>
                <a:satMod val="120000"/>
              </a:schemeClr>
            </a:gs>
          </a:gsLst>
          <a:lin ang="54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4B54C-027D-5A21-0577-34635A39CDF8}"/>
              </a:ext>
            </a:extLst>
          </p:cNvPr>
          <p:cNvSpPr txBox="1">
            <a:spLocks/>
          </p:cNvSpPr>
          <p:nvPr/>
        </p:nvSpPr>
        <p:spPr>
          <a:xfrm>
            <a:off x="411480" y="1058829"/>
            <a:ext cx="10972800" cy="10972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a-DK" sz="2800" b="1" dirty="0">
                <a:latin typeface="Calibri" panose="020F0502020204030204" pitchFamily="34" charset="0"/>
                <a:ea typeface="Calibri" panose="020F0502020204030204" pitchFamily="34" charset="0"/>
                <a:cs typeface="Calibri" panose="020F0502020204030204" pitchFamily="34" charset="0"/>
              </a:rPr>
              <a:t>Method and instrument</a:t>
            </a:r>
          </a:p>
        </p:txBody>
      </p:sp>
      <p:sp>
        <p:nvSpPr>
          <p:cNvPr id="4" name="TextBox 3">
            <a:extLst>
              <a:ext uri="{FF2B5EF4-FFF2-40B4-BE49-F238E27FC236}">
                <a16:creationId xmlns:a16="http://schemas.microsoft.com/office/drawing/2014/main" id="{507AEE6E-8E35-2BC2-EBBD-173870E88A19}"/>
              </a:ext>
            </a:extLst>
          </p:cNvPr>
          <p:cNvSpPr txBox="1"/>
          <p:nvPr/>
        </p:nvSpPr>
        <p:spPr>
          <a:xfrm>
            <a:off x="548640" y="2051540"/>
            <a:ext cx="2468880" cy="666336"/>
          </a:xfrm>
          <a:prstGeom prst="rect">
            <a:avLst/>
          </a:prstGeom>
          <a:noFill/>
        </p:spPr>
        <p:txBody>
          <a:bodyPr wrap="square" lIns="0" tIns="0" rIns="0" bIns="0">
            <a:spAutoFit/>
          </a:bodyPr>
          <a:lstStyle/>
          <a:p>
            <a:pPr>
              <a:lnSpc>
                <a:spcPct val="115000"/>
              </a:lnSpc>
            </a:pPr>
            <a:r>
              <a:rPr sz="4000" b="1" dirty="0">
                <a:solidFill>
                  <a:srgbClr val="1F3A3D"/>
                </a:solidFill>
                <a:latin typeface="Calibri" panose="020F0502020204030204" pitchFamily="34" charset="0"/>
                <a:ea typeface="Calibri" panose="020F0502020204030204" pitchFamily="34" charset="0"/>
                <a:cs typeface="Calibri" panose="020F0502020204030204" pitchFamily="34" charset="0"/>
              </a:rPr>
              <a:t>85,395</a:t>
            </a:r>
          </a:p>
        </p:txBody>
      </p:sp>
      <p:sp>
        <p:nvSpPr>
          <p:cNvPr id="5" name="Rectangle 4">
            <a:extLst>
              <a:ext uri="{FF2B5EF4-FFF2-40B4-BE49-F238E27FC236}">
                <a16:creationId xmlns:a16="http://schemas.microsoft.com/office/drawing/2014/main" id="{1EABDDB2-8E03-D60A-CBF7-789AEE9FA2B3}"/>
              </a:ext>
            </a:extLst>
          </p:cNvPr>
          <p:cNvSpPr/>
          <p:nvPr/>
        </p:nvSpPr>
        <p:spPr>
          <a:xfrm>
            <a:off x="548640" y="2874501"/>
            <a:ext cx="2286000" cy="10972"/>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panose="020F0502020204030204" pitchFamily="34"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1DCC2A60-E24E-B741-73C1-F27756C488F7}"/>
              </a:ext>
            </a:extLst>
          </p:cNvPr>
          <p:cNvSpPr txBox="1"/>
          <p:nvPr/>
        </p:nvSpPr>
        <p:spPr>
          <a:xfrm>
            <a:off x="548640" y="3057381"/>
            <a:ext cx="2468880" cy="906723"/>
          </a:xfrm>
          <a:prstGeom prst="rect">
            <a:avLst/>
          </a:prstGeom>
          <a:noFill/>
        </p:spPr>
        <p:txBody>
          <a:bodyPr wrap="square" lIns="0" tIns="0" rIns="0" bIns="0">
            <a:spAutoFit/>
          </a:bodyPr>
          <a:lstStyle/>
          <a:p>
            <a:pPr>
              <a:lnSpc>
                <a:spcPct val="115000"/>
              </a:lnSpc>
            </a:pPr>
            <a:r>
              <a:rPr sz="1300" b="0" dirty="0">
                <a:solidFill>
                  <a:srgbClr val="1F3A3D"/>
                </a:solidFill>
                <a:latin typeface="Calibri" panose="020F0502020204030204" pitchFamily="34" charset="0"/>
                <a:ea typeface="Calibri" panose="020F0502020204030204" pitchFamily="34" charset="0"/>
                <a:cs typeface="Calibri" panose="020F0502020204030204" pitchFamily="34" charset="0"/>
              </a:rPr>
              <a:t>English </a:t>
            </a:r>
            <a:r>
              <a:rPr lang="en-US" sz="1300" b="0" dirty="0">
                <a:solidFill>
                  <a:srgbClr val="1F3A3D"/>
                </a:solidFill>
                <a:latin typeface="Calibri" panose="020F0502020204030204" pitchFamily="34" charset="0"/>
                <a:ea typeface="Calibri" panose="020F0502020204030204" pitchFamily="34" charset="0"/>
                <a:cs typeface="Calibri" panose="020F0502020204030204" pitchFamily="34" charset="0"/>
              </a:rPr>
              <a:t>reviews across BioShock 1 Remastered, BioShock 2 Remastered and </a:t>
            </a:r>
            <a:r>
              <a:rPr lang="en-US" sz="1300" dirty="0">
                <a:solidFill>
                  <a:srgbClr val="1F3A3D"/>
                </a:solidFill>
                <a:latin typeface="Calibri" panose="020F0502020204030204" pitchFamily="34" charset="0"/>
                <a:ea typeface="Calibri" panose="020F0502020204030204" pitchFamily="34" charset="0"/>
                <a:cs typeface="Calibri" panose="020F0502020204030204" pitchFamily="34" charset="0"/>
              </a:rPr>
              <a:t>I</a:t>
            </a:r>
            <a:r>
              <a:rPr lang="en-US" sz="1300" b="0" dirty="0">
                <a:solidFill>
                  <a:srgbClr val="1F3A3D"/>
                </a:solidFill>
                <a:latin typeface="Calibri" panose="020F0502020204030204" pitchFamily="34" charset="0"/>
                <a:ea typeface="Calibri" panose="020F0502020204030204" pitchFamily="34" charset="0"/>
                <a:cs typeface="Calibri" panose="020F0502020204030204" pitchFamily="34" charset="0"/>
              </a:rPr>
              <a:t>nfinite from Steam’s public API with python </a:t>
            </a:r>
            <a:endParaRPr sz="1300" b="0" dirty="0">
              <a:solidFill>
                <a:srgbClr val="1F3A3D"/>
              </a:solidFill>
              <a:latin typeface="Calibri" panose="020F0502020204030204" pitchFamily="34" charset="0"/>
              <a:ea typeface="Calibri" panose="020F0502020204030204" pitchFamily="34" charset="0"/>
              <a:cs typeface="Calibri" panose="020F0502020204030204" pitchFamily="34" charset="0"/>
            </a:endParaRPr>
          </a:p>
        </p:txBody>
      </p:sp>
      <p:sp>
        <p:nvSpPr>
          <p:cNvPr id="7" name="Isosceles Triangle 6">
            <a:extLst>
              <a:ext uri="{FF2B5EF4-FFF2-40B4-BE49-F238E27FC236}">
                <a16:creationId xmlns:a16="http://schemas.microsoft.com/office/drawing/2014/main" id="{4CF29EE4-6245-76B1-C577-6A9A7F6678DB}"/>
              </a:ext>
            </a:extLst>
          </p:cNvPr>
          <p:cNvSpPr/>
          <p:nvPr/>
        </p:nvSpPr>
        <p:spPr>
          <a:xfrm rot="5400000">
            <a:off x="3063240" y="2280141"/>
            <a:ext cx="182880" cy="219456"/>
          </a:xfrm>
          <a:prstGeom prst="triangle">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panose="020F0502020204030204" pitchFamily="34" charset="0"/>
              <a:ea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07357CE1-7F65-A731-0410-814E345EEF96}"/>
              </a:ext>
            </a:extLst>
          </p:cNvPr>
          <p:cNvSpPr txBox="1"/>
          <p:nvPr/>
        </p:nvSpPr>
        <p:spPr>
          <a:xfrm>
            <a:off x="3337560" y="2051540"/>
            <a:ext cx="2468880" cy="666336"/>
          </a:xfrm>
          <a:prstGeom prst="rect">
            <a:avLst/>
          </a:prstGeom>
          <a:noFill/>
        </p:spPr>
        <p:txBody>
          <a:bodyPr wrap="square" lIns="0" tIns="0" rIns="0" bIns="0">
            <a:spAutoFit/>
          </a:bodyPr>
          <a:lstStyle/>
          <a:p>
            <a:pPr>
              <a:lnSpc>
                <a:spcPct val="115000"/>
              </a:lnSpc>
            </a:pPr>
            <a:r>
              <a:rPr sz="4000" b="1">
                <a:solidFill>
                  <a:srgbClr val="1F3A3D"/>
                </a:solidFill>
                <a:latin typeface="Calibri" panose="020F0502020204030204" pitchFamily="34" charset="0"/>
                <a:ea typeface="Calibri" panose="020F0502020204030204" pitchFamily="34" charset="0"/>
                <a:cs typeface="Calibri" panose="020F0502020204030204" pitchFamily="34" charset="0"/>
              </a:rPr>
              <a:t>9</a:t>
            </a:r>
          </a:p>
        </p:txBody>
      </p:sp>
      <p:sp>
        <p:nvSpPr>
          <p:cNvPr id="9" name="Rectangle 8">
            <a:extLst>
              <a:ext uri="{FF2B5EF4-FFF2-40B4-BE49-F238E27FC236}">
                <a16:creationId xmlns:a16="http://schemas.microsoft.com/office/drawing/2014/main" id="{3DA120F3-DBDE-C62A-9596-269855463034}"/>
              </a:ext>
            </a:extLst>
          </p:cNvPr>
          <p:cNvSpPr/>
          <p:nvPr/>
        </p:nvSpPr>
        <p:spPr>
          <a:xfrm>
            <a:off x="3337560" y="2874501"/>
            <a:ext cx="2286000" cy="10972"/>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panose="020F0502020204030204" pitchFamily="34" charset="0"/>
              <a:ea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516C45A5-CF80-D88D-DE9D-1847735A97A3}"/>
              </a:ext>
            </a:extLst>
          </p:cNvPr>
          <p:cNvSpPr txBox="1"/>
          <p:nvPr/>
        </p:nvSpPr>
        <p:spPr>
          <a:xfrm>
            <a:off x="3337560" y="3057381"/>
            <a:ext cx="2468880" cy="906723"/>
          </a:xfrm>
          <a:prstGeom prst="rect">
            <a:avLst/>
          </a:prstGeom>
          <a:noFill/>
        </p:spPr>
        <p:txBody>
          <a:bodyPr wrap="square" lIns="0" tIns="0" rIns="0" bIns="0">
            <a:spAutoFit/>
          </a:bodyPr>
          <a:lstStyle/>
          <a:p>
            <a:pPr>
              <a:lnSpc>
                <a:spcPct val="115000"/>
              </a:lnSpc>
            </a:pPr>
            <a:r>
              <a:rPr lang="en-US" sz="1300" b="0" dirty="0">
                <a:solidFill>
                  <a:srgbClr val="1F3A3D"/>
                </a:solidFill>
                <a:latin typeface="Calibri" panose="020F0502020204030204" pitchFamily="34" charset="0"/>
                <a:ea typeface="Calibri" panose="020F0502020204030204" pitchFamily="34" charset="0"/>
                <a:cs typeface="Calibri" panose="020F0502020204030204" pitchFamily="34" charset="0"/>
              </a:rPr>
              <a:t>Theme dictionaries ran against </a:t>
            </a:r>
            <a:r>
              <a:rPr lang="en-US" sz="1300" dirty="0">
                <a:solidFill>
                  <a:srgbClr val="1F3A3D"/>
                </a:solidFill>
                <a:latin typeface="Calibri" panose="020F0502020204030204" pitchFamily="34" charset="0"/>
                <a:ea typeface="Calibri" panose="020F0502020204030204" pitchFamily="34" charset="0"/>
                <a:cs typeface="Calibri" panose="020F0502020204030204" pitchFamily="34" charset="0"/>
              </a:rPr>
              <a:t>all reviews in pandas to identify which themes are mentioned (e.g. see appendix for full dictionaries).</a:t>
            </a:r>
            <a:endParaRPr sz="1300" b="0" dirty="0">
              <a:solidFill>
                <a:srgbClr val="1F3A3D"/>
              </a:solidFill>
              <a:latin typeface="Calibri" panose="020F0502020204030204" pitchFamily="34" charset="0"/>
              <a:ea typeface="Calibri" panose="020F0502020204030204" pitchFamily="34" charset="0"/>
              <a:cs typeface="Calibri" panose="020F0502020204030204" pitchFamily="34" charset="0"/>
            </a:endParaRPr>
          </a:p>
        </p:txBody>
      </p:sp>
      <p:sp>
        <p:nvSpPr>
          <p:cNvPr id="11" name="Isosceles Triangle 10">
            <a:extLst>
              <a:ext uri="{FF2B5EF4-FFF2-40B4-BE49-F238E27FC236}">
                <a16:creationId xmlns:a16="http://schemas.microsoft.com/office/drawing/2014/main" id="{879DF48C-DC8C-0900-7232-6B0D1304378E}"/>
              </a:ext>
            </a:extLst>
          </p:cNvPr>
          <p:cNvSpPr/>
          <p:nvPr/>
        </p:nvSpPr>
        <p:spPr>
          <a:xfrm rot="5400000">
            <a:off x="5852160" y="2287293"/>
            <a:ext cx="182880" cy="219456"/>
          </a:xfrm>
          <a:prstGeom prst="triangle">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panose="020F0502020204030204" pitchFamily="34" charset="0"/>
              <a:ea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7A4731ED-A145-3D9D-4E1A-A37536E9416B}"/>
              </a:ext>
            </a:extLst>
          </p:cNvPr>
          <p:cNvSpPr txBox="1"/>
          <p:nvPr/>
        </p:nvSpPr>
        <p:spPr>
          <a:xfrm>
            <a:off x="6126480" y="2051540"/>
            <a:ext cx="2468880" cy="666336"/>
          </a:xfrm>
          <a:prstGeom prst="rect">
            <a:avLst/>
          </a:prstGeom>
          <a:noFill/>
        </p:spPr>
        <p:txBody>
          <a:bodyPr wrap="square" lIns="0" tIns="0" rIns="0" bIns="0">
            <a:spAutoFit/>
          </a:bodyPr>
          <a:lstStyle/>
          <a:p>
            <a:pPr>
              <a:lnSpc>
                <a:spcPct val="115000"/>
              </a:lnSpc>
            </a:pPr>
            <a:r>
              <a:rPr sz="4000" b="1">
                <a:solidFill>
                  <a:srgbClr val="1F3A3D"/>
                </a:solidFill>
                <a:latin typeface="Calibri" panose="020F0502020204030204" pitchFamily="34" charset="0"/>
                <a:ea typeface="Calibri" panose="020F0502020204030204" pitchFamily="34" charset="0"/>
                <a:cs typeface="Calibri" panose="020F0502020204030204" pitchFamily="34" charset="0"/>
              </a:rPr>
              <a:t>4</a:t>
            </a:r>
          </a:p>
        </p:txBody>
      </p:sp>
      <p:sp>
        <p:nvSpPr>
          <p:cNvPr id="13" name="Rectangle 12">
            <a:extLst>
              <a:ext uri="{FF2B5EF4-FFF2-40B4-BE49-F238E27FC236}">
                <a16:creationId xmlns:a16="http://schemas.microsoft.com/office/drawing/2014/main" id="{74B01CF7-60C6-AB01-5F1F-1B2FC7EE85FE}"/>
              </a:ext>
            </a:extLst>
          </p:cNvPr>
          <p:cNvSpPr/>
          <p:nvPr/>
        </p:nvSpPr>
        <p:spPr>
          <a:xfrm>
            <a:off x="6126480" y="2874501"/>
            <a:ext cx="2286000" cy="10972"/>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panose="020F0502020204030204" pitchFamily="34" charset="0"/>
              <a:ea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64225D1F-DB2A-A152-4C2E-70A4DD236A9A}"/>
              </a:ext>
            </a:extLst>
          </p:cNvPr>
          <p:cNvSpPr txBox="1"/>
          <p:nvPr/>
        </p:nvSpPr>
        <p:spPr>
          <a:xfrm>
            <a:off x="6126480" y="3057381"/>
            <a:ext cx="2468880" cy="676660"/>
          </a:xfrm>
          <a:prstGeom prst="rect">
            <a:avLst/>
          </a:prstGeom>
          <a:noFill/>
        </p:spPr>
        <p:txBody>
          <a:bodyPr wrap="square" lIns="0" tIns="0" rIns="0" bIns="0">
            <a:spAutoFit/>
          </a:bodyPr>
          <a:lstStyle/>
          <a:p>
            <a:pPr>
              <a:lnSpc>
                <a:spcPct val="115000"/>
              </a:lnSpc>
            </a:pPr>
            <a:r>
              <a:rPr sz="1300" b="0" dirty="0">
                <a:solidFill>
                  <a:srgbClr val="1F3A3D"/>
                </a:solidFill>
                <a:latin typeface="Calibri" panose="020F0502020204030204" pitchFamily="34" charset="0"/>
                <a:ea typeface="Calibri" panose="020F0502020204030204" pitchFamily="34" charset="0"/>
                <a:cs typeface="Calibri" panose="020F0502020204030204" pitchFamily="34" charset="0"/>
              </a:rPr>
              <a:t>measures per theme: </a:t>
            </a:r>
            <a:r>
              <a:rPr lang="en-US" sz="1300" dirty="0">
                <a:solidFill>
                  <a:srgbClr val="1F3A3D"/>
                </a:solidFill>
                <a:latin typeface="Calibri" panose="020F0502020204030204" pitchFamily="34" charset="0"/>
                <a:ea typeface="Calibri" panose="020F0502020204030204" pitchFamily="34" charset="0"/>
                <a:cs typeface="Calibri" panose="020F0502020204030204" pitchFamily="34" charset="0"/>
              </a:rPr>
              <a:t>frequency</a:t>
            </a:r>
            <a:r>
              <a:rPr sz="1300" b="0" dirty="0">
                <a:solidFill>
                  <a:srgbClr val="1F3A3D"/>
                </a:solidFill>
                <a:latin typeface="Calibri" panose="020F0502020204030204" pitchFamily="34" charset="0"/>
                <a:ea typeface="Calibri" panose="020F0502020204030204" pitchFamily="34" charset="0"/>
                <a:cs typeface="Calibri" panose="020F0502020204030204" pitchFamily="34" charset="0"/>
              </a:rPr>
              <a:t>,
verdict split, review era,
playtime</a:t>
            </a:r>
            <a:r>
              <a:rPr lang="en-US" sz="1300" b="0" dirty="0">
                <a:solidFill>
                  <a:srgbClr val="1F3A3D"/>
                </a:solidFill>
                <a:latin typeface="Calibri" panose="020F0502020204030204" pitchFamily="34" charset="0"/>
                <a:ea typeface="Calibri" panose="020F0502020204030204" pitchFamily="34" charset="0"/>
                <a:cs typeface="Calibri" panose="020F0502020204030204" pitchFamily="34" charset="0"/>
              </a:rPr>
              <a:t> groups</a:t>
            </a:r>
            <a:endParaRPr sz="1300" b="0" dirty="0">
              <a:solidFill>
                <a:srgbClr val="1F3A3D"/>
              </a:solidFill>
              <a:latin typeface="Calibri" panose="020F0502020204030204" pitchFamily="34" charset="0"/>
              <a:ea typeface="Calibri" panose="020F0502020204030204" pitchFamily="34" charset="0"/>
              <a:cs typeface="Calibri" panose="020F0502020204030204" pitchFamily="34" charset="0"/>
            </a:endParaRPr>
          </a:p>
        </p:txBody>
      </p:sp>
      <p:sp>
        <p:nvSpPr>
          <p:cNvPr id="15" name="Isosceles Triangle 14">
            <a:extLst>
              <a:ext uri="{FF2B5EF4-FFF2-40B4-BE49-F238E27FC236}">
                <a16:creationId xmlns:a16="http://schemas.microsoft.com/office/drawing/2014/main" id="{860E4D14-F801-C791-9B92-F92745D0C458}"/>
              </a:ext>
            </a:extLst>
          </p:cNvPr>
          <p:cNvSpPr/>
          <p:nvPr/>
        </p:nvSpPr>
        <p:spPr>
          <a:xfrm rot="5400000">
            <a:off x="8663940" y="2287293"/>
            <a:ext cx="182880" cy="219456"/>
          </a:xfrm>
          <a:prstGeom prst="triangle">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panose="020F0502020204030204" pitchFamily="34" charset="0"/>
              <a:ea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A69C028D-8A57-3F15-9B74-3C576E4ECD7F}"/>
              </a:ext>
            </a:extLst>
          </p:cNvPr>
          <p:cNvSpPr txBox="1"/>
          <p:nvPr/>
        </p:nvSpPr>
        <p:spPr>
          <a:xfrm>
            <a:off x="8915400" y="2051540"/>
            <a:ext cx="2468880" cy="666336"/>
          </a:xfrm>
          <a:prstGeom prst="rect">
            <a:avLst/>
          </a:prstGeom>
          <a:noFill/>
        </p:spPr>
        <p:txBody>
          <a:bodyPr wrap="square" lIns="0" tIns="0" rIns="0" bIns="0">
            <a:spAutoFit/>
          </a:bodyPr>
          <a:lstStyle/>
          <a:p>
            <a:pPr>
              <a:lnSpc>
                <a:spcPct val="115000"/>
              </a:lnSpc>
            </a:pPr>
            <a:r>
              <a:rPr sz="4000" b="1">
                <a:solidFill>
                  <a:srgbClr val="1F3A3D"/>
                </a:solidFill>
                <a:latin typeface="Calibri" panose="020F0502020204030204" pitchFamily="34" charset="0"/>
                <a:ea typeface="Calibri" panose="020F0502020204030204" pitchFamily="34" charset="0"/>
                <a:cs typeface="Calibri" panose="020F0502020204030204" pitchFamily="34" charset="0"/>
              </a:rPr>
              <a:t>72</a:t>
            </a:r>
          </a:p>
        </p:txBody>
      </p:sp>
      <p:sp>
        <p:nvSpPr>
          <p:cNvPr id="17" name="Rectangle 16">
            <a:extLst>
              <a:ext uri="{FF2B5EF4-FFF2-40B4-BE49-F238E27FC236}">
                <a16:creationId xmlns:a16="http://schemas.microsoft.com/office/drawing/2014/main" id="{EA4D76DE-D6CD-8783-BE1F-830B11CCD31D}"/>
              </a:ext>
            </a:extLst>
          </p:cNvPr>
          <p:cNvSpPr/>
          <p:nvPr/>
        </p:nvSpPr>
        <p:spPr>
          <a:xfrm>
            <a:off x="8915400" y="2874501"/>
            <a:ext cx="2286000" cy="10972"/>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panose="020F0502020204030204" pitchFamily="34" charset="0"/>
              <a:ea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A6D7140E-8654-5904-FB76-68F4AD18C320}"/>
              </a:ext>
            </a:extLst>
          </p:cNvPr>
          <p:cNvSpPr txBox="1"/>
          <p:nvPr/>
        </p:nvSpPr>
        <p:spPr>
          <a:xfrm>
            <a:off x="8915400" y="3057381"/>
            <a:ext cx="2468880" cy="676660"/>
          </a:xfrm>
          <a:prstGeom prst="rect">
            <a:avLst/>
          </a:prstGeom>
          <a:noFill/>
        </p:spPr>
        <p:txBody>
          <a:bodyPr wrap="square" lIns="0" tIns="0" rIns="0" bIns="0">
            <a:spAutoFit/>
          </a:bodyPr>
          <a:lstStyle/>
          <a:p>
            <a:pPr>
              <a:lnSpc>
                <a:spcPct val="115000"/>
              </a:lnSpc>
            </a:pPr>
            <a:r>
              <a:rPr sz="1300" b="0" dirty="0">
                <a:solidFill>
                  <a:srgbClr val="1F3A3D"/>
                </a:solidFill>
                <a:latin typeface="Calibri" panose="020F0502020204030204" pitchFamily="34" charset="0"/>
                <a:ea typeface="Calibri" panose="020F0502020204030204" pitchFamily="34" charset="0"/>
                <a:cs typeface="Calibri" panose="020F0502020204030204" pitchFamily="34" charset="0"/>
              </a:rPr>
              <a:t>reviews hand-coded to
measure precision and recall
for every theme</a:t>
            </a:r>
          </a:p>
        </p:txBody>
      </p:sp>
      <p:sp>
        <p:nvSpPr>
          <p:cNvPr id="19" name="Rectangle 18">
            <a:extLst>
              <a:ext uri="{FF2B5EF4-FFF2-40B4-BE49-F238E27FC236}">
                <a16:creationId xmlns:a16="http://schemas.microsoft.com/office/drawing/2014/main" id="{2F3E59C7-79D2-457E-9F71-2AE49A69B048}"/>
              </a:ext>
            </a:extLst>
          </p:cNvPr>
          <p:cNvSpPr/>
          <p:nvPr/>
        </p:nvSpPr>
        <p:spPr>
          <a:xfrm>
            <a:off x="548640" y="4571634"/>
            <a:ext cx="11064240" cy="10972"/>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panose="020F0502020204030204" pitchFamily="34" charset="0"/>
              <a:ea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456A69BC-F08B-1069-E450-63BAD4663A44}"/>
              </a:ext>
            </a:extLst>
          </p:cNvPr>
          <p:cNvSpPr txBox="1"/>
          <p:nvPr/>
        </p:nvSpPr>
        <p:spPr>
          <a:xfrm>
            <a:off x="548640" y="4846320"/>
            <a:ext cx="2377440" cy="216534"/>
          </a:xfrm>
          <a:prstGeom prst="rect">
            <a:avLst/>
          </a:prstGeom>
          <a:noFill/>
        </p:spPr>
        <p:txBody>
          <a:bodyPr wrap="square" lIns="0" tIns="0" rIns="0" bIns="0">
            <a:spAutoFit/>
          </a:bodyPr>
          <a:lstStyle/>
          <a:p>
            <a:pPr>
              <a:lnSpc>
                <a:spcPct val="115000"/>
              </a:lnSpc>
            </a:pPr>
            <a:r>
              <a:rPr sz="1300" b="1">
                <a:solidFill>
                  <a:srgbClr val="C44536"/>
                </a:solidFill>
                <a:latin typeface="Calibri" panose="020F0502020204030204" pitchFamily="34" charset="0"/>
                <a:ea typeface="Calibri" panose="020F0502020204030204" pitchFamily="34" charset="0"/>
                <a:cs typeface="Calibri" panose="020F0502020204030204" pitchFamily="34" charset="0"/>
              </a:rPr>
              <a:t>Registered first</a:t>
            </a:r>
          </a:p>
        </p:txBody>
      </p:sp>
      <p:sp>
        <p:nvSpPr>
          <p:cNvPr id="21" name="TextBox 20">
            <a:extLst>
              <a:ext uri="{FF2B5EF4-FFF2-40B4-BE49-F238E27FC236}">
                <a16:creationId xmlns:a16="http://schemas.microsoft.com/office/drawing/2014/main" id="{86562A78-61C9-E18E-BFB4-439A00647E54}"/>
              </a:ext>
            </a:extLst>
          </p:cNvPr>
          <p:cNvSpPr txBox="1"/>
          <p:nvPr/>
        </p:nvSpPr>
        <p:spPr>
          <a:xfrm>
            <a:off x="548640" y="5212080"/>
            <a:ext cx="11064240" cy="480966"/>
          </a:xfrm>
          <a:prstGeom prst="rect">
            <a:avLst/>
          </a:prstGeom>
          <a:noFill/>
        </p:spPr>
        <p:txBody>
          <a:bodyPr wrap="square" lIns="0" tIns="0" rIns="0" bIns="0">
            <a:spAutoFit/>
          </a:bodyPr>
          <a:lstStyle/>
          <a:p>
            <a:pPr>
              <a:lnSpc>
                <a:spcPct val="115000"/>
              </a:lnSpc>
            </a:pPr>
            <a:r>
              <a:rPr lang="en-US" sz="1400" dirty="0">
                <a:solidFill>
                  <a:srgbClr val="1F3A3D"/>
                </a:solidFill>
                <a:latin typeface="Calibri" panose="020F0502020204030204" pitchFamily="34" charset="0"/>
                <a:ea typeface="Calibri" panose="020F0502020204030204" pitchFamily="34" charset="0"/>
                <a:cs typeface="Calibri" panose="020F0502020204030204" pitchFamily="34" charset="0"/>
              </a:rPr>
              <a:t>Full impressions and hypothesis were written after all three BioShock playthroughs were completed then committed to </a:t>
            </a:r>
            <a:r>
              <a:rPr lang="en-US" sz="1400" dirty="0" err="1">
                <a:solidFill>
                  <a:srgbClr val="1F3A3D"/>
                </a:solidFill>
                <a:latin typeface="Calibri" panose="020F0502020204030204" pitchFamily="34" charset="0"/>
                <a:ea typeface="Calibri" panose="020F0502020204030204" pitchFamily="34" charset="0"/>
                <a:cs typeface="Calibri" panose="020F0502020204030204" pitchFamily="34" charset="0"/>
              </a:rPr>
              <a:t>github</a:t>
            </a:r>
            <a:r>
              <a:rPr lang="en-US" sz="1400" dirty="0">
                <a:solidFill>
                  <a:srgbClr val="1F3A3D"/>
                </a:solidFill>
                <a:latin typeface="Calibri" panose="020F0502020204030204" pitchFamily="34" charset="0"/>
                <a:ea typeface="Calibri" panose="020F0502020204030204" pitchFamily="34" charset="0"/>
                <a:cs typeface="Calibri" panose="020F0502020204030204" pitchFamily="34" charset="0"/>
              </a:rPr>
              <a:t> before </a:t>
            </a:r>
            <a:r>
              <a:rPr lang="en-US" sz="1400">
                <a:solidFill>
                  <a:srgbClr val="1F3A3D"/>
                </a:solidFill>
                <a:latin typeface="Calibri" panose="020F0502020204030204" pitchFamily="34" charset="0"/>
                <a:ea typeface="Calibri" panose="020F0502020204030204" pitchFamily="34" charset="0"/>
                <a:cs typeface="Calibri" panose="020F0502020204030204" pitchFamily="34" charset="0"/>
              </a:rPr>
              <a:t>data analysis. </a:t>
            </a:r>
            <a:r>
              <a:rPr lang="en-US" sz="1400" dirty="0">
                <a:solidFill>
                  <a:srgbClr val="1F3A3D"/>
                </a:solidFill>
                <a:latin typeface="Calibri" panose="020F0502020204030204" pitchFamily="34" charset="0"/>
                <a:ea typeface="Calibri" panose="020F0502020204030204" pitchFamily="34" charset="0"/>
                <a:cs typeface="Calibri" panose="020F0502020204030204" pitchFamily="34" charset="0"/>
              </a:rPr>
              <a:t>Theme dictionaries were also committed before any analysis to reduce curve fitting. </a:t>
            </a:r>
            <a:endParaRPr sz="1400" b="0" dirty="0">
              <a:solidFill>
                <a:srgbClr val="1F3A3D"/>
              </a:solidFill>
              <a:latin typeface="Calibri" panose="020F0502020204030204" pitchFamily="34" charset="0"/>
              <a:ea typeface="Calibri" panose="020F0502020204030204" pitchFamily="34" charset="0"/>
              <a:cs typeface="Calibri" panose="020F0502020204030204" pitchFamily="34" charset="0"/>
            </a:endParaRPr>
          </a:p>
        </p:txBody>
      </p:sp>
      <p:sp>
        <p:nvSpPr>
          <p:cNvPr id="22" name="TextBox 21">
            <a:extLst>
              <a:ext uri="{FF2B5EF4-FFF2-40B4-BE49-F238E27FC236}">
                <a16:creationId xmlns:a16="http://schemas.microsoft.com/office/drawing/2014/main" id="{CAEE6435-3769-66AE-7E06-19965AE34215}"/>
              </a:ext>
            </a:extLst>
          </p:cNvPr>
          <p:cNvSpPr txBox="1"/>
          <p:nvPr/>
        </p:nvSpPr>
        <p:spPr>
          <a:xfrm>
            <a:off x="548640" y="5953188"/>
            <a:ext cx="6097604" cy="369332"/>
          </a:xfrm>
          <a:prstGeom prst="rect">
            <a:avLst/>
          </a:prstGeom>
          <a:noFill/>
        </p:spPr>
        <p:txBody>
          <a:bodyPr wrap="square">
            <a:spAutoFit/>
          </a:bodyPr>
          <a:lstStyle/>
          <a:p>
            <a:r>
              <a:rPr lang="en-US" dirty="0"/>
              <a:t>https://github.com/saviongb/Bioshock-Revival-Analysis</a:t>
            </a:r>
          </a:p>
        </p:txBody>
      </p:sp>
      <p:sp>
        <p:nvSpPr>
          <p:cNvPr id="25" name="Shape 6">
            <a:extLst>
              <a:ext uri="{FF2B5EF4-FFF2-40B4-BE49-F238E27FC236}">
                <a16:creationId xmlns:a16="http://schemas.microsoft.com/office/drawing/2014/main" id="{E604AF50-18C0-E062-67FB-6A884C0E4F36}"/>
              </a:ext>
            </a:extLst>
          </p:cNvPr>
          <p:cNvSpPr/>
          <p:nvPr/>
        </p:nvSpPr>
        <p:spPr>
          <a:xfrm>
            <a:off x="498348" y="1768194"/>
            <a:ext cx="11109960" cy="0"/>
          </a:xfrm>
          <a:prstGeom prst="line">
            <a:avLst/>
          </a:prstGeom>
          <a:noFill/>
          <a:ln w="12700">
            <a:solidFill>
              <a:srgbClr val="D9D9D9"/>
            </a:solidFill>
            <a:prstDash val="solid"/>
          </a:ln>
        </p:spPr>
        <p:txBody>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269768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gs>
            <a:gs pos="50000">
              <a:schemeClr val="bg1">
                <a:tint val="98000"/>
                <a:satMod val="130000"/>
                <a:shade val="90000"/>
                <a:lumMod val="103000"/>
              </a:schemeClr>
            </a:gs>
            <a:gs pos="100000">
              <a:schemeClr val="bg1">
                <a:shade val="63000"/>
                <a:satMod val="120000"/>
              </a:schemeClr>
            </a:gs>
          </a:gsLst>
          <a:lin ang="5400000" scaled="0"/>
        </a:gradFill>
        <a:effectLst/>
      </p:bgPr>
    </p:bg>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AE573FDD-DD43-9775-F809-C208BD9765C6}"/>
              </a:ext>
            </a:extLst>
          </p:cNvPr>
          <p:cNvSpPr>
            <a:spLocks noGrp="1"/>
          </p:cNvSpPr>
          <p:nvPr>
            <p:ph type="title"/>
          </p:nvPr>
        </p:nvSpPr>
        <p:spPr>
          <a:xfrm>
            <a:off x="548640" y="150876"/>
            <a:ext cx="10972800" cy="1097280"/>
          </a:xfrm>
        </p:spPr>
        <p:txBody>
          <a:bodyPr>
            <a:normAutofit/>
          </a:bodyPr>
          <a:lstStyle/>
          <a:p>
            <a:r>
              <a:rPr lang="en-US" b="1" dirty="0"/>
              <a:t>A decade later, the remasters review better than their lifetime average</a:t>
            </a:r>
            <a:endParaRPr b="1" dirty="0"/>
          </a:p>
        </p:txBody>
      </p:sp>
      <p:sp>
        <p:nvSpPr>
          <p:cNvPr id="20" name="Text Placeholder 2">
            <a:extLst>
              <a:ext uri="{FF2B5EF4-FFF2-40B4-BE49-F238E27FC236}">
                <a16:creationId xmlns:a16="http://schemas.microsoft.com/office/drawing/2014/main" id="{5FF01C6F-1C2C-DCF9-A727-9B609422232B}"/>
              </a:ext>
            </a:extLst>
          </p:cNvPr>
          <p:cNvSpPr>
            <a:spLocks noGrp="1"/>
          </p:cNvSpPr>
          <p:nvPr>
            <p:ph type="body" sz="quarter" idx="13"/>
          </p:nvPr>
        </p:nvSpPr>
        <p:spPr>
          <a:xfrm>
            <a:off x="548640" y="6035040"/>
            <a:ext cx="10972800" cy="457200"/>
          </a:xfrm>
        </p:spPr>
        <p:txBody>
          <a:bodyPr/>
          <a:lstStyle/>
          <a:p>
            <a:r>
              <a:rPr lang="en-US" dirty="0"/>
              <a:t>Base: % positive within each group, lifetime and the 12 months to July 26, 2026.</a:t>
            </a:r>
            <a:endParaRPr dirty="0"/>
          </a:p>
        </p:txBody>
      </p:sp>
      <p:pic>
        <p:nvPicPr>
          <p:cNvPr id="21" name="Picture 20" descr="recent_deck.png">
            <a:extLst>
              <a:ext uri="{FF2B5EF4-FFF2-40B4-BE49-F238E27FC236}">
                <a16:creationId xmlns:a16="http://schemas.microsoft.com/office/drawing/2014/main" id="{863108D0-3F92-28F5-F027-480506B547CA}"/>
              </a:ext>
            </a:extLst>
          </p:cNvPr>
          <p:cNvPicPr>
            <a:picLocks noChangeAspect="1"/>
          </p:cNvPicPr>
          <p:nvPr/>
        </p:nvPicPr>
        <p:blipFill>
          <a:blip r:embed="rId2"/>
          <a:stretch>
            <a:fillRect/>
          </a:stretch>
        </p:blipFill>
        <p:spPr>
          <a:xfrm>
            <a:off x="548640" y="1645920"/>
            <a:ext cx="7498079" cy="2999232"/>
          </a:xfrm>
          <a:prstGeom prst="rect">
            <a:avLst/>
          </a:prstGeom>
        </p:spPr>
      </p:pic>
      <p:sp>
        <p:nvSpPr>
          <p:cNvPr id="22" name="TextBox 21">
            <a:extLst>
              <a:ext uri="{FF2B5EF4-FFF2-40B4-BE49-F238E27FC236}">
                <a16:creationId xmlns:a16="http://schemas.microsoft.com/office/drawing/2014/main" id="{690706F4-2E07-BC33-8BCF-015E026DFB4C}"/>
              </a:ext>
            </a:extLst>
          </p:cNvPr>
          <p:cNvSpPr txBox="1"/>
          <p:nvPr/>
        </p:nvSpPr>
        <p:spPr>
          <a:xfrm>
            <a:off x="8503920" y="1737360"/>
            <a:ext cx="3108960" cy="320040"/>
          </a:xfrm>
          <a:prstGeom prst="rect">
            <a:avLst/>
          </a:prstGeom>
          <a:noFill/>
        </p:spPr>
        <p:txBody>
          <a:bodyPr wrap="square" lIns="0" tIns="0" rIns="0" bIns="0">
            <a:spAutoFit/>
          </a:bodyPr>
          <a:lstStyle/>
          <a:p>
            <a:pPr>
              <a:lnSpc>
                <a:spcPct val="115000"/>
              </a:lnSpc>
            </a:pPr>
            <a:r>
              <a:rPr sz="1000" b="1">
                <a:solidFill>
                  <a:srgbClr val="8C8C8C"/>
                </a:solidFill>
                <a:latin typeface="Calibri"/>
              </a:rPr>
              <a:t>REVIEWS IN THE LAST 12 MONTHS</a:t>
            </a:r>
          </a:p>
        </p:txBody>
      </p:sp>
      <p:sp>
        <p:nvSpPr>
          <p:cNvPr id="23" name="TextBox 22">
            <a:extLst>
              <a:ext uri="{FF2B5EF4-FFF2-40B4-BE49-F238E27FC236}">
                <a16:creationId xmlns:a16="http://schemas.microsoft.com/office/drawing/2014/main" id="{FEADB666-D12F-9E60-397D-9BA49C72952E}"/>
              </a:ext>
            </a:extLst>
          </p:cNvPr>
          <p:cNvSpPr txBox="1"/>
          <p:nvPr/>
        </p:nvSpPr>
        <p:spPr>
          <a:xfrm>
            <a:off x="8503920" y="2148840"/>
            <a:ext cx="3108960" cy="457200"/>
          </a:xfrm>
          <a:prstGeom prst="rect">
            <a:avLst/>
          </a:prstGeom>
          <a:noFill/>
        </p:spPr>
        <p:txBody>
          <a:bodyPr wrap="square" lIns="0" tIns="0" rIns="0" bIns="0">
            <a:spAutoFit/>
          </a:bodyPr>
          <a:lstStyle/>
          <a:p>
            <a:pPr>
              <a:lnSpc>
                <a:spcPct val="115000"/>
              </a:lnSpc>
            </a:pPr>
            <a:r>
              <a:rPr sz="2600" b="1">
                <a:solidFill>
                  <a:srgbClr val="1F3A3D"/>
                </a:solidFill>
                <a:latin typeface="Calibri"/>
              </a:rPr>
              <a:t>2,346</a:t>
            </a:r>
          </a:p>
        </p:txBody>
      </p:sp>
      <p:sp>
        <p:nvSpPr>
          <p:cNvPr id="24" name="TextBox 23">
            <a:extLst>
              <a:ext uri="{FF2B5EF4-FFF2-40B4-BE49-F238E27FC236}">
                <a16:creationId xmlns:a16="http://schemas.microsoft.com/office/drawing/2014/main" id="{6BF3C710-98F8-3087-0822-E0629EE7EF43}"/>
              </a:ext>
            </a:extLst>
          </p:cNvPr>
          <p:cNvSpPr txBox="1"/>
          <p:nvPr/>
        </p:nvSpPr>
        <p:spPr>
          <a:xfrm>
            <a:off x="8503920" y="2551176"/>
            <a:ext cx="3108960" cy="274320"/>
          </a:xfrm>
          <a:prstGeom prst="rect">
            <a:avLst/>
          </a:prstGeom>
          <a:noFill/>
        </p:spPr>
        <p:txBody>
          <a:bodyPr wrap="square" lIns="0" tIns="0" rIns="0" bIns="0">
            <a:spAutoFit/>
          </a:bodyPr>
          <a:lstStyle/>
          <a:p>
            <a:pPr>
              <a:lnSpc>
                <a:spcPct val="115000"/>
              </a:lnSpc>
            </a:pPr>
            <a:r>
              <a:rPr sz="1200" b="0">
                <a:solidFill>
                  <a:srgbClr val="8C8C8C"/>
                </a:solidFill>
                <a:latin typeface="Calibri"/>
              </a:rPr>
              <a:t>BioShock Remastered</a:t>
            </a:r>
          </a:p>
        </p:txBody>
      </p:sp>
      <p:sp>
        <p:nvSpPr>
          <p:cNvPr id="25" name="TextBox 24">
            <a:extLst>
              <a:ext uri="{FF2B5EF4-FFF2-40B4-BE49-F238E27FC236}">
                <a16:creationId xmlns:a16="http://schemas.microsoft.com/office/drawing/2014/main" id="{36A61203-C2BC-A499-B257-F2968B4414FD}"/>
              </a:ext>
            </a:extLst>
          </p:cNvPr>
          <p:cNvSpPr txBox="1"/>
          <p:nvPr/>
        </p:nvSpPr>
        <p:spPr>
          <a:xfrm>
            <a:off x="8503920" y="3017520"/>
            <a:ext cx="3108960" cy="457200"/>
          </a:xfrm>
          <a:prstGeom prst="rect">
            <a:avLst/>
          </a:prstGeom>
          <a:noFill/>
        </p:spPr>
        <p:txBody>
          <a:bodyPr wrap="square" lIns="0" tIns="0" rIns="0" bIns="0">
            <a:spAutoFit/>
          </a:bodyPr>
          <a:lstStyle/>
          <a:p>
            <a:pPr>
              <a:lnSpc>
                <a:spcPct val="115000"/>
              </a:lnSpc>
            </a:pPr>
            <a:r>
              <a:rPr sz="2600" b="1">
                <a:solidFill>
                  <a:srgbClr val="1F3A3D"/>
                </a:solidFill>
                <a:latin typeface="Calibri"/>
              </a:rPr>
              <a:t>1,290</a:t>
            </a:r>
          </a:p>
        </p:txBody>
      </p:sp>
      <p:sp>
        <p:nvSpPr>
          <p:cNvPr id="26" name="TextBox 25">
            <a:extLst>
              <a:ext uri="{FF2B5EF4-FFF2-40B4-BE49-F238E27FC236}">
                <a16:creationId xmlns:a16="http://schemas.microsoft.com/office/drawing/2014/main" id="{C6450FE1-A5C8-32AD-9ABB-CBDBCDFC3FF2}"/>
              </a:ext>
            </a:extLst>
          </p:cNvPr>
          <p:cNvSpPr txBox="1"/>
          <p:nvPr/>
        </p:nvSpPr>
        <p:spPr>
          <a:xfrm>
            <a:off x="8503920" y="3419856"/>
            <a:ext cx="3108960" cy="274320"/>
          </a:xfrm>
          <a:prstGeom prst="rect">
            <a:avLst/>
          </a:prstGeom>
          <a:noFill/>
        </p:spPr>
        <p:txBody>
          <a:bodyPr wrap="square" lIns="0" tIns="0" rIns="0" bIns="0">
            <a:spAutoFit/>
          </a:bodyPr>
          <a:lstStyle/>
          <a:p>
            <a:pPr>
              <a:lnSpc>
                <a:spcPct val="115000"/>
              </a:lnSpc>
            </a:pPr>
            <a:r>
              <a:rPr sz="1200" b="0">
                <a:solidFill>
                  <a:srgbClr val="8C8C8C"/>
                </a:solidFill>
                <a:latin typeface="Calibri"/>
              </a:rPr>
              <a:t>BioShock 2 Remastered</a:t>
            </a:r>
          </a:p>
        </p:txBody>
      </p:sp>
      <p:sp>
        <p:nvSpPr>
          <p:cNvPr id="27" name="TextBox 26">
            <a:extLst>
              <a:ext uri="{FF2B5EF4-FFF2-40B4-BE49-F238E27FC236}">
                <a16:creationId xmlns:a16="http://schemas.microsoft.com/office/drawing/2014/main" id="{74B25CF9-D1B0-788A-228C-3EDE06EF49BE}"/>
              </a:ext>
            </a:extLst>
          </p:cNvPr>
          <p:cNvSpPr txBox="1"/>
          <p:nvPr/>
        </p:nvSpPr>
        <p:spPr>
          <a:xfrm>
            <a:off x="8503920" y="3886200"/>
            <a:ext cx="3108960" cy="457200"/>
          </a:xfrm>
          <a:prstGeom prst="rect">
            <a:avLst/>
          </a:prstGeom>
          <a:noFill/>
        </p:spPr>
        <p:txBody>
          <a:bodyPr wrap="square" lIns="0" tIns="0" rIns="0" bIns="0">
            <a:spAutoFit/>
          </a:bodyPr>
          <a:lstStyle/>
          <a:p>
            <a:pPr>
              <a:lnSpc>
                <a:spcPct val="115000"/>
              </a:lnSpc>
            </a:pPr>
            <a:r>
              <a:rPr sz="2600" b="1">
                <a:solidFill>
                  <a:srgbClr val="1F3A3D"/>
                </a:solidFill>
                <a:latin typeface="Calibri"/>
              </a:rPr>
              <a:t>1,577</a:t>
            </a:r>
          </a:p>
        </p:txBody>
      </p:sp>
      <p:sp>
        <p:nvSpPr>
          <p:cNvPr id="28" name="TextBox 27">
            <a:extLst>
              <a:ext uri="{FF2B5EF4-FFF2-40B4-BE49-F238E27FC236}">
                <a16:creationId xmlns:a16="http://schemas.microsoft.com/office/drawing/2014/main" id="{2966C751-2C39-98C6-AE4F-1513B81B7A65}"/>
              </a:ext>
            </a:extLst>
          </p:cNvPr>
          <p:cNvSpPr txBox="1"/>
          <p:nvPr/>
        </p:nvSpPr>
        <p:spPr>
          <a:xfrm>
            <a:off x="8503920" y="4288536"/>
            <a:ext cx="3108960" cy="274320"/>
          </a:xfrm>
          <a:prstGeom prst="rect">
            <a:avLst/>
          </a:prstGeom>
          <a:noFill/>
        </p:spPr>
        <p:txBody>
          <a:bodyPr wrap="square" lIns="0" tIns="0" rIns="0" bIns="0">
            <a:spAutoFit/>
          </a:bodyPr>
          <a:lstStyle/>
          <a:p>
            <a:pPr>
              <a:lnSpc>
                <a:spcPct val="115000"/>
              </a:lnSpc>
            </a:pPr>
            <a:r>
              <a:rPr sz="1200" b="0">
                <a:solidFill>
                  <a:srgbClr val="8C8C8C"/>
                </a:solidFill>
                <a:latin typeface="Calibri"/>
              </a:rPr>
              <a:t>Infinite</a:t>
            </a:r>
          </a:p>
        </p:txBody>
      </p:sp>
      <p:sp>
        <p:nvSpPr>
          <p:cNvPr id="29" name="Rectangle 28">
            <a:extLst>
              <a:ext uri="{FF2B5EF4-FFF2-40B4-BE49-F238E27FC236}">
                <a16:creationId xmlns:a16="http://schemas.microsoft.com/office/drawing/2014/main" id="{1D509804-10CE-C938-72A9-E5EE449A7F86}"/>
              </a:ext>
            </a:extLst>
          </p:cNvPr>
          <p:cNvSpPr/>
          <p:nvPr/>
        </p:nvSpPr>
        <p:spPr>
          <a:xfrm>
            <a:off x="548640" y="4983480"/>
            <a:ext cx="11064240" cy="10972"/>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a:extLst>
              <a:ext uri="{FF2B5EF4-FFF2-40B4-BE49-F238E27FC236}">
                <a16:creationId xmlns:a16="http://schemas.microsoft.com/office/drawing/2014/main" id="{50813E9E-C8B4-419C-A7E9-48B0C3BCA0BE}"/>
              </a:ext>
            </a:extLst>
          </p:cNvPr>
          <p:cNvSpPr txBox="1"/>
          <p:nvPr/>
        </p:nvSpPr>
        <p:spPr>
          <a:xfrm>
            <a:off x="548640" y="5193792"/>
            <a:ext cx="11064240" cy="515334"/>
          </a:xfrm>
          <a:prstGeom prst="rect">
            <a:avLst/>
          </a:prstGeom>
          <a:noFill/>
        </p:spPr>
        <p:txBody>
          <a:bodyPr wrap="square" lIns="0" tIns="0" rIns="0" bIns="0">
            <a:spAutoFit/>
          </a:bodyPr>
          <a:lstStyle/>
          <a:p>
            <a:pPr>
              <a:lnSpc>
                <a:spcPct val="115000"/>
              </a:lnSpc>
            </a:pPr>
            <a:r>
              <a:rPr lang="en-US" sz="1500" b="0" dirty="0">
                <a:solidFill>
                  <a:srgbClr val="1F3A3D"/>
                </a:solidFill>
                <a:latin typeface="Calibri"/>
              </a:rPr>
              <a:t>After nearly 2 decades since </a:t>
            </a:r>
            <a:r>
              <a:rPr lang="en-US" sz="1500" dirty="0">
                <a:solidFill>
                  <a:srgbClr val="1F3A3D"/>
                </a:solidFill>
                <a:latin typeface="Calibri"/>
              </a:rPr>
              <a:t>the original release of BioShock 1 and a decade after the remasters, r</a:t>
            </a:r>
            <a:r>
              <a:rPr lang="en-US" sz="1500" b="0" dirty="0">
                <a:solidFill>
                  <a:srgbClr val="1F3A3D"/>
                </a:solidFill>
                <a:latin typeface="Calibri"/>
              </a:rPr>
              <a:t>eviewers still respond positively to the BioShock blueprint.</a:t>
            </a:r>
            <a:endParaRPr sz="1500" b="0" dirty="0">
              <a:solidFill>
                <a:srgbClr val="1F3A3D"/>
              </a:solidFill>
              <a:latin typeface="Calibri"/>
            </a:endParaRPr>
          </a:p>
        </p:txBody>
      </p:sp>
    </p:spTree>
    <p:extLst>
      <p:ext uri="{BB962C8B-B14F-4D97-AF65-F5344CB8AC3E}">
        <p14:creationId xmlns:p14="http://schemas.microsoft.com/office/powerpoint/2010/main" val="242251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gs>
            <a:gs pos="50000">
              <a:schemeClr val="bg1">
                <a:tint val="98000"/>
                <a:satMod val="130000"/>
                <a:shade val="90000"/>
                <a:lumMod val="103000"/>
              </a:schemeClr>
            </a:gs>
            <a:gs pos="100000">
              <a:schemeClr val="bg1">
                <a:shade val="63000"/>
                <a:satMod val="120000"/>
              </a:schemeClr>
            </a:gs>
          </a:gsLst>
          <a:lin ang="54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FB5D1-7ACA-0B95-CA83-21750D7F49B5}"/>
              </a:ext>
            </a:extLst>
          </p:cNvPr>
          <p:cNvSpPr>
            <a:spLocks noGrp="1"/>
          </p:cNvSpPr>
          <p:nvPr>
            <p:ph type="title"/>
          </p:nvPr>
        </p:nvSpPr>
        <p:spPr/>
        <p:txBody>
          <a:bodyPr/>
          <a:lstStyle/>
          <a:p>
            <a:r>
              <a:rPr lang="en-US" b="1" dirty="0"/>
              <a:t>Narrative is the only theme mentioned in at least 20% of reviews across all BioShock titles</a:t>
            </a:r>
          </a:p>
        </p:txBody>
      </p:sp>
      <p:sp>
        <p:nvSpPr>
          <p:cNvPr id="5" name="Text Placeholder 2">
            <a:extLst>
              <a:ext uri="{FF2B5EF4-FFF2-40B4-BE49-F238E27FC236}">
                <a16:creationId xmlns:a16="http://schemas.microsoft.com/office/drawing/2014/main" id="{D2328844-490C-1C5E-5014-FB4A97A87527}"/>
              </a:ext>
            </a:extLst>
          </p:cNvPr>
          <p:cNvSpPr txBox="1">
            <a:spLocks/>
          </p:cNvSpPr>
          <p:nvPr/>
        </p:nvSpPr>
        <p:spPr>
          <a:xfrm>
            <a:off x="548640" y="6035040"/>
            <a:ext cx="10972800" cy="457200"/>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Arial" panose="020B0604020202020204" pitchFamily="34" charset="0"/>
              <a:buNone/>
              <a:defRPr sz="1100" kern="1200">
                <a:solidFill>
                  <a:srgbClr val="8C8C8C"/>
                </a:solidFill>
                <a:latin typeface="Calibri" panose="020F0502020204030204" pitchFamily="34" charset="0"/>
                <a:ea typeface="Calibri" panose="020F0502020204030204" pitchFamily="34" charset="0"/>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None/>
              <a:defRPr sz="1100" kern="1200">
                <a:solidFill>
                  <a:srgbClr val="8C8C8C"/>
                </a:solidFill>
                <a:latin typeface="Calibri" panose="020F0502020204030204" pitchFamily="34" charset="0"/>
                <a:ea typeface="Calibri" panose="020F0502020204030204" pitchFamily="34" charset="0"/>
                <a:cs typeface="Calibri" panose="020F0502020204030204" pitchFamily="34" charset="0"/>
              </a:defRPr>
            </a:lvl2pPr>
            <a:lvl3pPr marL="1143000" indent="-228600" algn="l" defTabSz="914400" rtl="0" eaLnBrk="1" latinLnBrk="0" hangingPunct="1">
              <a:lnSpc>
                <a:spcPct val="90000"/>
              </a:lnSpc>
              <a:spcBef>
                <a:spcPts val="500"/>
              </a:spcBef>
              <a:buFont typeface="Arial" panose="020B0604020202020204" pitchFamily="34" charset="0"/>
              <a:buNone/>
              <a:defRPr sz="1100" kern="1200">
                <a:solidFill>
                  <a:srgbClr val="8C8C8C"/>
                </a:solidFill>
                <a:latin typeface="Calibri" panose="020F0502020204030204" pitchFamily="34" charset="0"/>
                <a:ea typeface="Calibri" panose="020F0502020204030204" pitchFamily="34" charset="0"/>
                <a:cs typeface="Calibri" panose="020F05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None/>
              <a:defRPr sz="1100" kern="1200">
                <a:solidFill>
                  <a:srgbClr val="8C8C8C"/>
                </a:solidFill>
                <a:latin typeface="Calibri" panose="020F0502020204030204" pitchFamily="34" charset="0"/>
                <a:ea typeface="Calibri" panose="020F0502020204030204" pitchFamily="34" charset="0"/>
                <a:cs typeface="Calibri" panose="020F05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None/>
              <a:defRPr sz="1100" kern="1200">
                <a:solidFill>
                  <a:srgbClr val="8C8C8C"/>
                </a:solidFill>
                <a:latin typeface="Calibri" panose="020F0502020204030204" pitchFamily="34" charset="0"/>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a-DK" dirty="0"/>
              <a:t>Base: % of each title’s reviews mentioning narrative (B1: 26,155) (B2: 12,008) (Infinite: 47,232)</a:t>
            </a:r>
          </a:p>
        </p:txBody>
      </p:sp>
      <p:sp>
        <p:nvSpPr>
          <p:cNvPr id="6" name="TextBox 5">
            <a:extLst>
              <a:ext uri="{FF2B5EF4-FFF2-40B4-BE49-F238E27FC236}">
                <a16:creationId xmlns:a16="http://schemas.microsoft.com/office/drawing/2014/main" id="{A561A3BB-08A6-9893-5C43-71FCB068A60F}"/>
              </a:ext>
            </a:extLst>
          </p:cNvPr>
          <p:cNvSpPr txBox="1"/>
          <p:nvPr/>
        </p:nvSpPr>
        <p:spPr>
          <a:xfrm>
            <a:off x="914400" y="1920240"/>
            <a:ext cx="3200400" cy="246221"/>
          </a:xfrm>
          <a:prstGeom prst="rect">
            <a:avLst/>
          </a:prstGeom>
          <a:noFill/>
        </p:spPr>
        <p:txBody>
          <a:bodyPr wrap="square" lIns="0" tIns="0" rIns="0" bIns="0">
            <a:spAutoFit/>
          </a:bodyPr>
          <a:lstStyle/>
          <a:p>
            <a:r>
              <a:rPr sz="1600" dirty="0">
                <a:solidFill>
                  <a:srgbClr val="1F3A3D"/>
                </a:solidFill>
                <a:latin typeface="Calibri"/>
              </a:rPr>
              <a:t>BioShock</a:t>
            </a:r>
            <a:r>
              <a:rPr sz="1600" b="1" dirty="0">
                <a:solidFill>
                  <a:srgbClr val="1F3A3D"/>
                </a:solidFill>
                <a:latin typeface="Calibri"/>
              </a:rPr>
              <a:t> </a:t>
            </a:r>
            <a:r>
              <a:rPr sz="1600" dirty="0">
                <a:solidFill>
                  <a:srgbClr val="1F3A3D"/>
                </a:solidFill>
                <a:latin typeface="Calibri"/>
              </a:rPr>
              <a:t>1</a:t>
            </a:r>
          </a:p>
        </p:txBody>
      </p:sp>
      <p:sp>
        <p:nvSpPr>
          <p:cNvPr id="7" name="TextBox 6">
            <a:extLst>
              <a:ext uri="{FF2B5EF4-FFF2-40B4-BE49-F238E27FC236}">
                <a16:creationId xmlns:a16="http://schemas.microsoft.com/office/drawing/2014/main" id="{A0F09FB5-2FA7-4D13-B289-BE2558508D64}"/>
              </a:ext>
            </a:extLst>
          </p:cNvPr>
          <p:cNvSpPr txBox="1"/>
          <p:nvPr/>
        </p:nvSpPr>
        <p:spPr>
          <a:xfrm>
            <a:off x="914400" y="2331720"/>
            <a:ext cx="3200400" cy="830997"/>
          </a:xfrm>
          <a:prstGeom prst="rect">
            <a:avLst/>
          </a:prstGeom>
          <a:noFill/>
        </p:spPr>
        <p:txBody>
          <a:bodyPr wrap="square" lIns="0" tIns="0" rIns="0" bIns="0">
            <a:spAutoFit/>
          </a:bodyPr>
          <a:lstStyle/>
          <a:p>
            <a:r>
              <a:rPr sz="5400" b="1" dirty="0">
                <a:solidFill>
                  <a:srgbClr val="C44536"/>
                </a:solidFill>
                <a:latin typeface="Calibri"/>
              </a:rPr>
              <a:t>24.6%</a:t>
            </a:r>
          </a:p>
        </p:txBody>
      </p:sp>
      <p:sp>
        <p:nvSpPr>
          <p:cNvPr id="8" name="TextBox 7">
            <a:extLst>
              <a:ext uri="{FF2B5EF4-FFF2-40B4-BE49-F238E27FC236}">
                <a16:creationId xmlns:a16="http://schemas.microsoft.com/office/drawing/2014/main" id="{7697A27B-3400-2A8C-1ED9-D1EED0D29328}"/>
              </a:ext>
            </a:extLst>
          </p:cNvPr>
          <p:cNvSpPr txBox="1"/>
          <p:nvPr/>
        </p:nvSpPr>
        <p:spPr>
          <a:xfrm>
            <a:off x="914400" y="3383280"/>
            <a:ext cx="3200400" cy="215444"/>
          </a:xfrm>
          <a:prstGeom prst="rect">
            <a:avLst/>
          </a:prstGeom>
          <a:noFill/>
        </p:spPr>
        <p:txBody>
          <a:bodyPr wrap="square" lIns="0" tIns="0" rIns="0" bIns="0">
            <a:spAutoFit/>
          </a:bodyPr>
          <a:lstStyle/>
          <a:p>
            <a:r>
              <a:rPr lang="en-US" sz="1400" dirty="0">
                <a:solidFill>
                  <a:srgbClr val="1F3A3D"/>
                </a:solidFill>
                <a:latin typeface="Calibri"/>
              </a:rPr>
              <a:t>2nd highest % across 9 tested</a:t>
            </a:r>
            <a:endParaRPr sz="1400" b="0" dirty="0">
              <a:solidFill>
                <a:srgbClr val="1F3A3D"/>
              </a:solidFill>
              <a:latin typeface="Calibri"/>
            </a:endParaRPr>
          </a:p>
        </p:txBody>
      </p:sp>
      <p:sp>
        <p:nvSpPr>
          <p:cNvPr id="9" name="TextBox 8">
            <a:extLst>
              <a:ext uri="{FF2B5EF4-FFF2-40B4-BE49-F238E27FC236}">
                <a16:creationId xmlns:a16="http://schemas.microsoft.com/office/drawing/2014/main" id="{4292B718-E199-4309-D572-3B8EF335E69B}"/>
              </a:ext>
            </a:extLst>
          </p:cNvPr>
          <p:cNvSpPr txBox="1"/>
          <p:nvPr/>
        </p:nvSpPr>
        <p:spPr>
          <a:xfrm>
            <a:off x="4727448" y="1920240"/>
            <a:ext cx="3200400" cy="246221"/>
          </a:xfrm>
          <a:prstGeom prst="rect">
            <a:avLst/>
          </a:prstGeom>
          <a:noFill/>
        </p:spPr>
        <p:txBody>
          <a:bodyPr wrap="square" lIns="0" tIns="0" rIns="0" bIns="0">
            <a:spAutoFit/>
          </a:bodyPr>
          <a:lstStyle/>
          <a:p>
            <a:r>
              <a:rPr sz="1600" dirty="0">
                <a:solidFill>
                  <a:srgbClr val="1F3A3D"/>
                </a:solidFill>
                <a:latin typeface="Calibri"/>
              </a:rPr>
              <a:t>BioShock</a:t>
            </a:r>
            <a:r>
              <a:rPr sz="1600" b="1" dirty="0">
                <a:solidFill>
                  <a:srgbClr val="1F3A3D"/>
                </a:solidFill>
                <a:latin typeface="Calibri"/>
              </a:rPr>
              <a:t> </a:t>
            </a:r>
            <a:r>
              <a:rPr sz="1600" dirty="0">
                <a:solidFill>
                  <a:srgbClr val="1F3A3D"/>
                </a:solidFill>
                <a:latin typeface="Calibri"/>
              </a:rPr>
              <a:t>2</a:t>
            </a:r>
          </a:p>
        </p:txBody>
      </p:sp>
      <p:sp>
        <p:nvSpPr>
          <p:cNvPr id="10" name="TextBox 9">
            <a:extLst>
              <a:ext uri="{FF2B5EF4-FFF2-40B4-BE49-F238E27FC236}">
                <a16:creationId xmlns:a16="http://schemas.microsoft.com/office/drawing/2014/main" id="{7BAF863F-3BB9-86BE-9CFE-0230CBD49F42}"/>
              </a:ext>
            </a:extLst>
          </p:cNvPr>
          <p:cNvSpPr txBox="1"/>
          <p:nvPr/>
        </p:nvSpPr>
        <p:spPr>
          <a:xfrm>
            <a:off x="4727448" y="2331720"/>
            <a:ext cx="3200400" cy="830997"/>
          </a:xfrm>
          <a:prstGeom prst="rect">
            <a:avLst/>
          </a:prstGeom>
          <a:noFill/>
        </p:spPr>
        <p:txBody>
          <a:bodyPr wrap="square" lIns="0" tIns="0" rIns="0" bIns="0">
            <a:spAutoFit/>
          </a:bodyPr>
          <a:lstStyle/>
          <a:p>
            <a:r>
              <a:rPr sz="5400" b="1" dirty="0">
                <a:solidFill>
                  <a:srgbClr val="C44536"/>
                </a:solidFill>
                <a:latin typeface="Calibri"/>
              </a:rPr>
              <a:t>23.5%</a:t>
            </a:r>
          </a:p>
        </p:txBody>
      </p:sp>
      <p:sp>
        <p:nvSpPr>
          <p:cNvPr id="11" name="TextBox 10">
            <a:extLst>
              <a:ext uri="{FF2B5EF4-FFF2-40B4-BE49-F238E27FC236}">
                <a16:creationId xmlns:a16="http://schemas.microsoft.com/office/drawing/2014/main" id="{AAAEC4E2-EB46-57EB-71A6-5F4CC3FDA3DE}"/>
              </a:ext>
            </a:extLst>
          </p:cNvPr>
          <p:cNvSpPr txBox="1"/>
          <p:nvPr/>
        </p:nvSpPr>
        <p:spPr>
          <a:xfrm>
            <a:off x="4727448" y="3383280"/>
            <a:ext cx="3200400" cy="215444"/>
          </a:xfrm>
          <a:prstGeom prst="rect">
            <a:avLst/>
          </a:prstGeom>
          <a:noFill/>
        </p:spPr>
        <p:txBody>
          <a:bodyPr wrap="square" lIns="0" tIns="0" rIns="0" bIns="0">
            <a:spAutoFit/>
          </a:bodyPr>
          <a:lstStyle/>
          <a:p>
            <a:r>
              <a:rPr lang="en-US" sz="1400" b="0" dirty="0">
                <a:solidFill>
                  <a:srgbClr val="1F3A3D"/>
                </a:solidFill>
                <a:latin typeface="Calibri"/>
              </a:rPr>
              <a:t>2</a:t>
            </a:r>
            <a:r>
              <a:rPr lang="en-US" sz="1400" b="0" baseline="30000" dirty="0">
                <a:solidFill>
                  <a:srgbClr val="1F3A3D"/>
                </a:solidFill>
                <a:latin typeface="Calibri"/>
              </a:rPr>
              <a:t>nd</a:t>
            </a:r>
            <a:r>
              <a:rPr lang="en-US" sz="1400" b="0" dirty="0">
                <a:solidFill>
                  <a:srgbClr val="1F3A3D"/>
                </a:solidFill>
                <a:latin typeface="Calibri"/>
              </a:rPr>
              <a:t> highest % across 9 tested</a:t>
            </a:r>
            <a:endParaRPr sz="1400" b="0" dirty="0">
              <a:solidFill>
                <a:srgbClr val="1F3A3D"/>
              </a:solidFill>
              <a:latin typeface="Calibri"/>
            </a:endParaRPr>
          </a:p>
        </p:txBody>
      </p:sp>
      <p:sp>
        <p:nvSpPr>
          <p:cNvPr id="12" name="TextBox 11">
            <a:extLst>
              <a:ext uri="{FF2B5EF4-FFF2-40B4-BE49-F238E27FC236}">
                <a16:creationId xmlns:a16="http://schemas.microsoft.com/office/drawing/2014/main" id="{BB15C8FE-9AAF-689C-4876-FFE950FBEAA5}"/>
              </a:ext>
            </a:extLst>
          </p:cNvPr>
          <p:cNvSpPr txBox="1"/>
          <p:nvPr/>
        </p:nvSpPr>
        <p:spPr>
          <a:xfrm>
            <a:off x="8531352" y="1920240"/>
            <a:ext cx="3200400" cy="246221"/>
          </a:xfrm>
          <a:prstGeom prst="rect">
            <a:avLst/>
          </a:prstGeom>
          <a:noFill/>
        </p:spPr>
        <p:txBody>
          <a:bodyPr wrap="square" lIns="0" tIns="0" rIns="0" bIns="0">
            <a:spAutoFit/>
          </a:bodyPr>
          <a:lstStyle/>
          <a:p>
            <a:r>
              <a:rPr sz="1600" dirty="0">
                <a:solidFill>
                  <a:srgbClr val="1F3A3D"/>
                </a:solidFill>
                <a:latin typeface="Calibri"/>
              </a:rPr>
              <a:t>Infinite</a:t>
            </a:r>
          </a:p>
        </p:txBody>
      </p:sp>
      <p:sp>
        <p:nvSpPr>
          <p:cNvPr id="13" name="TextBox 12">
            <a:extLst>
              <a:ext uri="{FF2B5EF4-FFF2-40B4-BE49-F238E27FC236}">
                <a16:creationId xmlns:a16="http://schemas.microsoft.com/office/drawing/2014/main" id="{2C5692B0-0FB3-814D-ABAA-272AC988775F}"/>
              </a:ext>
            </a:extLst>
          </p:cNvPr>
          <p:cNvSpPr txBox="1"/>
          <p:nvPr/>
        </p:nvSpPr>
        <p:spPr>
          <a:xfrm>
            <a:off x="8531352" y="2331720"/>
            <a:ext cx="3200400" cy="830997"/>
          </a:xfrm>
          <a:prstGeom prst="rect">
            <a:avLst/>
          </a:prstGeom>
          <a:noFill/>
        </p:spPr>
        <p:txBody>
          <a:bodyPr wrap="square" lIns="0" tIns="0" rIns="0" bIns="0">
            <a:spAutoFit/>
          </a:bodyPr>
          <a:lstStyle/>
          <a:p>
            <a:r>
              <a:rPr sz="5400" b="1" dirty="0">
                <a:solidFill>
                  <a:srgbClr val="C44536"/>
                </a:solidFill>
                <a:latin typeface="Calibri"/>
              </a:rPr>
              <a:t>40.4%</a:t>
            </a:r>
          </a:p>
        </p:txBody>
      </p:sp>
      <p:sp>
        <p:nvSpPr>
          <p:cNvPr id="14" name="TextBox 13">
            <a:extLst>
              <a:ext uri="{FF2B5EF4-FFF2-40B4-BE49-F238E27FC236}">
                <a16:creationId xmlns:a16="http://schemas.microsoft.com/office/drawing/2014/main" id="{7CD1A14B-8805-8B53-4EE2-651C8D51F487}"/>
              </a:ext>
            </a:extLst>
          </p:cNvPr>
          <p:cNvSpPr txBox="1"/>
          <p:nvPr/>
        </p:nvSpPr>
        <p:spPr>
          <a:xfrm>
            <a:off x="8531352" y="3383280"/>
            <a:ext cx="3200400" cy="215444"/>
          </a:xfrm>
          <a:prstGeom prst="rect">
            <a:avLst/>
          </a:prstGeom>
          <a:noFill/>
        </p:spPr>
        <p:txBody>
          <a:bodyPr wrap="square" lIns="0" tIns="0" rIns="0" bIns="0">
            <a:spAutoFit/>
          </a:bodyPr>
          <a:lstStyle/>
          <a:p>
            <a:r>
              <a:rPr lang="en-US" sz="1400" b="0" dirty="0">
                <a:solidFill>
                  <a:srgbClr val="1F3A3D"/>
                </a:solidFill>
                <a:latin typeface="Calibri"/>
              </a:rPr>
              <a:t>Highest % across 9 tested</a:t>
            </a:r>
            <a:endParaRPr sz="1400" b="0" dirty="0">
              <a:solidFill>
                <a:srgbClr val="1F3A3D"/>
              </a:solidFill>
              <a:latin typeface="Calibri"/>
            </a:endParaRPr>
          </a:p>
        </p:txBody>
      </p:sp>
      <p:sp>
        <p:nvSpPr>
          <p:cNvPr id="15" name="TextBox 14">
            <a:extLst>
              <a:ext uri="{FF2B5EF4-FFF2-40B4-BE49-F238E27FC236}">
                <a16:creationId xmlns:a16="http://schemas.microsoft.com/office/drawing/2014/main" id="{010212AC-72B2-35C0-284F-87FD14A302A0}"/>
              </a:ext>
            </a:extLst>
          </p:cNvPr>
          <p:cNvSpPr txBox="1"/>
          <p:nvPr/>
        </p:nvSpPr>
        <p:spPr>
          <a:xfrm>
            <a:off x="914400" y="4786665"/>
            <a:ext cx="10332720" cy="492443"/>
          </a:xfrm>
          <a:prstGeom prst="rect">
            <a:avLst/>
          </a:prstGeom>
          <a:noFill/>
        </p:spPr>
        <p:txBody>
          <a:bodyPr wrap="square" lIns="0" tIns="0" rIns="0" bIns="0">
            <a:spAutoFit/>
          </a:bodyPr>
          <a:lstStyle/>
          <a:p>
            <a:r>
              <a:rPr lang="en-US" sz="1600" b="0" dirty="0">
                <a:solidFill>
                  <a:srgbClr val="1F3A3D"/>
                </a:solidFill>
                <a:latin typeface="Calibri"/>
              </a:rPr>
              <a:t>Technical performance is mentioned in a higher % of reviews for BioShock 1 (25.0%) and BioShock 2 (40.3%), although reflects the port rather than game design.</a:t>
            </a:r>
            <a:endParaRPr sz="1600" b="0" dirty="0">
              <a:solidFill>
                <a:srgbClr val="1F3A3D"/>
              </a:solidFill>
              <a:latin typeface="Calibri"/>
            </a:endParaRPr>
          </a:p>
        </p:txBody>
      </p:sp>
      <p:cxnSp>
        <p:nvCxnSpPr>
          <p:cNvPr id="4" name="Straight Connector 3">
            <a:extLst>
              <a:ext uri="{FF2B5EF4-FFF2-40B4-BE49-F238E27FC236}">
                <a16:creationId xmlns:a16="http://schemas.microsoft.com/office/drawing/2014/main" id="{2CB1D831-6C24-9614-58C0-C694A9035755}"/>
              </a:ext>
            </a:extLst>
          </p:cNvPr>
          <p:cNvCxnSpPr/>
          <p:nvPr/>
        </p:nvCxnSpPr>
        <p:spPr>
          <a:xfrm>
            <a:off x="210152" y="4558346"/>
            <a:ext cx="11771696" cy="0"/>
          </a:xfrm>
          <a:prstGeom prst="line">
            <a:avLst/>
          </a:prstGeom>
          <a:ln>
            <a:solidFill>
              <a:schemeClr val="accent1">
                <a:alpha val="25000"/>
              </a:schemeClr>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F2885CB5-115A-315E-AF79-8AAA57F435A3}"/>
              </a:ext>
            </a:extLst>
          </p:cNvPr>
          <p:cNvCxnSpPr/>
          <p:nvPr/>
        </p:nvCxnSpPr>
        <p:spPr>
          <a:xfrm>
            <a:off x="3848986" y="2009553"/>
            <a:ext cx="0" cy="1690577"/>
          </a:xfrm>
          <a:prstGeom prst="line">
            <a:avLst/>
          </a:prstGeom>
          <a:ln>
            <a:solidFill>
              <a:srgbClr val="8C8C8C">
                <a:alpha val="25000"/>
              </a:srgb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90B84FB1-72EA-56D9-B75B-2BA432ABC769}"/>
              </a:ext>
            </a:extLst>
          </p:cNvPr>
          <p:cNvCxnSpPr>
            <a:cxnSpLocks/>
          </p:cNvCxnSpPr>
          <p:nvPr/>
        </p:nvCxnSpPr>
        <p:spPr>
          <a:xfrm>
            <a:off x="7662034" y="2043351"/>
            <a:ext cx="0" cy="1656779"/>
          </a:xfrm>
          <a:prstGeom prst="line">
            <a:avLst/>
          </a:prstGeom>
          <a:ln>
            <a:solidFill>
              <a:srgbClr val="8C8C8C">
                <a:alpha val="25000"/>
              </a:srgbClr>
            </a:solidFill>
          </a:ln>
        </p:spPr>
        <p:style>
          <a:lnRef idx="2">
            <a:schemeClr val="accent1"/>
          </a:lnRef>
          <a:fillRef idx="0">
            <a:schemeClr val="accent1"/>
          </a:fillRef>
          <a:effectRef idx="1">
            <a:schemeClr val="accent1"/>
          </a:effectRef>
          <a:fontRef idx="minor">
            <a:schemeClr val="tx1"/>
          </a:fontRef>
        </p:style>
      </p:cxnSp>
      <p:sp>
        <p:nvSpPr>
          <p:cNvPr id="16" name="Shape 6">
            <a:extLst>
              <a:ext uri="{FF2B5EF4-FFF2-40B4-BE49-F238E27FC236}">
                <a16:creationId xmlns:a16="http://schemas.microsoft.com/office/drawing/2014/main" id="{49A92B51-A313-E953-003D-A8FF89F219AB}"/>
              </a:ext>
            </a:extLst>
          </p:cNvPr>
          <p:cNvSpPr/>
          <p:nvPr/>
        </p:nvSpPr>
        <p:spPr>
          <a:xfrm>
            <a:off x="541020" y="1661869"/>
            <a:ext cx="11109960" cy="0"/>
          </a:xfrm>
          <a:prstGeom prst="line">
            <a:avLst/>
          </a:prstGeom>
          <a:noFill/>
          <a:ln w="12700">
            <a:solidFill>
              <a:srgbClr val="D9D9D9"/>
            </a:solidFill>
            <a:prstDash val="solid"/>
          </a:ln>
        </p:spPr>
        <p:txBody>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566681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gs>
            <a:gs pos="50000">
              <a:schemeClr val="bg1">
                <a:tint val="98000"/>
                <a:satMod val="130000"/>
                <a:shade val="90000"/>
                <a:lumMod val="103000"/>
              </a:schemeClr>
            </a:gs>
            <a:gs pos="100000">
              <a:schemeClr val="bg1">
                <a:shade val="63000"/>
                <a:satMod val="120000"/>
              </a:schemeClr>
            </a:gs>
          </a:gsLst>
          <a:lin ang="5400000" scaled="0"/>
        </a:gra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6BE6824-C750-C312-2A46-CBCAA041251A}"/>
              </a:ext>
            </a:extLst>
          </p:cNvPr>
          <p:cNvSpPr>
            <a:spLocks noGrp="1"/>
          </p:cNvSpPr>
          <p:nvPr>
            <p:ph type="title"/>
          </p:nvPr>
        </p:nvSpPr>
        <p:spPr/>
        <p:txBody>
          <a:bodyPr>
            <a:normAutofit/>
          </a:bodyPr>
          <a:lstStyle/>
          <a:p>
            <a:r>
              <a:rPr lang="en-US" b="1" dirty="0"/>
              <a:t>BioShock 1 &amp; 2 reviews mention technical performance in negative reviews at a higher rate than Infinite</a:t>
            </a:r>
          </a:p>
        </p:txBody>
      </p:sp>
      <p:sp>
        <p:nvSpPr>
          <p:cNvPr id="5" name="Text Placeholder 4">
            <a:extLst>
              <a:ext uri="{FF2B5EF4-FFF2-40B4-BE49-F238E27FC236}">
                <a16:creationId xmlns:a16="http://schemas.microsoft.com/office/drawing/2014/main" id="{FF7941FA-55BC-C46E-F96D-E5E378A64649}"/>
              </a:ext>
            </a:extLst>
          </p:cNvPr>
          <p:cNvSpPr>
            <a:spLocks noGrp="1"/>
          </p:cNvSpPr>
          <p:nvPr>
            <p:ph type="body" sz="quarter" idx="13"/>
          </p:nvPr>
        </p:nvSpPr>
        <p:spPr/>
        <p:txBody>
          <a:bodyPr/>
          <a:lstStyle/>
          <a:p>
            <a:r>
              <a:rPr lang="en-US" dirty="0"/>
              <a:t>Base: % of each game’s negative reviews (B1 4,698, B2 3,480, Infinite 4,182)</a:t>
            </a:r>
          </a:p>
          <a:p>
            <a:r>
              <a:rPr lang="en-US" dirty="0"/>
              <a:t>Technical detection recall was 58%, true mention rates likely higher than shown</a:t>
            </a:r>
          </a:p>
          <a:p>
            <a:endParaRPr lang="en-US" dirty="0"/>
          </a:p>
        </p:txBody>
      </p:sp>
      <p:pic>
        <p:nvPicPr>
          <p:cNvPr id="2" name="Picture 1" descr="f2_technical_negatives.png">
            <a:extLst>
              <a:ext uri="{FF2B5EF4-FFF2-40B4-BE49-F238E27FC236}">
                <a16:creationId xmlns:a16="http://schemas.microsoft.com/office/drawing/2014/main" id="{FBE8B35E-7299-F03A-1060-26CA558EF5DA}"/>
              </a:ext>
            </a:extLst>
          </p:cNvPr>
          <p:cNvPicPr>
            <a:picLocks noChangeAspect="1"/>
          </p:cNvPicPr>
          <p:nvPr/>
        </p:nvPicPr>
        <p:blipFill>
          <a:blip r:embed="rId2"/>
          <a:stretch>
            <a:fillRect/>
          </a:stretch>
        </p:blipFill>
        <p:spPr>
          <a:xfrm>
            <a:off x="1066800" y="1783080"/>
            <a:ext cx="10058400" cy="4023360"/>
          </a:xfrm>
          <a:prstGeom prst="rect">
            <a:avLst/>
          </a:prstGeom>
        </p:spPr>
      </p:pic>
    </p:spTree>
    <p:extLst>
      <p:ext uri="{BB962C8B-B14F-4D97-AF65-F5344CB8AC3E}">
        <p14:creationId xmlns:p14="http://schemas.microsoft.com/office/powerpoint/2010/main" val="14087883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gs>
            <a:gs pos="50000">
              <a:schemeClr val="bg1">
                <a:tint val="98000"/>
                <a:satMod val="130000"/>
                <a:shade val="90000"/>
                <a:lumMod val="103000"/>
              </a:schemeClr>
            </a:gs>
            <a:gs pos="100000">
              <a:schemeClr val="bg1">
                <a:shade val="63000"/>
                <a:satMod val="120000"/>
              </a:schemeClr>
            </a:gs>
          </a:gsLst>
          <a:lin ang="54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1DD14-7CE0-2AB3-B8A8-CABB9AB77F40}"/>
              </a:ext>
            </a:extLst>
          </p:cNvPr>
          <p:cNvSpPr>
            <a:spLocks noGrp="1"/>
          </p:cNvSpPr>
          <p:nvPr>
            <p:ph type="title"/>
          </p:nvPr>
        </p:nvSpPr>
        <p:spPr/>
        <p:txBody>
          <a:bodyPr/>
          <a:lstStyle/>
          <a:p>
            <a:r>
              <a:rPr lang="en-US" b="1" dirty="0"/>
              <a:t>Combat and pacing mentioned in a higher percent of Infinite’s negative reviews compared to remasters</a:t>
            </a:r>
          </a:p>
        </p:txBody>
      </p:sp>
      <p:sp>
        <p:nvSpPr>
          <p:cNvPr id="3" name="Text Placeholder 2">
            <a:extLst>
              <a:ext uri="{FF2B5EF4-FFF2-40B4-BE49-F238E27FC236}">
                <a16:creationId xmlns:a16="http://schemas.microsoft.com/office/drawing/2014/main" id="{29BFD4B8-1F29-5A55-B631-284C481B46D1}"/>
              </a:ext>
            </a:extLst>
          </p:cNvPr>
          <p:cNvSpPr>
            <a:spLocks noGrp="1"/>
          </p:cNvSpPr>
          <p:nvPr>
            <p:ph type="body" sz="quarter" idx="13"/>
          </p:nvPr>
        </p:nvSpPr>
        <p:spPr/>
        <p:txBody>
          <a:bodyPr/>
          <a:lstStyle/>
          <a:p>
            <a:r>
              <a:rPr lang="en-US"/>
              <a:t>Base: % of each game’s positive reviews and % of its negative reviews (B1 21,457 / 4,698) (B2 8,528 / 3,480) (Infinite 43,050 / 4,182)</a:t>
            </a:r>
          </a:p>
          <a:p>
            <a:r>
              <a:rPr lang="en-US"/>
              <a:t>Combat and pacing detection was weak (recall 57% and 40%)</a:t>
            </a:r>
            <a:endParaRPr lang="en-US" dirty="0"/>
          </a:p>
        </p:txBody>
      </p:sp>
      <p:pic>
        <p:nvPicPr>
          <p:cNvPr id="5" name="Picture 4">
            <a:extLst>
              <a:ext uri="{FF2B5EF4-FFF2-40B4-BE49-F238E27FC236}">
                <a16:creationId xmlns:a16="http://schemas.microsoft.com/office/drawing/2014/main" id="{4451838F-125F-32AE-7289-179061CFC7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5840" y="1783080"/>
            <a:ext cx="10058400" cy="4023360"/>
          </a:xfrm>
          <a:prstGeom prst="rect">
            <a:avLst/>
          </a:prstGeom>
        </p:spPr>
      </p:pic>
    </p:spTree>
    <p:extLst>
      <p:ext uri="{BB962C8B-B14F-4D97-AF65-F5344CB8AC3E}">
        <p14:creationId xmlns:p14="http://schemas.microsoft.com/office/powerpoint/2010/main" val="20761665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gs>
            <a:gs pos="50000">
              <a:schemeClr val="bg1">
                <a:tint val="98000"/>
                <a:satMod val="130000"/>
                <a:shade val="90000"/>
                <a:lumMod val="103000"/>
              </a:schemeClr>
            </a:gs>
            <a:gs pos="100000">
              <a:schemeClr val="bg1">
                <a:shade val="63000"/>
                <a:satMod val="120000"/>
              </a:schemeClr>
            </a:gs>
          </a:gsLst>
          <a:lin ang="54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396A0-20B1-409D-0FE7-41C79410F917}"/>
              </a:ext>
            </a:extLst>
          </p:cNvPr>
          <p:cNvSpPr>
            <a:spLocks noGrp="1"/>
          </p:cNvSpPr>
          <p:nvPr>
            <p:ph type="title"/>
          </p:nvPr>
        </p:nvSpPr>
        <p:spPr/>
        <p:txBody>
          <a:bodyPr/>
          <a:lstStyle/>
          <a:p>
            <a:r>
              <a:rPr lang="en-US" b="1" dirty="0"/>
              <a:t>Positive reviews skew higher in later eras and as playtime increased, except in Infinite’s later era decline</a:t>
            </a:r>
          </a:p>
        </p:txBody>
      </p:sp>
      <p:sp>
        <p:nvSpPr>
          <p:cNvPr id="3" name="Text Placeholder 2">
            <a:extLst>
              <a:ext uri="{FF2B5EF4-FFF2-40B4-BE49-F238E27FC236}">
                <a16:creationId xmlns:a16="http://schemas.microsoft.com/office/drawing/2014/main" id="{B9646471-44F2-6145-6158-9517D1143D38}"/>
              </a:ext>
            </a:extLst>
          </p:cNvPr>
          <p:cNvSpPr>
            <a:spLocks noGrp="1"/>
          </p:cNvSpPr>
          <p:nvPr>
            <p:ph type="body" sz="quarter" idx="13"/>
          </p:nvPr>
        </p:nvSpPr>
        <p:spPr/>
        <p:txBody>
          <a:bodyPr/>
          <a:lstStyle/>
          <a:p>
            <a:r>
              <a:rPr lang="en-US" dirty="0"/>
              <a:t>Base: % of each game's positive reviews within each era and playtime group (n varies)</a:t>
            </a:r>
          </a:p>
          <a:p>
            <a:r>
              <a:rPr lang="en-US" dirty="0"/>
              <a:t>Era and playtime groups represent different reviewers, not how individual perception changes over time</a:t>
            </a:r>
          </a:p>
        </p:txBody>
      </p:sp>
      <p:pic>
        <p:nvPicPr>
          <p:cNvPr id="5" name="Picture 4">
            <a:extLst>
              <a:ext uri="{FF2B5EF4-FFF2-40B4-BE49-F238E27FC236}">
                <a16:creationId xmlns:a16="http://schemas.microsoft.com/office/drawing/2014/main" id="{09E87C83-FCCC-FCDC-4C68-E06A2C4B77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5840" y="1783080"/>
            <a:ext cx="10058400" cy="4023360"/>
          </a:xfrm>
          <a:prstGeom prst="rect">
            <a:avLst/>
          </a:prstGeom>
        </p:spPr>
      </p:pic>
    </p:spTree>
    <p:extLst>
      <p:ext uri="{BB962C8B-B14F-4D97-AF65-F5344CB8AC3E}">
        <p14:creationId xmlns:p14="http://schemas.microsoft.com/office/powerpoint/2010/main" val="23170233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gs>
            <a:gs pos="50000">
              <a:schemeClr val="bg1">
                <a:tint val="98000"/>
                <a:satMod val="130000"/>
                <a:shade val="90000"/>
                <a:lumMod val="103000"/>
              </a:schemeClr>
            </a:gs>
            <a:gs pos="100000">
              <a:schemeClr val="bg1">
                <a:shade val="63000"/>
                <a:satMod val="120000"/>
              </a:schemeClr>
            </a:gs>
          </a:gsLst>
          <a:lin ang="54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FDEDC-6C7F-E6B8-8122-BAAB20305359}"/>
              </a:ext>
            </a:extLst>
          </p:cNvPr>
          <p:cNvSpPr>
            <a:spLocks noGrp="1"/>
          </p:cNvSpPr>
          <p:nvPr>
            <p:ph type="title"/>
          </p:nvPr>
        </p:nvSpPr>
        <p:spPr>
          <a:xfrm>
            <a:off x="548640" y="235819"/>
            <a:ext cx="10972800" cy="1097280"/>
          </a:xfrm>
        </p:spPr>
        <p:txBody>
          <a:bodyPr/>
          <a:lstStyle/>
          <a:p>
            <a:r>
              <a:rPr lang="en-US" dirty="0"/>
              <a:t>Hypothesis results</a:t>
            </a:r>
          </a:p>
        </p:txBody>
      </p:sp>
      <p:sp>
        <p:nvSpPr>
          <p:cNvPr id="3" name="Text Placeholder 2">
            <a:extLst>
              <a:ext uri="{FF2B5EF4-FFF2-40B4-BE49-F238E27FC236}">
                <a16:creationId xmlns:a16="http://schemas.microsoft.com/office/drawing/2014/main" id="{62AABB0E-EC64-504D-3B64-7E7E5EC575D3}"/>
              </a:ext>
            </a:extLst>
          </p:cNvPr>
          <p:cNvSpPr>
            <a:spLocks noGrp="1"/>
          </p:cNvSpPr>
          <p:nvPr>
            <p:ph type="body" sz="quarter" idx="13"/>
          </p:nvPr>
        </p:nvSpPr>
        <p:spPr/>
        <p:txBody>
          <a:bodyPr/>
          <a:lstStyle/>
          <a:p>
            <a:r>
              <a:rPr lang="en-US" dirty="0"/>
              <a:t>Predictions were committed before data was examined and any theme dictionaries were set</a:t>
            </a:r>
          </a:p>
        </p:txBody>
      </p:sp>
      <p:graphicFrame>
        <p:nvGraphicFramePr>
          <p:cNvPr id="5" name="Table 4">
            <a:extLst>
              <a:ext uri="{FF2B5EF4-FFF2-40B4-BE49-F238E27FC236}">
                <a16:creationId xmlns:a16="http://schemas.microsoft.com/office/drawing/2014/main" id="{2E9C5455-1B18-F035-8F12-576C6B3C5A3F}"/>
              </a:ext>
            </a:extLst>
          </p:cNvPr>
          <p:cNvGraphicFramePr>
            <a:graphicFrameLocks noGrp="1"/>
          </p:cNvGraphicFramePr>
          <p:nvPr>
            <p:extLst>
              <p:ext uri="{D42A27DB-BD31-4B8C-83A1-F6EECF244321}">
                <p14:modId xmlns:p14="http://schemas.microsoft.com/office/powerpoint/2010/main" val="1650110292"/>
              </p:ext>
            </p:extLst>
          </p:nvPr>
        </p:nvGraphicFramePr>
        <p:xfrm>
          <a:off x="548640" y="1513833"/>
          <a:ext cx="10972800" cy="4340472"/>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1999754805"/>
                    </a:ext>
                  </a:extLst>
                </a:gridCol>
                <a:gridCol w="3657600">
                  <a:extLst>
                    <a:ext uri="{9D8B030D-6E8A-4147-A177-3AD203B41FA5}">
                      <a16:colId xmlns:a16="http://schemas.microsoft.com/office/drawing/2014/main" val="1119822278"/>
                    </a:ext>
                  </a:extLst>
                </a:gridCol>
                <a:gridCol w="3657600">
                  <a:extLst>
                    <a:ext uri="{9D8B030D-6E8A-4147-A177-3AD203B41FA5}">
                      <a16:colId xmlns:a16="http://schemas.microsoft.com/office/drawing/2014/main" val="665306644"/>
                    </a:ext>
                  </a:extLst>
                </a:gridCol>
              </a:tblGrid>
              <a:tr h="262859">
                <a:tc>
                  <a:txBody>
                    <a:bodyPr/>
                    <a:lstStyle/>
                    <a:p>
                      <a:r>
                        <a:rPr lang="en-US" dirty="0">
                          <a:latin typeface="Calibri" panose="020F0502020204030204" pitchFamily="34" charset="0"/>
                          <a:ea typeface="Calibri" panose="020F0502020204030204" pitchFamily="34" charset="0"/>
                          <a:cs typeface="Calibri" panose="020F0502020204030204" pitchFamily="34" charset="0"/>
                        </a:rPr>
                        <a:t>Prediction</a:t>
                      </a:r>
                    </a:p>
                  </a:txBody>
                  <a:tcPr>
                    <a:solidFill>
                      <a:srgbClr val="C44536"/>
                    </a:solidFill>
                  </a:tcPr>
                </a:tc>
                <a:tc>
                  <a:txBody>
                    <a:bodyPr/>
                    <a:lstStyle/>
                    <a:p>
                      <a:r>
                        <a:rPr lang="en-US" dirty="0">
                          <a:latin typeface="Calibri" panose="020F0502020204030204" pitchFamily="34" charset="0"/>
                          <a:ea typeface="Calibri" panose="020F0502020204030204" pitchFamily="34" charset="0"/>
                          <a:cs typeface="Calibri" panose="020F0502020204030204" pitchFamily="34" charset="0"/>
                        </a:rPr>
                        <a:t>Evidence</a:t>
                      </a:r>
                    </a:p>
                  </a:txBody>
                  <a:tcPr>
                    <a:solidFill>
                      <a:srgbClr val="C44536"/>
                    </a:solidFill>
                  </a:tcPr>
                </a:tc>
                <a:tc>
                  <a:txBody>
                    <a:bodyPr/>
                    <a:lstStyle/>
                    <a:p>
                      <a:r>
                        <a:rPr lang="en-US" dirty="0"/>
                        <a:t>Result</a:t>
                      </a:r>
                    </a:p>
                  </a:txBody>
                  <a:tcPr>
                    <a:solidFill>
                      <a:srgbClr val="C44536"/>
                    </a:solidFill>
                  </a:tcPr>
                </a:tc>
                <a:extLst>
                  <a:ext uri="{0D108BD9-81ED-4DB2-BD59-A6C34878D82A}">
                    <a16:rowId xmlns:a16="http://schemas.microsoft.com/office/drawing/2014/main" val="798202763"/>
                  </a:ext>
                </a:extLst>
              </a:tr>
              <a:tr h="591432">
                <a:tc>
                  <a:txBody>
                    <a:bodyPr/>
                    <a:lstStyle/>
                    <a:p>
                      <a:r>
                        <a:rPr lang="en-US" sz="1600" dirty="0"/>
                        <a:t>BioShock’s positive reviews emphasize narrative and atmosphere</a:t>
                      </a:r>
                    </a:p>
                  </a:txBody>
                  <a:tcPr/>
                </a:tc>
                <a:tc>
                  <a:txBody>
                    <a:bodyPr/>
                    <a:lstStyle/>
                    <a:p>
                      <a:r>
                        <a:rPr lang="en-US" sz="1600" dirty="0"/>
                        <a:t>Narrative: + 27.6% / - 10.6%</a:t>
                      </a:r>
                    </a:p>
                    <a:p>
                      <a:r>
                        <a:rPr lang="en-US" sz="1600" dirty="0"/>
                        <a:t>Atmosphere: + 5.6% / - 1.9%</a:t>
                      </a:r>
                    </a:p>
                  </a:txBody>
                  <a:tcPr/>
                </a:tc>
                <a:tc>
                  <a:txBody>
                    <a:bodyPr/>
                    <a:lstStyle/>
                    <a:p>
                      <a:r>
                        <a:rPr lang="en-US" sz="1600" dirty="0"/>
                        <a:t>Partially confirmed</a:t>
                      </a:r>
                    </a:p>
                    <a:p>
                      <a:endParaRPr lang="en-US" sz="1600" dirty="0"/>
                    </a:p>
                  </a:txBody>
                  <a:tcPr/>
                </a:tc>
                <a:extLst>
                  <a:ext uri="{0D108BD9-81ED-4DB2-BD59-A6C34878D82A}">
                    <a16:rowId xmlns:a16="http://schemas.microsoft.com/office/drawing/2014/main" val="839974289"/>
                  </a:ext>
                </a:extLst>
              </a:tr>
              <a:tr h="591432">
                <a:tc>
                  <a:txBody>
                    <a:bodyPr/>
                    <a:lstStyle/>
                    <a:p>
                      <a:r>
                        <a:rPr lang="en-US" sz="1600" dirty="0"/>
                        <a:t>BioShock’s negative reviews emphasize pacing and combat</a:t>
                      </a:r>
                    </a:p>
                  </a:txBody>
                  <a:tcPr/>
                </a:tc>
                <a:tc>
                  <a:txBody>
                    <a:bodyPr/>
                    <a:lstStyle/>
                    <a:p>
                      <a:r>
                        <a:rPr lang="en-US" sz="1600" dirty="0"/>
                        <a:t>Pacing: + 4.5% / - 6.4%</a:t>
                      </a:r>
                    </a:p>
                    <a:p>
                      <a:r>
                        <a:rPr lang="en-US" sz="1600" dirty="0"/>
                        <a:t>Combat: + 10.5% / - 8%</a:t>
                      </a:r>
                    </a:p>
                    <a:p>
                      <a:endParaRPr lang="en-US" sz="1600" dirty="0"/>
                    </a:p>
                  </a:txBody>
                  <a:tcPr/>
                </a:tc>
                <a:tc>
                  <a:txBody>
                    <a:bodyPr/>
                    <a:lstStyle/>
                    <a:p>
                      <a:r>
                        <a:rPr lang="en-US" sz="1600" dirty="0"/>
                        <a:t>Not confirmed</a:t>
                      </a:r>
                    </a:p>
                  </a:txBody>
                  <a:tcPr/>
                </a:tc>
                <a:extLst>
                  <a:ext uri="{0D108BD9-81ED-4DB2-BD59-A6C34878D82A}">
                    <a16:rowId xmlns:a16="http://schemas.microsoft.com/office/drawing/2014/main" val="2571764729"/>
                  </a:ext>
                </a:extLst>
              </a:tr>
              <a:tr h="416193">
                <a:tc>
                  <a:txBody>
                    <a:bodyPr/>
                    <a:lstStyle/>
                    <a:p>
                      <a:r>
                        <a:rPr lang="en-US" sz="1600" dirty="0"/>
                        <a:t>BioShock 2’s positive reviews will emphasize combat mechanics</a:t>
                      </a:r>
                    </a:p>
                  </a:txBody>
                  <a:tcPr/>
                </a:tc>
                <a:tc>
                  <a:txBody>
                    <a:bodyPr/>
                    <a:lstStyle/>
                    <a:p>
                      <a:r>
                        <a:rPr lang="en-US" sz="1600" dirty="0"/>
                        <a:t>Combat: + 15.4% / - 7.9%</a:t>
                      </a:r>
                    </a:p>
                  </a:txBody>
                  <a:tcPr/>
                </a:tc>
                <a:tc>
                  <a:txBody>
                    <a:bodyPr/>
                    <a:lstStyle/>
                    <a:p>
                      <a:r>
                        <a:rPr lang="en-US" sz="1600" dirty="0"/>
                        <a:t>Partially confirmed</a:t>
                      </a:r>
                    </a:p>
                  </a:txBody>
                  <a:tcPr/>
                </a:tc>
                <a:extLst>
                  <a:ext uri="{0D108BD9-81ED-4DB2-BD59-A6C34878D82A}">
                    <a16:rowId xmlns:a16="http://schemas.microsoft.com/office/drawing/2014/main" val="394381954"/>
                  </a:ext>
                </a:extLst>
              </a:tr>
              <a:tr h="591432">
                <a:tc>
                  <a:txBody>
                    <a:bodyPr/>
                    <a:lstStyle/>
                    <a:p>
                      <a:r>
                        <a:rPr lang="en-US" sz="1600" dirty="0"/>
                        <a:t>BioShock 2’s negative reviews will emphasize storytelling elements and technical stability</a:t>
                      </a:r>
                    </a:p>
                  </a:txBody>
                  <a:tcPr/>
                </a:tc>
                <a:tc>
                  <a:txBody>
                    <a:bodyPr/>
                    <a:lstStyle/>
                    <a:p>
                      <a:r>
                        <a:rPr lang="en-US" sz="1600" dirty="0"/>
                        <a:t>Narrative: +28.3% / - 11.9%</a:t>
                      </a:r>
                    </a:p>
                    <a:p>
                      <a:r>
                        <a:rPr lang="en-US" sz="1600" dirty="0"/>
                        <a:t>Technical: + 26% / - 75.3%</a:t>
                      </a:r>
                    </a:p>
                  </a:txBody>
                  <a:tcPr/>
                </a:tc>
                <a:tc>
                  <a:txBody>
                    <a:bodyPr/>
                    <a:lstStyle/>
                    <a:p>
                      <a:r>
                        <a:rPr lang="en-US" sz="1600" dirty="0"/>
                        <a:t>Partially confirmed</a:t>
                      </a:r>
                    </a:p>
                  </a:txBody>
                  <a:tcPr/>
                </a:tc>
                <a:extLst>
                  <a:ext uri="{0D108BD9-81ED-4DB2-BD59-A6C34878D82A}">
                    <a16:rowId xmlns:a16="http://schemas.microsoft.com/office/drawing/2014/main" val="2992621788"/>
                  </a:ext>
                </a:extLst>
              </a:tr>
              <a:tr h="416193">
                <a:tc>
                  <a:txBody>
                    <a:bodyPr/>
                    <a:lstStyle/>
                    <a:p>
                      <a:r>
                        <a:rPr lang="en-US" sz="1600" dirty="0"/>
                        <a:t>Infinites  positive reviews will emphasize storytelling elements</a:t>
                      </a:r>
                    </a:p>
                  </a:txBody>
                  <a:tcPr/>
                </a:tc>
                <a:tc>
                  <a:txBody>
                    <a:bodyPr/>
                    <a:lstStyle/>
                    <a:p>
                      <a:r>
                        <a:rPr lang="en-US" sz="1600" dirty="0"/>
                        <a:t>Narrative: + 40.6% / - 38.4% negative</a:t>
                      </a:r>
                    </a:p>
                    <a:p>
                      <a:endParaRPr lang="en-US" sz="1600" dirty="0"/>
                    </a:p>
                  </a:txBody>
                  <a:tcPr/>
                </a:tc>
                <a:tc>
                  <a:txBody>
                    <a:bodyPr/>
                    <a:lstStyle/>
                    <a:p>
                      <a:r>
                        <a:rPr lang="en-US" sz="1600" dirty="0"/>
                        <a:t>Partially confirmed</a:t>
                      </a:r>
                    </a:p>
                  </a:txBody>
                  <a:tcPr/>
                </a:tc>
                <a:extLst>
                  <a:ext uri="{0D108BD9-81ED-4DB2-BD59-A6C34878D82A}">
                    <a16:rowId xmlns:a16="http://schemas.microsoft.com/office/drawing/2014/main" val="3659017348"/>
                  </a:ext>
                </a:extLst>
              </a:tr>
              <a:tr h="416193">
                <a:tc>
                  <a:txBody>
                    <a:bodyPr/>
                    <a:lstStyle/>
                    <a:p>
                      <a:r>
                        <a:rPr lang="en-US" sz="1600" dirty="0"/>
                        <a:t>Infinites negative reviews will emphasize mechanical aspects</a:t>
                      </a:r>
                    </a:p>
                  </a:txBody>
                  <a:tcPr/>
                </a:tc>
                <a:tc>
                  <a:txBody>
                    <a:bodyPr/>
                    <a:lstStyle/>
                    <a:p>
                      <a:r>
                        <a:rPr lang="en-US" sz="1600" dirty="0"/>
                        <a:t>Combat: + 12.2% / - 23.6% negative</a:t>
                      </a:r>
                    </a:p>
                  </a:txBody>
                  <a:tcPr/>
                </a:tc>
                <a:tc>
                  <a:txBody>
                    <a:bodyPr/>
                    <a:lstStyle/>
                    <a:p>
                      <a:r>
                        <a:rPr lang="en-US" sz="1600" dirty="0"/>
                        <a:t>Confirmed</a:t>
                      </a:r>
                    </a:p>
                  </a:txBody>
                  <a:tcPr/>
                </a:tc>
                <a:extLst>
                  <a:ext uri="{0D108BD9-81ED-4DB2-BD59-A6C34878D82A}">
                    <a16:rowId xmlns:a16="http://schemas.microsoft.com/office/drawing/2014/main" val="705505931"/>
                  </a:ext>
                </a:extLst>
              </a:tr>
            </a:tbl>
          </a:graphicData>
        </a:graphic>
      </p:graphicFrame>
    </p:spTree>
    <p:extLst>
      <p:ext uri="{BB962C8B-B14F-4D97-AF65-F5344CB8AC3E}">
        <p14:creationId xmlns:p14="http://schemas.microsoft.com/office/powerpoint/2010/main" val="19553868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gs>
            <a:gs pos="50000">
              <a:schemeClr val="bg1">
                <a:tint val="98000"/>
                <a:satMod val="130000"/>
                <a:shade val="90000"/>
                <a:lumMod val="103000"/>
              </a:schemeClr>
            </a:gs>
            <a:gs pos="100000">
              <a:schemeClr val="bg1">
                <a:shade val="63000"/>
                <a:satMod val="120000"/>
              </a:schemeClr>
            </a:gs>
          </a:gsLst>
          <a:lin ang="5400000" scaled="0"/>
        </a:gradFill>
        <a:effectLst/>
      </p:bgPr>
    </p:bg>
    <p:spTree>
      <p:nvGrpSpPr>
        <p:cNvPr id="1" name=""/>
        <p:cNvGrpSpPr/>
        <p:nvPr/>
      </p:nvGrpSpPr>
      <p:grpSpPr>
        <a:xfrm>
          <a:off x="0" y="0"/>
          <a:ext cx="0" cy="0"/>
          <a:chOff x="0" y="0"/>
          <a:chExt cx="0" cy="0"/>
        </a:xfrm>
      </p:grpSpPr>
      <p:sp>
        <p:nvSpPr>
          <p:cNvPr id="8" name="Shape 6"/>
          <p:cNvSpPr/>
          <p:nvPr/>
        </p:nvSpPr>
        <p:spPr>
          <a:xfrm>
            <a:off x="541020" y="1672502"/>
            <a:ext cx="11109960" cy="0"/>
          </a:xfrm>
          <a:prstGeom prst="line">
            <a:avLst/>
          </a:prstGeom>
          <a:noFill/>
          <a:ln w="12700">
            <a:solidFill>
              <a:srgbClr val="D9D9D9"/>
            </a:solidFill>
            <a:prstDash val="solid"/>
          </a:ln>
        </p:spPr>
        <p:txBody>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12" name="Shape 10"/>
          <p:cNvSpPr/>
          <p:nvPr/>
        </p:nvSpPr>
        <p:spPr>
          <a:xfrm>
            <a:off x="502920" y="2189987"/>
            <a:ext cx="73152" cy="1170432"/>
          </a:xfrm>
          <a:prstGeom prst="rect">
            <a:avLst/>
          </a:prstGeom>
          <a:solidFill>
            <a:srgbClr val="8F8F8F"/>
          </a:solidFill>
          <a:ln w="12700">
            <a:solidFill>
              <a:srgbClr val="8F8F8F"/>
            </a:solidFill>
            <a:prstDash val="solid"/>
          </a:ln>
        </p:spPr>
        <p:txBody>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14" name="Text 12"/>
          <p:cNvSpPr/>
          <p:nvPr/>
        </p:nvSpPr>
        <p:spPr>
          <a:xfrm>
            <a:off x="731520" y="2144267"/>
            <a:ext cx="320040" cy="256032"/>
          </a:xfrm>
          <a:prstGeom prst="rect">
            <a:avLst/>
          </a:prstGeom>
          <a:noFill/>
          <a:ln/>
        </p:spPr>
        <p:txBody>
          <a:bodyPr wrap="square" lIns="0" tIns="0" rIns="0" bIns="0" rtlCol="0" anchor="t">
            <a:normAutofit/>
          </a:bodyPr>
          <a:lstStyle/>
          <a:p>
            <a:pPr marL="0" indent="0" algn="l">
              <a:buNone/>
            </a:pPr>
            <a:r>
              <a:rPr lang="en-US" sz="1000" b="1" dirty="0">
                <a:solidFill>
                  <a:srgbClr val="777777"/>
                </a:solidFill>
                <a:latin typeface="Calibri" panose="020F0502020204030204" pitchFamily="34" charset="0"/>
                <a:ea typeface="Calibri" panose="020F0502020204030204" pitchFamily="34" charset="0"/>
                <a:cs typeface="Calibri" panose="020F0502020204030204" pitchFamily="34" charset="0"/>
              </a:rPr>
              <a:t>01</a:t>
            </a:r>
            <a:endParaRPr lang="en-US" sz="1000" dirty="0">
              <a:latin typeface="Calibri" panose="020F0502020204030204" pitchFamily="34" charset="0"/>
              <a:ea typeface="Calibri" panose="020F0502020204030204" pitchFamily="34" charset="0"/>
              <a:cs typeface="Calibri" panose="020F0502020204030204" pitchFamily="34" charset="0"/>
            </a:endParaRPr>
          </a:p>
        </p:txBody>
      </p:sp>
      <p:sp>
        <p:nvSpPr>
          <p:cNvPr id="15" name="Text 13"/>
          <p:cNvSpPr/>
          <p:nvPr/>
        </p:nvSpPr>
        <p:spPr>
          <a:xfrm>
            <a:off x="731520" y="2455163"/>
            <a:ext cx="3063240" cy="301752"/>
          </a:xfrm>
          <a:prstGeom prst="rect">
            <a:avLst/>
          </a:prstGeom>
          <a:noFill/>
          <a:ln/>
        </p:spPr>
        <p:txBody>
          <a:bodyPr wrap="square" lIns="0" tIns="0" rIns="0" bIns="0" rtlCol="0" anchor="t">
            <a:normAutofit fontScale="92500"/>
          </a:bodyPr>
          <a:lstStyle/>
          <a:p>
            <a:pPr marL="0" indent="0">
              <a:buNone/>
            </a:pPr>
            <a:r>
              <a:rPr lang="en-US" sz="1700" b="1" dirty="0">
                <a:solidFill>
                  <a:srgbClr val="1F3F44"/>
                </a:solidFill>
                <a:latin typeface="Calibri" panose="020F0502020204030204" pitchFamily="34" charset="0"/>
                <a:ea typeface="Calibri" panose="020F0502020204030204" pitchFamily="34" charset="0"/>
                <a:cs typeface="Calibri" panose="020F0502020204030204" pitchFamily="34" charset="0"/>
              </a:rPr>
              <a:t>Narrative is the essence of BioShock</a:t>
            </a:r>
            <a:endParaRPr lang="en-US" sz="1700" dirty="0">
              <a:latin typeface="Calibri" panose="020F0502020204030204" pitchFamily="34" charset="0"/>
              <a:ea typeface="Calibri" panose="020F0502020204030204" pitchFamily="34" charset="0"/>
              <a:cs typeface="Calibri" panose="020F0502020204030204" pitchFamily="34" charset="0"/>
            </a:endParaRPr>
          </a:p>
        </p:txBody>
      </p:sp>
      <p:sp>
        <p:nvSpPr>
          <p:cNvPr id="17" name="Text 15"/>
          <p:cNvSpPr/>
          <p:nvPr/>
        </p:nvSpPr>
        <p:spPr>
          <a:xfrm>
            <a:off x="777240" y="2913476"/>
            <a:ext cx="3063240" cy="685800"/>
          </a:xfrm>
          <a:prstGeom prst="rect">
            <a:avLst/>
          </a:prstGeom>
          <a:noFill/>
          <a:ln/>
        </p:spPr>
        <p:txBody>
          <a:bodyPr wrap="square" lIns="0" tIns="0" rIns="0" bIns="0" rtlCol="0" anchor="t">
            <a:normAutofit fontScale="92500" lnSpcReduction="10000"/>
          </a:bodyPr>
          <a:lstStyle/>
          <a:p>
            <a:pPr marL="0" indent="0">
              <a:buNone/>
            </a:pPr>
            <a:r>
              <a:rPr lang="en-US" sz="1300" dirty="0">
                <a:solidFill>
                  <a:srgbClr val="111111"/>
                </a:solidFill>
                <a:latin typeface="Calibri" panose="020F0502020204030204" pitchFamily="34" charset="0"/>
                <a:ea typeface="Calibri" panose="020F0502020204030204" pitchFamily="34" charset="0"/>
                <a:cs typeface="Calibri" panose="020F0502020204030204" pitchFamily="34" charset="0"/>
              </a:rPr>
              <a:t>Players recognize and discuss the rich narrative that has become the centerpiece of BioShock's identity. These elements should be protected in BioShock 4 development</a:t>
            </a:r>
            <a:endParaRPr lang="en-US" sz="1300" dirty="0">
              <a:latin typeface="Calibri" panose="020F0502020204030204" pitchFamily="34" charset="0"/>
              <a:ea typeface="Calibri" panose="020F0502020204030204" pitchFamily="34" charset="0"/>
              <a:cs typeface="Calibri" panose="020F0502020204030204" pitchFamily="34" charset="0"/>
            </a:endParaRPr>
          </a:p>
        </p:txBody>
      </p:sp>
      <p:sp>
        <p:nvSpPr>
          <p:cNvPr id="18" name="Shape 16"/>
          <p:cNvSpPr/>
          <p:nvPr/>
        </p:nvSpPr>
        <p:spPr>
          <a:xfrm>
            <a:off x="4343400" y="2189987"/>
            <a:ext cx="73152" cy="1170432"/>
          </a:xfrm>
          <a:prstGeom prst="rect">
            <a:avLst/>
          </a:prstGeom>
          <a:solidFill>
            <a:srgbClr val="8F8F8F"/>
          </a:solidFill>
          <a:ln w="12700">
            <a:solidFill>
              <a:srgbClr val="8F8F8F"/>
            </a:solidFill>
            <a:prstDash val="solid"/>
          </a:ln>
        </p:spPr>
        <p:txBody>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20" name="Text 18"/>
          <p:cNvSpPr/>
          <p:nvPr/>
        </p:nvSpPr>
        <p:spPr>
          <a:xfrm>
            <a:off x="4572000" y="2144267"/>
            <a:ext cx="320040" cy="256032"/>
          </a:xfrm>
          <a:prstGeom prst="rect">
            <a:avLst/>
          </a:prstGeom>
          <a:noFill/>
          <a:ln/>
        </p:spPr>
        <p:txBody>
          <a:bodyPr wrap="square" lIns="0" tIns="0" rIns="0" bIns="0" rtlCol="0" anchor="t">
            <a:normAutofit/>
          </a:bodyPr>
          <a:lstStyle/>
          <a:p>
            <a:pPr marL="0" indent="0" algn="l">
              <a:buNone/>
            </a:pPr>
            <a:r>
              <a:rPr lang="en-US" sz="1000" b="1" dirty="0">
                <a:solidFill>
                  <a:srgbClr val="777777"/>
                </a:solidFill>
                <a:latin typeface="Calibri" panose="020F0502020204030204" pitchFamily="34" charset="0"/>
                <a:ea typeface="Calibri" panose="020F0502020204030204" pitchFamily="34" charset="0"/>
                <a:cs typeface="Calibri" panose="020F0502020204030204" pitchFamily="34" charset="0"/>
              </a:rPr>
              <a:t>02</a:t>
            </a:r>
            <a:endParaRPr lang="en-US" sz="1000" dirty="0">
              <a:latin typeface="Calibri" panose="020F0502020204030204" pitchFamily="34" charset="0"/>
              <a:ea typeface="Calibri" panose="020F0502020204030204" pitchFamily="34" charset="0"/>
              <a:cs typeface="Calibri" panose="020F0502020204030204" pitchFamily="34" charset="0"/>
            </a:endParaRPr>
          </a:p>
        </p:txBody>
      </p:sp>
      <p:sp>
        <p:nvSpPr>
          <p:cNvPr id="21" name="Text 19"/>
          <p:cNvSpPr/>
          <p:nvPr/>
        </p:nvSpPr>
        <p:spPr>
          <a:xfrm>
            <a:off x="4572000" y="2455163"/>
            <a:ext cx="3108960" cy="301752"/>
          </a:xfrm>
          <a:prstGeom prst="rect">
            <a:avLst/>
          </a:prstGeom>
          <a:noFill/>
          <a:ln/>
        </p:spPr>
        <p:txBody>
          <a:bodyPr wrap="square" lIns="0" tIns="0" rIns="0" bIns="0" rtlCol="0" anchor="t">
            <a:normAutofit/>
          </a:bodyPr>
          <a:lstStyle/>
          <a:p>
            <a:pPr marL="0" indent="0">
              <a:buNone/>
            </a:pPr>
            <a:r>
              <a:rPr lang="en-US" sz="1700" b="1" dirty="0">
                <a:solidFill>
                  <a:srgbClr val="1F3F44"/>
                </a:solidFill>
                <a:latin typeface="Calibri" panose="020F0502020204030204" pitchFamily="34" charset="0"/>
                <a:ea typeface="Calibri" panose="020F0502020204030204" pitchFamily="34" charset="0"/>
                <a:cs typeface="Calibri" panose="020F0502020204030204" pitchFamily="34" charset="0"/>
              </a:rPr>
              <a:t>Stability can overshadow design</a:t>
            </a:r>
            <a:endParaRPr lang="en-US" sz="1700" dirty="0">
              <a:latin typeface="Calibri" panose="020F0502020204030204" pitchFamily="34" charset="0"/>
              <a:ea typeface="Calibri" panose="020F0502020204030204" pitchFamily="34" charset="0"/>
              <a:cs typeface="Calibri" panose="020F0502020204030204" pitchFamily="34" charset="0"/>
            </a:endParaRPr>
          </a:p>
        </p:txBody>
      </p:sp>
      <p:sp>
        <p:nvSpPr>
          <p:cNvPr id="23" name="Text 21"/>
          <p:cNvSpPr/>
          <p:nvPr/>
        </p:nvSpPr>
        <p:spPr>
          <a:xfrm>
            <a:off x="4572000" y="2921508"/>
            <a:ext cx="3108960" cy="685800"/>
          </a:xfrm>
          <a:prstGeom prst="rect">
            <a:avLst/>
          </a:prstGeom>
          <a:noFill/>
          <a:ln/>
        </p:spPr>
        <p:txBody>
          <a:bodyPr wrap="square" lIns="0" tIns="0" rIns="0" bIns="0" rtlCol="0" anchor="t">
            <a:normAutofit fontScale="92500" lnSpcReduction="10000"/>
          </a:bodyPr>
          <a:lstStyle/>
          <a:p>
            <a:pPr marL="0" indent="0">
              <a:buNone/>
            </a:pPr>
            <a:r>
              <a:rPr lang="en-US" sz="1300" dirty="0">
                <a:solidFill>
                  <a:srgbClr val="111111"/>
                </a:solidFill>
                <a:latin typeface="Calibri" panose="020F0502020204030204" pitchFamily="34" charset="0"/>
                <a:ea typeface="Calibri" panose="020F0502020204030204" pitchFamily="34" charset="0"/>
                <a:cs typeface="Calibri" panose="020F0502020204030204" pitchFamily="34" charset="0"/>
              </a:rPr>
              <a:t>Technical performance can negatively influence a player's perception and overshadow appreciation for design. Prioritize technical performance and functionality testing in BioShock 4</a:t>
            </a:r>
            <a:endParaRPr lang="en-US" sz="1300" dirty="0">
              <a:latin typeface="Calibri" panose="020F0502020204030204" pitchFamily="34" charset="0"/>
              <a:ea typeface="Calibri" panose="020F0502020204030204" pitchFamily="34" charset="0"/>
              <a:cs typeface="Calibri" panose="020F0502020204030204" pitchFamily="34" charset="0"/>
            </a:endParaRPr>
          </a:p>
        </p:txBody>
      </p:sp>
      <p:sp>
        <p:nvSpPr>
          <p:cNvPr id="24" name="Shape 22"/>
          <p:cNvSpPr/>
          <p:nvPr/>
        </p:nvSpPr>
        <p:spPr>
          <a:xfrm>
            <a:off x="8183880" y="2189987"/>
            <a:ext cx="73152" cy="1170432"/>
          </a:xfrm>
          <a:prstGeom prst="rect">
            <a:avLst/>
          </a:prstGeom>
          <a:solidFill>
            <a:srgbClr val="8C8C8C"/>
          </a:solidFill>
          <a:ln w="12700">
            <a:noFill/>
            <a:prstDash val="solid"/>
          </a:ln>
        </p:spPr>
        <p:txBody>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26" name="Text 24"/>
          <p:cNvSpPr/>
          <p:nvPr/>
        </p:nvSpPr>
        <p:spPr>
          <a:xfrm>
            <a:off x="8412480" y="2189987"/>
            <a:ext cx="320040" cy="256032"/>
          </a:xfrm>
          <a:prstGeom prst="rect">
            <a:avLst/>
          </a:prstGeom>
          <a:noFill/>
          <a:ln/>
        </p:spPr>
        <p:txBody>
          <a:bodyPr wrap="square" lIns="0" tIns="0" rIns="0" bIns="0" rtlCol="0" anchor="t">
            <a:normAutofit/>
          </a:bodyPr>
          <a:lstStyle/>
          <a:p>
            <a:pPr marL="0" indent="0" algn="l">
              <a:buNone/>
            </a:pPr>
            <a:r>
              <a:rPr lang="en-US" sz="1000" b="1" dirty="0">
                <a:solidFill>
                  <a:srgbClr val="777777"/>
                </a:solidFill>
                <a:latin typeface="Calibri" panose="020F0502020204030204" pitchFamily="34" charset="0"/>
                <a:ea typeface="Calibri" panose="020F0502020204030204" pitchFamily="34" charset="0"/>
                <a:cs typeface="Calibri" panose="020F0502020204030204" pitchFamily="34" charset="0"/>
              </a:rPr>
              <a:t>03</a:t>
            </a:r>
            <a:endParaRPr lang="en-US" sz="1000" dirty="0">
              <a:latin typeface="Calibri" panose="020F0502020204030204" pitchFamily="34" charset="0"/>
              <a:ea typeface="Calibri" panose="020F0502020204030204" pitchFamily="34" charset="0"/>
              <a:cs typeface="Calibri" panose="020F0502020204030204" pitchFamily="34" charset="0"/>
            </a:endParaRPr>
          </a:p>
        </p:txBody>
      </p:sp>
      <p:sp>
        <p:nvSpPr>
          <p:cNvPr id="27" name="Text 25"/>
          <p:cNvSpPr/>
          <p:nvPr/>
        </p:nvSpPr>
        <p:spPr>
          <a:xfrm>
            <a:off x="8412480" y="2400299"/>
            <a:ext cx="3779520" cy="356615"/>
          </a:xfrm>
          <a:prstGeom prst="rect">
            <a:avLst/>
          </a:prstGeom>
          <a:noFill/>
          <a:ln/>
        </p:spPr>
        <p:txBody>
          <a:bodyPr wrap="square" lIns="0" tIns="0" rIns="0" bIns="0" rtlCol="0" anchor="t">
            <a:noAutofit/>
          </a:bodyPr>
          <a:lstStyle/>
          <a:p>
            <a:pPr marL="0" indent="0">
              <a:buNone/>
            </a:pPr>
            <a:r>
              <a:rPr lang="en-US" sz="1700" b="1" dirty="0">
                <a:solidFill>
                  <a:srgbClr val="1F3F44"/>
                </a:solidFill>
                <a:latin typeface="Calibri" panose="020F0502020204030204" pitchFamily="34" charset="0"/>
                <a:ea typeface="Calibri" panose="020F0502020204030204" pitchFamily="34" charset="0"/>
                <a:cs typeface="Calibri" panose="020F0502020204030204" pitchFamily="34" charset="0"/>
              </a:rPr>
              <a:t>Infinite changed course on Combat</a:t>
            </a:r>
            <a:endParaRPr lang="en-US" sz="1700" dirty="0">
              <a:latin typeface="Calibri" panose="020F0502020204030204" pitchFamily="34" charset="0"/>
              <a:ea typeface="Calibri" panose="020F0502020204030204" pitchFamily="34" charset="0"/>
              <a:cs typeface="Calibri" panose="020F0502020204030204" pitchFamily="34" charset="0"/>
            </a:endParaRPr>
          </a:p>
        </p:txBody>
      </p:sp>
      <p:sp>
        <p:nvSpPr>
          <p:cNvPr id="29" name="Text 27"/>
          <p:cNvSpPr/>
          <p:nvPr/>
        </p:nvSpPr>
        <p:spPr>
          <a:xfrm>
            <a:off x="8412480" y="2921508"/>
            <a:ext cx="3200400" cy="685800"/>
          </a:xfrm>
          <a:prstGeom prst="rect">
            <a:avLst/>
          </a:prstGeom>
          <a:noFill/>
          <a:ln/>
        </p:spPr>
        <p:txBody>
          <a:bodyPr wrap="square" lIns="0" tIns="0" rIns="0" bIns="0" rtlCol="0" anchor="t">
            <a:normAutofit fontScale="85000" lnSpcReduction="20000"/>
          </a:bodyPr>
          <a:lstStyle/>
          <a:p>
            <a:pPr marL="0" indent="0">
              <a:buNone/>
            </a:pPr>
            <a:r>
              <a:rPr lang="en-US" sz="1300" dirty="0">
                <a:solidFill>
                  <a:srgbClr val="111111"/>
                </a:solidFill>
                <a:latin typeface="Calibri" panose="020F0502020204030204" pitchFamily="34" charset="0"/>
                <a:ea typeface="Calibri" panose="020F0502020204030204" pitchFamily="34" charset="0"/>
                <a:cs typeface="Calibri" panose="020F0502020204030204" pitchFamily="34" charset="0"/>
              </a:rPr>
              <a:t>Infinite was right to prioritize narrative, although players discussed the combat more often in negative reviews than previous titles. The next BioShock should address this imbalance and innovate upon the combat style players appreciated</a:t>
            </a:r>
            <a:endParaRPr lang="en-US" sz="1300" dirty="0">
              <a:latin typeface="Calibri" panose="020F0502020204030204" pitchFamily="34" charset="0"/>
              <a:ea typeface="Calibri" panose="020F0502020204030204" pitchFamily="34" charset="0"/>
              <a:cs typeface="Calibri" panose="020F0502020204030204" pitchFamily="34" charset="0"/>
            </a:endParaRPr>
          </a:p>
        </p:txBody>
      </p:sp>
      <p:sp>
        <p:nvSpPr>
          <p:cNvPr id="30" name="Shape 28"/>
          <p:cNvSpPr/>
          <p:nvPr/>
        </p:nvSpPr>
        <p:spPr>
          <a:xfrm>
            <a:off x="548639" y="4488853"/>
            <a:ext cx="11109960" cy="0"/>
          </a:xfrm>
          <a:prstGeom prst="line">
            <a:avLst/>
          </a:prstGeom>
          <a:noFill/>
          <a:ln w="12700">
            <a:solidFill>
              <a:srgbClr val="D9D9D9"/>
            </a:solidFill>
            <a:prstDash val="solid"/>
          </a:ln>
        </p:spPr>
        <p:txBody>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1" name="Shape 29"/>
          <p:cNvSpPr/>
          <p:nvPr/>
        </p:nvSpPr>
        <p:spPr>
          <a:xfrm>
            <a:off x="502920" y="5010912"/>
            <a:ext cx="109728" cy="749808"/>
          </a:xfrm>
          <a:prstGeom prst="rect">
            <a:avLst/>
          </a:prstGeom>
          <a:solidFill>
            <a:srgbClr val="C74636"/>
          </a:solidFill>
          <a:ln w="12700">
            <a:solidFill>
              <a:srgbClr val="C74636"/>
            </a:solidFill>
            <a:prstDash val="solid"/>
          </a:ln>
        </p:spPr>
        <p:txBody>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2" name="Text 30"/>
          <p:cNvSpPr/>
          <p:nvPr/>
        </p:nvSpPr>
        <p:spPr>
          <a:xfrm>
            <a:off x="731520" y="4892040"/>
            <a:ext cx="1005840" cy="228600"/>
          </a:xfrm>
          <a:prstGeom prst="rect">
            <a:avLst/>
          </a:prstGeom>
          <a:noFill/>
          <a:ln/>
        </p:spPr>
        <p:txBody>
          <a:bodyPr wrap="square" lIns="0" tIns="0" rIns="0" bIns="0" rtlCol="0" anchor="t">
            <a:normAutofit/>
          </a:bodyPr>
          <a:lstStyle/>
          <a:p>
            <a:pPr marL="0" indent="0">
              <a:buNone/>
            </a:pPr>
            <a:r>
              <a:rPr lang="en-US" sz="1050" b="1" dirty="0">
                <a:solidFill>
                  <a:srgbClr val="777777"/>
                </a:solidFill>
                <a:latin typeface="Calibri" panose="020F0502020204030204" pitchFamily="34" charset="0"/>
                <a:ea typeface="Calibri" panose="020F0502020204030204" pitchFamily="34" charset="0"/>
                <a:cs typeface="Calibri" panose="020F0502020204030204" pitchFamily="34" charset="0"/>
              </a:rPr>
              <a:t>Takeaway</a:t>
            </a:r>
            <a:endParaRPr lang="en-US" sz="1050" dirty="0">
              <a:latin typeface="Calibri" panose="020F0502020204030204" pitchFamily="34" charset="0"/>
              <a:ea typeface="Calibri" panose="020F0502020204030204" pitchFamily="34" charset="0"/>
              <a:cs typeface="Calibri" panose="020F0502020204030204" pitchFamily="34" charset="0"/>
            </a:endParaRPr>
          </a:p>
        </p:txBody>
      </p:sp>
      <p:sp>
        <p:nvSpPr>
          <p:cNvPr id="33" name="Text 31"/>
          <p:cNvSpPr/>
          <p:nvPr/>
        </p:nvSpPr>
        <p:spPr>
          <a:xfrm>
            <a:off x="731520" y="5118087"/>
            <a:ext cx="4114800" cy="621792"/>
          </a:xfrm>
          <a:prstGeom prst="rect">
            <a:avLst/>
          </a:prstGeom>
          <a:noFill/>
          <a:ln/>
        </p:spPr>
        <p:txBody>
          <a:bodyPr wrap="square" lIns="0" tIns="0" rIns="0" bIns="0" rtlCol="0" anchor="t">
            <a:normAutofit/>
          </a:bodyPr>
          <a:lstStyle/>
          <a:p>
            <a:pPr marL="0" indent="0">
              <a:buNone/>
            </a:pPr>
            <a:r>
              <a:rPr lang="en-US" sz="1800" b="1" dirty="0">
                <a:solidFill>
                  <a:srgbClr val="1F3F44"/>
                </a:solidFill>
                <a:latin typeface="Calibri" panose="020F0502020204030204" pitchFamily="34" charset="0"/>
                <a:ea typeface="Calibri" panose="020F0502020204030204" pitchFamily="34" charset="0"/>
                <a:cs typeface="Calibri" panose="020F0502020204030204" pitchFamily="34" charset="0"/>
              </a:rPr>
              <a:t>BioShock 4 must strike a balance between aspects it has proven it can deliver</a:t>
            </a:r>
            <a:endParaRPr lang="en-US" sz="1800" dirty="0">
              <a:latin typeface="Calibri" panose="020F0502020204030204" pitchFamily="34" charset="0"/>
              <a:ea typeface="Calibri" panose="020F0502020204030204" pitchFamily="34" charset="0"/>
              <a:cs typeface="Calibri" panose="020F0502020204030204" pitchFamily="34" charset="0"/>
            </a:endParaRPr>
          </a:p>
        </p:txBody>
      </p:sp>
      <p:sp>
        <p:nvSpPr>
          <p:cNvPr id="34" name="Text 32"/>
          <p:cNvSpPr/>
          <p:nvPr/>
        </p:nvSpPr>
        <p:spPr>
          <a:xfrm>
            <a:off x="5074920" y="5102352"/>
            <a:ext cx="6217920" cy="502920"/>
          </a:xfrm>
          <a:prstGeom prst="rect">
            <a:avLst/>
          </a:prstGeom>
          <a:noFill/>
          <a:ln/>
        </p:spPr>
        <p:txBody>
          <a:bodyPr wrap="square" lIns="0" tIns="0" rIns="0" bIns="0" rtlCol="0" anchor="t">
            <a:normAutofit fontScale="92500" lnSpcReduction="20000"/>
          </a:bodyPr>
          <a:lstStyle/>
          <a:p>
            <a:pPr marL="0" indent="0">
              <a:buNone/>
            </a:pPr>
            <a:r>
              <a:rPr lang="en-US" sz="1400" dirty="0">
                <a:solidFill>
                  <a:srgbClr val="111111"/>
                </a:solidFill>
                <a:latin typeface="Calibri" panose="020F0502020204030204" pitchFamily="34" charset="0"/>
                <a:ea typeface="Calibri" panose="020F0502020204030204" pitchFamily="34" charset="0"/>
                <a:cs typeface="Calibri" panose="020F0502020204030204" pitchFamily="34" charset="0"/>
              </a:rPr>
              <a:t>BioShock 4 should continue to protect its ambitious narrative driven identity while not losing sight of what makes the series immersive (combat). Delivering a polished product will be key to its initial success.</a:t>
            </a:r>
            <a:endParaRPr lang="en-US" sz="1400" dirty="0">
              <a:latin typeface="Calibri" panose="020F0502020204030204" pitchFamily="34" charset="0"/>
              <a:ea typeface="Calibri" panose="020F0502020204030204" pitchFamily="34" charset="0"/>
              <a:cs typeface="Calibri" panose="020F0502020204030204" pitchFamily="34" charset="0"/>
            </a:endParaRPr>
          </a:p>
        </p:txBody>
      </p:sp>
      <p:sp>
        <p:nvSpPr>
          <p:cNvPr id="7" name="Title 1">
            <a:extLst>
              <a:ext uri="{FF2B5EF4-FFF2-40B4-BE49-F238E27FC236}">
                <a16:creationId xmlns:a16="http://schemas.microsoft.com/office/drawing/2014/main" id="{F397E91B-8763-7E72-7D6E-B416C2895879}"/>
              </a:ext>
            </a:extLst>
          </p:cNvPr>
          <p:cNvSpPr txBox="1">
            <a:spLocks/>
          </p:cNvSpPr>
          <p:nvPr/>
        </p:nvSpPr>
        <p:spPr>
          <a:xfrm>
            <a:off x="548639" y="350656"/>
            <a:ext cx="10972800" cy="1097280"/>
          </a:xfrm>
          <a:prstGeom prst="rect">
            <a:avLst/>
          </a:prstGeom>
        </p:spPr>
        <p:txBody>
          <a:bodyPr anchor="b"/>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latin typeface="Calibri" panose="020F0502020204030204" pitchFamily="34" charset="0"/>
                <a:ea typeface="Calibri" panose="020F0502020204030204" pitchFamily="34" charset="0"/>
                <a:cs typeface="Calibri" panose="020F0502020204030204" pitchFamily="34" charset="0"/>
              </a:rPr>
              <a:t>What the findings suggest for the next BioShock</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gs>
            <a:gs pos="50000">
              <a:schemeClr val="bg1">
                <a:tint val="98000"/>
                <a:satMod val="130000"/>
                <a:shade val="90000"/>
                <a:lumMod val="103000"/>
              </a:schemeClr>
            </a:gs>
            <a:gs pos="100000">
              <a:schemeClr val="bg1">
                <a:shade val="63000"/>
                <a:satMod val="120000"/>
              </a:schemeClr>
            </a:gs>
          </a:gsLst>
          <a:lin ang="54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AE65AB-95DA-33E8-1F40-E94A1AB1EBC1}"/>
              </a:ext>
            </a:extLst>
          </p:cNvPr>
          <p:cNvSpPr>
            <a:spLocks noGrp="1"/>
          </p:cNvSpPr>
          <p:nvPr>
            <p:ph type="title"/>
          </p:nvPr>
        </p:nvSpPr>
        <p:spPr>
          <a:xfrm>
            <a:off x="548639" y="350656"/>
            <a:ext cx="10972800" cy="1097280"/>
          </a:xfrm>
        </p:spPr>
        <p:txBody>
          <a:bodyPr/>
          <a:lstStyle/>
          <a:p>
            <a:r>
              <a:rPr lang="en-US" b="1" dirty="0"/>
              <a:t>DOOM (2016) – When the revival goes right</a:t>
            </a:r>
          </a:p>
        </p:txBody>
      </p:sp>
      <p:sp>
        <p:nvSpPr>
          <p:cNvPr id="3" name="Text Placeholder 2">
            <a:extLst>
              <a:ext uri="{FF2B5EF4-FFF2-40B4-BE49-F238E27FC236}">
                <a16:creationId xmlns:a16="http://schemas.microsoft.com/office/drawing/2014/main" id="{FFFE0370-E09E-F2C4-7C18-84F2DCB4DB02}"/>
              </a:ext>
            </a:extLst>
          </p:cNvPr>
          <p:cNvSpPr>
            <a:spLocks noGrp="1"/>
          </p:cNvSpPr>
          <p:nvPr>
            <p:ph type="body" sz="quarter" idx="13"/>
          </p:nvPr>
        </p:nvSpPr>
        <p:spPr>
          <a:xfrm>
            <a:off x="548639" y="6198446"/>
            <a:ext cx="10972800" cy="457200"/>
          </a:xfrm>
        </p:spPr>
        <p:txBody>
          <a:bodyPr/>
          <a:lstStyle/>
          <a:p>
            <a:r>
              <a:rPr lang="en-US" dirty="0"/>
              <a:t>Base: DOOM (2016) data from steam store summary, accessed [9/3/2026]. Figures only intended to provide an example of a successful revival.</a:t>
            </a:r>
          </a:p>
        </p:txBody>
      </p:sp>
      <p:cxnSp>
        <p:nvCxnSpPr>
          <p:cNvPr id="7" name="Straight Arrow Connector 6">
            <a:extLst>
              <a:ext uri="{FF2B5EF4-FFF2-40B4-BE49-F238E27FC236}">
                <a16:creationId xmlns:a16="http://schemas.microsoft.com/office/drawing/2014/main" id="{87464295-BB23-5225-4B0A-E2E37806FB45}"/>
              </a:ext>
            </a:extLst>
          </p:cNvPr>
          <p:cNvCxnSpPr/>
          <p:nvPr/>
        </p:nvCxnSpPr>
        <p:spPr>
          <a:xfrm>
            <a:off x="3652787" y="2353489"/>
            <a:ext cx="4764505" cy="0"/>
          </a:xfrm>
          <a:prstGeom prst="straightConnector1">
            <a:avLst/>
          </a:prstGeom>
          <a:ln w="101600">
            <a:solidFill>
              <a:srgbClr val="8C8C8C"/>
            </a:solidFill>
            <a:headEnd type="oval"/>
            <a:tailEnd type="oval"/>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989135E9-55CA-2CDB-250C-30A1D34EE16B}"/>
              </a:ext>
            </a:extLst>
          </p:cNvPr>
          <p:cNvCxnSpPr/>
          <p:nvPr/>
        </p:nvCxnSpPr>
        <p:spPr>
          <a:xfrm>
            <a:off x="5025290" y="3488089"/>
            <a:ext cx="4764505" cy="0"/>
          </a:xfrm>
          <a:prstGeom prst="straightConnector1">
            <a:avLst/>
          </a:prstGeom>
          <a:ln w="101600">
            <a:solidFill>
              <a:srgbClr val="C44536"/>
            </a:solidFill>
            <a:headEnd type="oval"/>
            <a:tailEnd type="ova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C56FADCB-F83F-6D00-A855-CDDE0AC81BAC}"/>
              </a:ext>
            </a:extLst>
          </p:cNvPr>
          <p:cNvSpPr txBox="1"/>
          <p:nvPr/>
        </p:nvSpPr>
        <p:spPr>
          <a:xfrm>
            <a:off x="2320707" y="2214989"/>
            <a:ext cx="1453414" cy="276999"/>
          </a:xfrm>
          <a:prstGeom prst="rect">
            <a:avLst/>
          </a:prstGeom>
          <a:noFill/>
        </p:spPr>
        <p:txBody>
          <a:bodyPr wrap="square" rtlCol="0">
            <a:spAutoFit/>
          </a:bodyPr>
          <a:lstStyle/>
          <a:p>
            <a:r>
              <a:rPr lang="en-US" sz="1200" dirty="0">
                <a:latin typeface="Calibri" panose="020F0502020204030204" pitchFamily="34" charset="0"/>
                <a:ea typeface="Calibri" panose="020F0502020204030204" pitchFamily="34" charset="0"/>
                <a:cs typeface="Calibri" panose="020F0502020204030204" pitchFamily="34" charset="0"/>
              </a:rPr>
              <a:t>Doom 3 (</a:t>
            </a:r>
            <a:r>
              <a:rPr lang="en-US" sz="1100" dirty="0">
                <a:latin typeface="Calibri" panose="020F0502020204030204" pitchFamily="34" charset="0"/>
                <a:ea typeface="Calibri" panose="020F0502020204030204" pitchFamily="34" charset="0"/>
                <a:cs typeface="Calibri" panose="020F0502020204030204" pitchFamily="34" charset="0"/>
              </a:rPr>
              <a:t>2004</a:t>
            </a:r>
            <a:r>
              <a:rPr lang="en-US" sz="1200" dirty="0">
                <a:latin typeface="Calibri" panose="020F0502020204030204" pitchFamily="34" charset="0"/>
                <a:ea typeface="Calibri" panose="020F0502020204030204" pitchFamily="34" charset="0"/>
                <a:cs typeface="Calibri" panose="020F0502020204030204" pitchFamily="34" charset="0"/>
              </a:rPr>
              <a:t>)</a:t>
            </a:r>
          </a:p>
        </p:txBody>
      </p:sp>
      <p:sp>
        <p:nvSpPr>
          <p:cNvPr id="12" name="TextBox 11">
            <a:extLst>
              <a:ext uri="{FF2B5EF4-FFF2-40B4-BE49-F238E27FC236}">
                <a16:creationId xmlns:a16="http://schemas.microsoft.com/office/drawing/2014/main" id="{FE2F9ABC-27B3-AAAE-46B7-BD53448223CF}"/>
              </a:ext>
            </a:extLst>
          </p:cNvPr>
          <p:cNvSpPr txBox="1"/>
          <p:nvPr/>
        </p:nvSpPr>
        <p:spPr>
          <a:xfrm>
            <a:off x="3699693" y="3318882"/>
            <a:ext cx="1087655" cy="430887"/>
          </a:xfrm>
          <a:prstGeom prst="rect">
            <a:avLst/>
          </a:prstGeom>
          <a:noFill/>
        </p:spPr>
        <p:txBody>
          <a:bodyPr wrap="square" rtlCol="0">
            <a:spAutoFit/>
          </a:bodyPr>
          <a:lstStyle/>
          <a:p>
            <a:r>
              <a:rPr lang="en-US" sz="1100" dirty="0">
                <a:latin typeface="Calibri" panose="020F0502020204030204" pitchFamily="34" charset="0"/>
                <a:ea typeface="Calibri" panose="020F0502020204030204" pitchFamily="34" charset="0"/>
                <a:cs typeface="Calibri" panose="020F0502020204030204" pitchFamily="34" charset="0"/>
              </a:rPr>
              <a:t>BioShock Infinite (2013)</a:t>
            </a:r>
          </a:p>
        </p:txBody>
      </p:sp>
      <p:sp>
        <p:nvSpPr>
          <p:cNvPr id="13" name="TextBox 12">
            <a:extLst>
              <a:ext uri="{FF2B5EF4-FFF2-40B4-BE49-F238E27FC236}">
                <a16:creationId xmlns:a16="http://schemas.microsoft.com/office/drawing/2014/main" id="{B94972CE-B7D9-ED2D-C73B-C63589E5CC93}"/>
              </a:ext>
            </a:extLst>
          </p:cNvPr>
          <p:cNvSpPr txBox="1"/>
          <p:nvPr/>
        </p:nvSpPr>
        <p:spPr>
          <a:xfrm>
            <a:off x="10128470" y="3274741"/>
            <a:ext cx="1087655" cy="430887"/>
          </a:xfrm>
          <a:prstGeom prst="rect">
            <a:avLst/>
          </a:prstGeom>
          <a:noFill/>
        </p:spPr>
        <p:txBody>
          <a:bodyPr wrap="square" rtlCol="0">
            <a:spAutoFit/>
          </a:bodyPr>
          <a:lstStyle/>
          <a:p>
            <a:r>
              <a:rPr lang="en-US" sz="1100" dirty="0">
                <a:latin typeface="Calibri" panose="020F0502020204030204" pitchFamily="34" charset="0"/>
                <a:ea typeface="Calibri" panose="020F0502020204030204" pitchFamily="34" charset="0"/>
                <a:cs typeface="Calibri" panose="020F0502020204030204" pitchFamily="34" charset="0"/>
              </a:rPr>
              <a:t>BioShock 4? (TBD)</a:t>
            </a:r>
          </a:p>
        </p:txBody>
      </p:sp>
      <p:sp>
        <p:nvSpPr>
          <p:cNvPr id="14" name="TextBox 13">
            <a:extLst>
              <a:ext uri="{FF2B5EF4-FFF2-40B4-BE49-F238E27FC236}">
                <a16:creationId xmlns:a16="http://schemas.microsoft.com/office/drawing/2014/main" id="{1183A2B8-F719-CAD0-F576-3D038A12C7AE}"/>
              </a:ext>
            </a:extLst>
          </p:cNvPr>
          <p:cNvSpPr txBox="1"/>
          <p:nvPr/>
        </p:nvSpPr>
        <p:spPr>
          <a:xfrm>
            <a:off x="8686565" y="2152874"/>
            <a:ext cx="2206460" cy="430887"/>
          </a:xfrm>
          <a:prstGeom prst="rect">
            <a:avLst/>
          </a:prstGeom>
          <a:noFill/>
        </p:spPr>
        <p:txBody>
          <a:bodyPr wrap="square" rtlCol="0">
            <a:spAutoFit/>
          </a:bodyPr>
          <a:lstStyle/>
          <a:p>
            <a:r>
              <a:rPr lang="en-US" sz="1100" dirty="0">
                <a:latin typeface="Calibri" panose="020F0502020204030204" pitchFamily="34" charset="0"/>
                <a:ea typeface="Calibri" panose="020F0502020204030204" pitchFamily="34" charset="0"/>
                <a:cs typeface="Calibri" panose="020F0502020204030204" pitchFamily="34" charset="0"/>
              </a:rPr>
              <a:t>Doom (2016)</a:t>
            </a:r>
          </a:p>
          <a:p>
            <a:r>
              <a:rPr lang="en-US" sz="1100" dirty="0">
                <a:solidFill>
                  <a:srgbClr val="C44536"/>
                </a:solidFill>
                <a:latin typeface="Calibri" panose="020F0502020204030204" pitchFamily="34" charset="0"/>
                <a:ea typeface="Calibri" panose="020F0502020204030204" pitchFamily="34" charset="0"/>
                <a:cs typeface="Calibri" panose="020F0502020204030204" pitchFamily="34" charset="0"/>
              </a:rPr>
              <a:t>95% positive  84,839 reviews</a:t>
            </a:r>
          </a:p>
        </p:txBody>
      </p:sp>
      <p:sp>
        <p:nvSpPr>
          <p:cNvPr id="15" name="TextBox 14">
            <a:extLst>
              <a:ext uri="{FF2B5EF4-FFF2-40B4-BE49-F238E27FC236}">
                <a16:creationId xmlns:a16="http://schemas.microsoft.com/office/drawing/2014/main" id="{45368EDA-1BEC-C966-3331-B2B1CDE9777F}"/>
              </a:ext>
            </a:extLst>
          </p:cNvPr>
          <p:cNvSpPr txBox="1"/>
          <p:nvPr/>
        </p:nvSpPr>
        <p:spPr>
          <a:xfrm>
            <a:off x="360063" y="3257327"/>
            <a:ext cx="1886216" cy="553998"/>
          </a:xfrm>
          <a:prstGeom prst="rect">
            <a:avLst/>
          </a:prstGeom>
          <a:noFill/>
        </p:spPr>
        <p:txBody>
          <a:bodyPr wrap="square" rtlCol="0">
            <a:spAutoFit/>
          </a:bodyPr>
          <a:lstStyle/>
          <a:p>
            <a:r>
              <a:rPr lang="en-US" sz="3000" dirty="0">
                <a:solidFill>
                  <a:srgbClr val="C44536"/>
                </a:solidFill>
                <a:latin typeface="Calibri" panose="020F0502020204030204" pitchFamily="34" charset="0"/>
                <a:ea typeface="Calibri" panose="020F0502020204030204" pitchFamily="34" charset="0"/>
                <a:cs typeface="Calibri" panose="020F0502020204030204" pitchFamily="34" charset="0"/>
              </a:rPr>
              <a:t>13 years</a:t>
            </a:r>
          </a:p>
        </p:txBody>
      </p:sp>
      <p:sp>
        <p:nvSpPr>
          <p:cNvPr id="16" name="TextBox 15">
            <a:extLst>
              <a:ext uri="{FF2B5EF4-FFF2-40B4-BE49-F238E27FC236}">
                <a16:creationId xmlns:a16="http://schemas.microsoft.com/office/drawing/2014/main" id="{9B7B47CC-5EEA-2816-E0A6-8E6BFC8CE4DF}"/>
              </a:ext>
            </a:extLst>
          </p:cNvPr>
          <p:cNvSpPr txBox="1"/>
          <p:nvPr/>
        </p:nvSpPr>
        <p:spPr>
          <a:xfrm>
            <a:off x="360063" y="2076490"/>
            <a:ext cx="1886216" cy="553998"/>
          </a:xfrm>
          <a:prstGeom prst="rect">
            <a:avLst/>
          </a:prstGeom>
          <a:noFill/>
        </p:spPr>
        <p:txBody>
          <a:bodyPr wrap="square" rtlCol="0">
            <a:spAutoFit/>
          </a:bodyPr>
          <a:lstStyle/>
          <a:p>
            <a:r>
              <a:rPr lang="en-US" sz="3000" dirty="0">
                <a:solidFill>
                  <a:srgbClr val="8C8C8C"/>
                </a:solidFill>
                <a:latin typeface="Calibri" panose="020F0502020204030204" pitchFamily="34" charset="0"/>
                <a:ea typeface="Calibri" panose="020F0502020204030204" pitchFamily="34" charset="0"/>
                <a:cs typeface="Calibri" panose="020F0502020204030204" pitchFamily="34" charset="0"/>
              </a:rPr>
              <a:t>12 years</a:t>
            </a:r>
          </a:p>
        </p:txBody>
      </p:sp>
      <p:sp>
        <p:nvSpPr>
          <p:cNvPr id="22" name="TextBox 21">
            <a:extLst>
              <a:ext uri="{FF2B5EF4-FFF2-40B4-BE49-F238E27FC236}">
                <a16:creationId xmlns:a16="http://schemas.microsoft.com/office/drawing/2014/main" id="{5B8E931F-F3A1-0EE3-D745-B68222E1FDA6}"/>
              </a:ext>
            </a:extLst>
          </p:cNvPr>
          <p:cNvSpPr txBox="1"/>
          <p:nvPr/>
        </p:nvSpPr>
        <p:spPr>
          <a:xfrm rot="10800000" flipV="1">
            <a:off x="7049519" y="4928766"/>
            <a:ext cx="4007118" cy="830997"/>
          </a:xfrm>
          <a:prstGeom prst="rect">
            <a:avLst/>
          </a:prstGeom>
          <a:noFill/>
        </p:spPr>
        <p:txBody>
          <a:bodyPr wrap="square" rtlCol="0">
            <a:spAutoFit/>
          </a:bodyPr>
          <a:lstStyle/>
          <a:p>
            <a:r>
              <a:rPr lang="en-US" sz="1600" dirty="0">
                <a:solidFill>
                  <a:srgbClr val="8C8C8C"/>
                </a:solidFill>
                <a:latin typeface="Calibri" panose="020F0502020204030204" pitchFamily="34" charset="0"/>
                <a:ea typeface="Calibri" panose="020F0502020204030204" pitchFamily="34" charset="0"/>
                <a:cs typeface="Calibri" panose="020F0502020204030204" pitchFamily="34" charset="0"/>
              </a:rPr>
              <a:t>The 2016 DOOM release serves as an example of the success that can follow from reviving an acclaimed title/series</a:t>
            </a:r>
          </a:p>
        </p:txBody>
      </p:sp>
      <p:cxnSp>
        <p:nvCxnSpPr>
          <p:cNvPr id="24" name="Straight Connector 23">
            <a:extLst>
              <a:ext uri="{FF2B5EF4-FFF2-40B4-BE49-F238E27FC236}">
                <a16:creationId xmlns:a16="http://schemas.microsoft.com/office/drawing/2014/main" id="{D71CA727-A495-BD4D-560F-A402D8E1C4F7}"/>
              </a:ext>
            </a:extLst>
          </p:cNvPr>
          <p:cNvCxnSpPr>
            <a:cxnSpLocks/>
          </p:cNvCxnSpPr>
          <p:nvPr/>
        </p:nvCxnSpPr>
        <p:spPr>
          <a:xfrm>
            <a:off x="733647" y="4625163"/>
            <a:ext cx="10924952" cy="0"/>
          </a:xfrm>
          <a:prstGeom prst="line">
            <a:avLst/>
          </a:prstGeom>
          <a:ln w="12700">
            <a:solidFill>
              <a:srgbClr val="8C8C8C">
                <a:alpha val="25000"/>
              </a:srgbClr>
            </a:solidFill>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A3FB72E9-43ED-51C1-40D3-3FBE6F007BF8}"/>
              </a:ext>
            </a:extLst>
          </p:cNvPr>
          <p:cNvSpPr txBox="1"/>
          <p:nvPr/>
        </p:nvSpPr>
        <p:spPr>
          <a:xfrm>
            <a:off x="867616" y="4925483"/>
            <a:ext cx="1864951" cy="646331"/>
          </a:xfrm>
          <a:prstGeom prst="rect">
            <a:avLst/>
          </a:prstGeom>
          <a:noFill/>
        </p:spPr>
        <p:txBody>
          <a:bodyPr wrap="square" rtlCol="0">
            <a:spAutoFit/>
          </a:bodyPr>
          <a:lstStyle/>
          <a:p>
            <a:r>
              <a:rPr lang="en-US" sz="3600" dirty="0">
                <a:solidFill>
                  <a:srgbClr val="C44536"/>
                </a:solidFill>
                <a:latin typeface="Calibri" panose="020F0502020204030204" pitchFamily="34" charset="0"/>
                <a:ea typeface="Calibri" panose="020F0502020204030204" pitchFamily="34" charset="0"/>
                <a:cs typeface="Calibri" panose="020F0502020204030204" pitchFamily="34" charset="0"/>
              </a:rPr>
              <a:t>95% </a:t>
            </a:r>
          </a:p>
        </p:txBody>
      </p:sp>
      <p:sp>
        <p:nvSpPr>
          <p:cNvPr id="26" name="TextBox 25">
            <a:extLst>
              <a:ext uri="{FF2B5EF4-FFF2-40B4-BE49-F238E27FC236}">
                <a16:creationId xmlns:a16="http://schemas.microsoft.com/office/drawing/2014/main" id="{14EC1D35-7D39-950D-276E-6A43CCC832CB}"/>
              </a:ext>
            </a:extLst>
          </p:cNvPr>
          <p:cNvSpPr txBox="1"/>
          <p:nvPr/>
        </p:nvSpPr>
        <p:spPr>
          <a:xfrm>
            <a:off x="548640" y="5557205"/>
            <a:ext cx="1864951" cy="246221"/>
          </a:xfrm>
          <a:prstGeom prst="rect">
            <a:avLst/>
          </a:prstGeom>
          <a:noFill/>
        </p:spPr>
        <p:txBody>
          <a:bodyPr wrap="square" rtlCol="0">
            <a:spAutoFit/>
          </a:bodyPr>
          <a:lstStyle/>
          <a:p>
            <a:r>
              <a:rPr lang="en-US" sz="1000" dirty="0">
                <a:solidFill>
                  <a:srgbClr val="8C8C8C"/>
                </a:solidFill>
                <a:latin typeface="Calibri" panose="020F0502020204030204" pitchFamily="34" charset="0"/>
                <a:ea typeface="Calibri" panose="020F0502020204030204" pitchFamily="34" charset="0"/>
                <a:cs typeface="Calibri" panose="020F0502020204030204" pitchFamily="34" charset="0"/>
              </a:rPr>
              <a:t>DOOM (2016) reviews positive </a:t>
            </a:r>
          </a:p>
        </p:txBody>
      </p:sp>
      <p:sp>
        <p:nvSpPr>
          <p:cNvPr id="27" name="TextBox 26">
            <a:extLst>
              <a:ext uri="{FF2B5EF4-FFF2-40B4-BE49-F238E27FC236}">
                <a16:creationId xmlns:a16="http://schemas.microsoft.com/office/drawing/2014/main" id="{50470C37-59D8-4A15-696A-1BEB01ACC158}"/>
              </a:ext>
            </a:extLst>
          </p:cNvPr>
          <p:cNvSpPr txBox="1"/>
          <p:nvPr/>
        </p:nvSpPr>
        <p:spPr>
          <a:xfrm>
            <a:off x="3250018" y="4937169"/>
            <a:ext cx="2626242" cy="646331"/>
          </a:xfrm>
          <a:prstGeom prst="rect">
            <a:avLst/>
          </a:prstGeom>
          <a:noFill/>
        </p:spPr>
        <p:txBody>
          <a:bodyPr wrap="square" rtlCol="0">
            <a:spAutoFit/>
          </a:bodyPr>
          <a:lstStyle/>
          <a:p>
            <a:r>
              <a:rPr lang="en-US" sz="3600" dirty="0">
                <a:solidFill>
                  <a:srgbClr val="C44536"/>
                </a:solidFill>
              </a:rPr>
              <a:t>84,839</a:t>
            </a:r>
          </a:p>
        </p:txBody>
      </p:sp>
      <p:sp>
        <p:nvSpPr>
          <p:cNvPr id="28" name="TextBox 27">
            <a:extLst>
              <a:ext uri="{FF2B5EF4-FFF2-40B4-BE49-F238E27FC236}">
                <a16:creationId xmlns:a16="http://schemas.microsoft.com/office/drawing/2014/main" id="{033C157B-CE43-B3EB-7903-E864520C9FD3}"/>
              </a:ext>
            </a:extLst>
          </p:cNvPr>
          <p:cNvSpPr txBox="1"/>
          <p:nvPr/>
        </p:nvSpPr>
        <p:spPr>
          <a:xfrm>
            <a:off x="3263347" y="5557205"/>
            <a:ext cx="2757377" cy="538609"/>
          </a:xfrm>
          <a:prstGeom prst="rect">
            <a:avLst/>
          </a:prstGeom>
          <a:noFill/>
        </p:spPr>
        <p:txBody>
          <a:bodyPr wrap="square" rtlCol="0">
            <a:spAutoFit/>
          </a:bodyPr>
          <a:lstStyle/>
          <a:p>
            <a:r>
              <a:rPr lang="en-US" sz="1100" dirty="0">
                <a:solidFill>
                  <a:srgbClr val="8C8C8C"/>
                </a:solidFill>
              </a:rPr>
              <a:t>English steam reviews</a:t>
            </a:r>
          </a:p>
          <a:p>
            <a:endParaRPr lang="en-US" dirty="0"/>
          </a:p>
        </p:txBody>
      </p:sp>
      <p:sp>
        <p:nvSpPr>
          <p:cNvPr id="8" name="Shape 6">
            <a:extLst>
              <a:ext uri="{FF2B5EF4-FFF2-40B4-BE49-F238E27FC236}">
                <a16:creationId xmlns:a16="http://schemas.microsoft.com/office/drawing/2014/main" id="{F565EA91-67DD-1C42-F45D-386F6C143238}"/>
              </a:ext>
            </a:extLst>
          </p:cNvPr>
          <p:cNvSpPr/>
          <p:nvPr/>
        </p:nvSpPr>
        <p:spPr>
          <a:xfrm>
            <a:off x="548639" y="1683134"/>
            <a:ext cx="11109960" cy="0"/>
          </a:xfrm>
          <a:prstGeom prst="line">
            <a:avLst/>
          </a:prstGeom>
          <a:noFill/>
          <a:ln w="12700">
            <a:solidFill>
              <a:srgbClr val="D9D9D9"/>
            </a:solidFill>
            <a:prstDash val="solid"/>
          </a:ln>
        </p:spPr>
        <p:txBody>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265885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gs>
            <a:gs pos="50000">
              <a:schemeClr val="bg1">
                <a:tint val="98000"/>
                <a:satMod val="130000"/>
                <a:shade val="90000"/>
                <a:lumMod val="103000"/>
              </a:schemeClr>
            </a:gs>
            <a:gs pos="100000">
              <a:schemeClr val="bg1">
                <a:shade val="63000"/>
                <a:satMod val="120000"/>
              </a:schemeClr>
            </a:gs>
          </a:gsLst>
          <a:lin ang="54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D5D80-F948-12EF-234F-29779D4ECA41}"/>
              </a:ext>
            </a:extLst>
          </p:cNvPr>
          <p:cNvSpPr>
            <a:spLocks noGrp="1"/>
          </p:cNvSpPr>
          <p:nvPr>
            <p:ph type="title"/>
          </p:nvPr>
        </p:nvSpPr>
        <p:spPr/>
        <p:txBody>
          <a:bodyPr/>
          <a:lstStyle/>
          <a:p>
            <a:r>
              <a:rPr lang="en-US" b="1" dirty="0"/>
              <a:t>Dishonored 2 (2016) – Acclaim alone cannot carry a sequel</a:t>
            </a:r>
          </a:p>
        </p:txBody>
      </p:sp>
      <p:sp>
        <p:nvSpPr>
          <p:cNvPr id="3" name="Text Placeholder 2">
            <a:extLst>
              <a:ext uri="{FF2B5EF4-FFF2-40B4-BE49-F238E27FC236}">
                <a16:creationId xmlns:a16="http://schemas.microsoft.com/office/drawing/2014/main" id="{94348EB1-E702-AF62-A16E-B98835DFC8EF}"/>
              </a:ext>
            </a:extLst>
          </p:cNvPr>
          <p:cNvSpPr>
            <a:spLocks noGrp="1"/>
          </p:cNvSpPr>
          <p:nvPr>
            <p:ph type="body" sz="quarter" idx="13"/>
          </p:nvPr>
        </p:nvSpPr>
        <p:spPr/>
        <p:txBody>
          <a:bodyPr/>
          <a:lstStyle/>
          <a:p>
            <a:r>
              <a:rPr lang="en-US" dirty="0"/>
              <a:t>Base: Dishonored (2012) and Dishonored 2 (2016) data from steam store summary, accessed [9/3/2026]. Figures only intended to provide an example of a less successful revival.</a:t>
            </a:r>
          </a:p>
          <a:p>
            <a:endParaRPr lang="en-US" dirty="0"/>
          </a:p>
        </p:txBody>
      </p:sp>
      <p:graphicFrame>
        <p:nvGraphicFramePr>
          <p:cNvPr id="6" name="Chart 5">
            <a:extLst>
              <a:ext uri="{FF2B5EF4-FFF2-40B4-BE49-F238E27FC236}">
                <a16:creationId xmlns:a16="http://schemas.microsoft.com/office/drawing/2014/main" id="{3D4ED1DD-5150-54CC-5662-BEC777419F03}"/>
              </a:ext>
            </a:extLst>
          </p:cNvPr>
          <p:cNvGraphicFramePr/>
          <p:nvPr>
            <p:extLst>
              <p:ext uri="{D42A27DB-BD31-4B8C-83A1-F6EECF244321}">
                <p14:modId xmlns:p14="http://schemas.microsoft.com/office/powerpoint/2010/main" val="3434967914"/>
              </p:ext>
            </p:extLst>
          </p:nvPr>
        </p:nvGraphicFramePr>
        <p:xfrm>
          <a:off x="5997608" y="1734221"/>
          <a:ext cx="5523832" cy="4097777"/>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a:extLst>
              <a:ext uri="{FF2B5EF4-FFF2-40B4-BE49-F238E27FC236}">
                <a16:creationId xmlns:a16="http://schemas.microsoft.com/office/drawing/2014/main" id="{620BE208-863A-C706-6BA6-884366686C5F}"/>
              </a:ext>
            </a:extLst>
          </p:cNvPr>
          <p:cNvSpPr txBox="1"/>
          <p:nvPr/>
        </p:nvSpPr>
        <p:spPr>
          <a:xfrm>
            <a:off x="548640" y="2172779"/>
            <a:ext cx="5265019" cy="1754326"/>
          </a:xfrm>
          <a:prstGeom prst="rect">
            <a:avLst/>
          </a:prstGeom>
          <a:noFill/>
        </p:spPr>
        <p:txBody>
          <a:bodyPr wrap="square" rtlCol="0">
            <a:spAutoFit/>
          </a:bodyPr>
          <a:lstStyle/>
          <a:p>
            <a:r>
              <a:rPr lang="en-US" dirty="0">
                <a:solidFill>
                  <a:srgbClr val="8C8C8C"/>
                </a:solidFill>
                <a:latin typeface="Calibri" panose="020F0502020204030204" pitchFamily="34" charset="0"/>
                <a:ea typeface="Calibri" panose="020F0502020204030204" pitchFamily="34" charset="0"/>
                <a:cs typeface="Calibri" panose="020F0502020204030204" pitchFamily="34" charset="0"/>
              </a:rPr>
              <a:t>Even with the most beloved titles, a sequel cannot ride on acclaim alone. Dishonored 2 has roughly twice as many negative English steam reviews with half the total reviews.</a:t>
            </a:r>
          </a:p>
          <a:p>
            <a:endParaRPr lang="en-US" dirty="0">
              <a:latin typeface="Calibri" panose="020F0502020204030204" pitchFamily="34" charset="0"/>
              <a:ea typeface="Calibri" panose="020F0502020204030204" pitchFamily="34" charset="0"/>
              <a:cs typeface="Calibri" panose="020F0502020204030204" pitchFamily="34" charset="0"/>
            </a:endParaRPr>
          </a:p>
          <a:p>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2D8E74E0-9510-4D96-7961-649EC2AC3596}"/>
              </a:ext>
            </a:extLst>
          </p:cNvPr>
          <p:cNvSpPr txBox="1"/>
          <p:nvPr/>
        </p:nvSpPr>
        <p:spPr>
          <a:xfrm>
            <a:off x="3485148" y="4083739"/>
            <a:ext cx="1944303" cy="923330"/>
          </a:xfrm>
          <a:prstGeom prst="rect">
            <a:avLst/>
          </a:prstGeom>
          <a:noFill/>
        </p:spPr>
        <p:txBody>
          <a:bodyPr wrap="square" rtlCol="0">
            <a:spAutoFit/>
          </a:bodyPr>
          <a:lstStyle/>
          <a:p>
            <a:r>
              <a:rPr lang="en-US" sz="5400" dirty="0">
                <a:solidFill>
                  <a:srgbClr val="C44536"/>
                </a:solidFill>
                <a:latin typeface="Calibri" panose="020F0502020204030204" pitchFamily="34" charset="0"/>
                <a:ea typeface="Calibri" panose="020F0502020204030204" pitchFamily="34" charset="0"/>
                <a:cs typeface="Calibri" panose="020F0502020204030204" pitchFamily="34" charset="0"/>
              </a:rPr>
              <a:t>88%</a:t>
            </a:r>
          </a:p>
        </p:txBody>
      </p:sp>
      <p:sp>
        <p:nvSpPr>
          <p:cNvPr id="5" name="TextBox 4">
            <a:extLst>
              <a:ext uri="{FF2B5EF4-FFF2-40B4-BE49-F238E27FC236}">
                <a16:creationId xmlns:a16="http://schemas.microsoft.com/office/drawing/2014/main" id="{43F35FC6-1BB2-CAC0-4B7D-D92D6B76CCEE}"/>
              </a:ext>
            </a:extLst>
          </p:cNvPr>
          <p:cNvSpPr txBox="1"/>
          <p:nvPr/>
        </p:nvSpPr>
        <p:spPr>
          <a:xfrm>
            <a:off x="1126156" y="4083739"/>
            <a:ext cx="1472665" cy="923330"/>
          </a:xfrm>
          <a:prstGeom prst="rect">
            <a:avLst/>
          </a:prstGeom>
          <a:noFill/>
        </p:spPr>
        <p:txBody>
          <a:bodyPr wrap="square" rtlCol="0">
            <a:spAutoFit/>
          </a:bodyPr>
          <a:lstStyle/>
          <a:p>
            <a:r>
              <a:rPr lang="en-US" sz="5400" dirty="0">
                <a:solidFill>
                  <a:srgbClr val="C44536"/>
                </a:solidFill>
                <a:latin typeface="Calibri" panose="020F0502020204030204" pitchFamily="34" charset="0"/>
                <a:ea typeface="Calibri" panose="020F0502020204030204" pitchFamily="34" charset="0"/>
                <a:cs typeface="Calibri" panose="020F0502020204030204" pitchFamily="34" charset="0"/>
              </a:rPr>
              <a:t>97%</a:t>
            </a:r>
          </a:p>
        </p:txBody>
      </p:sp>
      <p:sp>
        <p:nvSpPr>
          <p:cNvPr id="8" name="TextBox 7">
            <a:extLst>
              <a:ext uri="{FF2B5EF4-FFF2-40B4-BE49-F238E27FC236}">
                <a16:creationId xmlns:a16="http://schemas.microsoft.com/office/drawing/2014/main" id="{A56196CC-632D-AE37-DCCC-6F5255033A00}"/>
              </a:ext>
            </a:extLst>
          </p:cNvPr>
          <p:cNvSpPr txBox="1"/>
          <p:nvPr/>
        </p:nvSpPr>
        <p:spPr>
          <a:xfrm>
            <a:off x="1126156" y="4907114"/>
            <a:ext cx="2300438" cy="276999"/>
          </a:xfrm>
          <a:prstGeom prst="rect">
            <a:avLst/>
          </a:prstGeom>
          <a:noFill/>
        </p:spPr>
        <p:txBody>
          <a:bodyPr wrap="square" rtlCol="0">
            <a:spAutoFit/>
          </a:bodyPr>
          <a:lstStyle/>
          <a:p>
            <a:r>
              <a:rPr lang="en-US" sz="1200" dirty="0">
                <a:solidFill>
                  <a:srgbClr val="8C8C8C"/>
                </a:solidFill>
              </a:rPr>
              <a:t>Dishonored (2012)</a:t>
            </a:r>
          </a:p>
        </p:txBody>
      </p:sp>
      <p:sp>
        <p:nvSpPr>
          <p:cNvPr id="9" name="TextBox 8">
            <a:extLst>
              <a:ext uri="{FF2B5EF4-FFF2-40B4-BE49-F238E27FC236}">
                <a16:creationId xmlns:a16="http://schemas.microsoft.com/office/drawing/2014/main" id="{F1267808-7577-F87F-D37A-04EFB4D1C58A}"/>
              </a:ext>
            </a:extLst>
          </p:cNvPr>
          <p:cNvSpPr txBox="1"/>
          <p:nvPr/>
        </p:nvSpPr>
        <p:spPr>
          <a:xfrm>
            <a:off x="3485148" y="4907113"/>
            <a:ext cx="2300438" cy="276999"/>
          </a:xfrm>
          <a:prstGeom prst="rect">
            <a:avLst/>
          </a:prstGeom>
          <a:noFill/>
        </p:spPr>
        <p:txBody>
          <a:bodyPr wrap="square" rtlCol="0">
            <a:spAutoFit/>
          </a:bodyPr>
          <a:lstStyle/>
          <a:p>
            <a:r>
              <a:rPr lang="en-US" sz="1200" dirty="0">
                <a:solidFill>
                  <a:srgbClr val="8C8C8C"/>
                </a:solidFill>
              </a:rPr>
              <a:t>Dishonored 2 (2016)</a:t>
            </a:r>
          </a:p>
        </p:txBody>
      </p:sp>
    </p:spTree>
    <p:extLst>
      <p:ext uri="{BB962C8B-B14F-4D97-AF65-F5344CB8AC3E}">
        <p14:creationId xmlns:p14="http://schemas.microsoft.com/office/powerpoint/2010/main" val="7029147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gs>
            <a:gs pos="50000">
              <a:schemeClr val="bg1">
                <a:tint val="98000"/>
                <a:satMod val="130000"/>
                <a:shade val="90000"/>
                <a:lumMod val="103000"/>
              </a:schemeClr>
            </a:gs>
            <a:gs pos="100000">
              <a:schemeClr val="bg1">
                <a:shade val="63000"/>
                <a:satMod val="120000"/>
              </a:schemeClr>
            </a:gs>
          </a:gsLst>
          <a:lin ang="54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A2C34-5D22-5668-1FF4-6B4C36D693AD}"/>
              </a:ext>
            </a:extLst>
          </p:cNvPr>
          <p:cNvSpPr txBox="1">
            <a:spLocks/>
          </p:cNvSpPr>
          <p:nvPr/>
        </p:nvSpPr>
        <p:spPr>
          <a:xfrm>
            <a:off x="481263" y="1061160"/>
            <a:ext cx="10972800" cy="10972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600" dirty="0">
                <a:latin typeface="Calibri" panose="020F0502020204030204" pitchFamily="34" charset="0"/>
                <a:ea typeface="Calibri" panose="020F0502020204030204" pitchFamily="34" charset="0"/>
                <a:cs typeface="Calibri" panose="020F0502020204030204" pitchFamily="34" charset="0"/>
              </a:rPr>
              <a:t>What this analysis cannot tell you</a:t>
            </a:r>
          </a:p>
        </p:txBody>
      </p:sp>
      <p:sp>
        <p:nvSpPr>
          <p:cNvPr id="4" name="Rectangle 3">
            <a:extLst>
              <a:ext uri="{FF2B5EF4-FFF2-40B4-BE49-F238E27FC236}">
                <a16:creationId xmlns:a16="http://schemas.microsoft.com/office/drawing/2014/main" id="{D141FAC3-DA27-6B6E-5AEA-A277AEC17DC9}"/>
              </a:ext>
            </a:extLst>
          </p:cNvPr>
          <p:cNvSpPr/>
          <p:nvPr/>
        </p:nvSpPr>
        <p:spPr>
          <a:xfrm>
            <a:off x="548640" y="1865211"/>
            <a:ext cx="5303520" cy="10972"/>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807494C4-30F3-1D24-11EE-3F2D6CD4FD0D}"/>
              </a:ext>
            </a:extLst>
          </p:cNvPr>
          <p:cNvSpPr txBox="1"/>
          <p:nvPr/>
        </p:nvSpPr>
        <p:spPr>
          <a:xfrm>
            <a:off x="548640" y="2225394"/>
            <a:ext cx="5303520" cy="249877"/>
          </a:xfrm>
          <a:prstGeom prst="rect">
            <a:avLst/>
          </a:prstGeom>
          <a:noFill/>
        </p:spPr>
        <p:txBody>
          <a:bodyPr wrap="square" lIns="0" tIns="0" rIns="0" bIns="0">
            <a:spAutoFit/>
          </a:bodyPr>
          <a:lstStyle/>
          <a:p>
            <a:pPr>
              <a:lnSpc>
                <a:spcPct val="115000"/>
              </a:lnSpc>
            </a:pPr>
            <a:r>
              <a:rPr sz="1500" b="1" dirty="0">
                <a:solidFill>
                  <a:srgbClr val="1F3A3D"/>
                </a:solidFill>
                <a:latin typeface="Calibri" panose="020F0502020204030204" pitchFamily="34" charset="0"/>
                <a:ea typeface="Calibri" panose="020F0502020204030204" pitchFamily="34" charset="0"/>
                <a:cs typeface="Calibri" panose="020F0502020204030204" pitchFamily="34" charset="0"/>
              </a:rPr>
              <a:t>Attention, not approval</a:t>
            </a:r>
          </a:p>
        </p:txBody>
      </p:sp>
      <p:sp>
        <p:nvSpPr>
          <p:cNvPr id="6" name="TextBox 5">
            <a:extLst>
              <a:ext uri="{FF2B5EF4-FFF2-40B4-BE49-F238E27FC236}">
                <a16:creationId xmlns:a16="http://schemas.microsoft.com/office/drawing/2014/main" id="{6D26774A-4952-467F-F188-6180E360B8E3}"/>
              </a:ext>
            </a:extLst>
          </p:cNvPr>
          <p:cNvSpPr txBox="1"/>
          <p:nvPr/>
        </p:nvSpPr>
        <p:spPr>
          <a:xfrm>
            <a:off x="548640" y="2609443"/>
            <a:ext cx="5303520" cy="624658"/>
          </a:xfrm>
          <a:prstGeom prst="rect">
            <a:avLst/>
          </a:prstGeom>
          <a:noFill/>
        </p:spPr>
        <p:txBody>
          <a:bodyPr wrap="square" lIns="0" tIns="0" rIns="0" bIns="0">
            <a:spAutoFit/>
          </a:bodyPr>
          <a:lstStyle/>
          <a:p>
            <a:pPr>
              <a:lnSpc>
                <a:spcPct val="115000"/>
              </a:lnSpc>
            </a:pPr>
            <a:r>
              <a:rPr lang="en-US" sz="1200" b="0" dirty="0">
                <a:solidFill>
                  <a:srgbClr val="8C8C8C"/>
                </a:solidFill>
                <a:latin typeface="Calibri" panose="020F0502020204030204" pitchFamily="34" charset="0"/>
                <a:ea typeface="Calibri" panose="020F0502020204030204" pitchFamily="34" charset="0"/>
                <a:cs typeface="Calibri" panose="020F0502020204030204" pitchFamily="34" charset="0"/>
              </a:rPr>
              <a:t>The analysis used</a:t>
            </a:r>
            <a:r>
              <a:rPr lang="en-US" sz="1200" dirty="0">
                <a:solidFill>
                  <a:srgbClr val="8C8C8C"/>
                </a:solidFill>
                <a:latin typeface="Calibri" panose="020F0502020204030204" pitchFamily="34" charset="0"/>
                <a:ea typeface="Calibri" panose="020F0502020204030204" pitchFamily="34" charset="0"/>
                <a:cs typeface="Calibri" panose="020F0502020204030204" pitchFamily="34" charset="0"/>
              </a:rPr>
              <a:t> keyword identification to count specific themes across positive and negative reviews. This tells us what reviewers talk about, not their approval/disapproval.</a:t>
            </a:r>
            <a:endParaRPr sz="1200" b="0" dirty="0">
              <a:solidFill>
                <a:srgbClr val="8C8C8C"/>
              </a:solidFill>
              <a:latin typeface="Calibri" panose="020F0502020204030204" pitchFamily="34" charset="0"/>
              <a:ea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B5924751-1608-4805-AC77-E2D8B6FB7D78}"/>
              </a:ext>
            </a:extLst>
          </p:cNvPr>
          <p:cNvSpPr/>
          <p:nvPr/>
        </p:nvSpPr>
        <p:spPr>
          <a:xfrm>
            <a:off x="6339840" y="1859725"/>
            <a:ext cx="5303520" cy="10972"/>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panose="020F0502020204030204" pitchFamily="34" charset="0"/>
              <a:ea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8EAB5541-9EDA-2DB1-5F5F-F1D817354915}"/>
              </a:ext>
            </a:extLst>
          </p:cNvPr>
          <p:cNvSpPr txBox="1"/>
          <p:nvPr/>
        </p:nvSpPr>
        <p:spPr>
          <a:xfrm>
            <a:off x="6309360" y="2225394"/>
            <a:ext cx="5303520" cy="249877"/>
          </a:xfrm>
          <a:prstGeom prst="rect">
            <a:avLst/>
          </a:prstGeom>
          <a:noFill/>
        </p:spPr>
        <p:txBody>
          <a:bodyPr wrap="square" lIns="0" tIns="0" rIns="0" bIns="0">
            <a:spAutoFit/>
          </a:bodyPr>
          <a:lstStyle/>
          <a:p>
            <a:pPr>
              <a:lnSpc>
                <a:spcPct val="115000"/>
              </a:lnSpc>
            </a:pPr>
            <a:r>
              <a:rPr sz="1500" b="1">
                <a:solidFill>
                  <a:srgbClr val="1F3A3D"/>
                </a:solidFill>
                <a:latin typeface="Calibri" panose="020F0502020204030204" pitchFamily="34" charset="0"/>
                <a:ea typeface="Calibri" panose="020F0502020204030204" pitchFamily="34" charset="0"/>
                <a:cs typeface="Calibri" panose="020F0502020204030204" pitchFamily="34" charset="0"/>
              </a:rPr>
              <a:t>Every theme undercounts</a:t>
            </a:r>
          </a:p>
        </p:txBody>
      </p:sp>
      <p:sp>
        <p:nvSpPr>
          <p:cNvPr id="10" name="Rectangle 9">
            <a:extLst>
              <a:ext uri="{FF2B5EF4-FFF2-40B4-BE49-F238E27FC236}">
                <a16:creationId xmlns:a16="http://schemas.microsoft.com/office/drawing/2014/main" id="{3E4D69BA-3A4E-7517-9801-5B544D756EB1}"/>
              </a:ext>
            </a:extLst>
          </p:cNvPr>
          <p:cNvSpPr/>
          <p:nvPr/>
        </p:nvSpPr>
        <p:spPr>
          <a:xfrm>
            <a:off x="548640" y="3450690"/>
            <a:ext cx="5303520" cy="10972"/>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panose="020F0502020204030204" pitchFamily="34" charset="0"/>
              <a:ea typeface="Calibri" panose="020F0502020204030204" pitchFamily="34" charset="0"/>
              <a:cs typeface="Calibri" panose="020F0502020204030204" pitchFamily="34" charset="0"/>
            </a:endParaRPr>
          </a:p>
        </p:txBody>
      </p:sp>
      <p:sp>
        <p:nvSpPr>
          <p:cNvPr id="13" name="Rectangle 12">
            <a:extLst>
              <a:ext uri="{FF2B5EF4-FFF2-40B4-BE49-F238E27FC236}">
                <a16:creationId xmlns:a16="http://schemas.microsoft.com/office/drawing/2014/main" id="{6A9B47D7-1DD9-4669-9753-C8BABA12A6D5}"/>
              </a:ext>
            </a:extLst>
          </p:cNvPr>
          <p:cNvSpPr/>
          <p:nvPr/>
        </p:nvSpPr>
        <p:spPr>
          <a:xfrm>
            <a:off x="6309360" y="3450690"/>
            <a:ext cx="5303520" cy="10972"/>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panose="020F0502020204030204" pitchFamily="34" charset="0"/>
              <a:ea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5549CF81-F942-BE0F-F9B8-2A88877B02F0}"/>
              </a:ext>
            </a:extLst>
          </p:cNvPr>
          <p:cNvSpPr txBox="1"/>
          <p:nvPr/>
        </p:nvSpPr>
        <p:spPr>
          <a:xfrm>
            <a:off x="548640" y="3640639"/>
            <a:ext cx="5303520" cy="249877"/>
          </a:xfrm>
          <a:prstGeom prst="rect">
            <a:avLst/>
          </a:prstGeom>
          <a:noFill/>
        </p:spPr>
        <p:txBody>
          <a:bodyPr wrap="square" lIns="0" tIns="0" rIns="0" bIns="0">
            <a:spAutoFit/>
          </a:bodyPr>
          <a:lstStyle/>
          <a:p>
            <a:pPr>
              <a:lnSpc>
                <a:spcPct val="115000"/>
              </a:lnSpc>
            </a:pPr>
            <a:r>
              <a:rPr sz="1500" b="1" dirty="0">
                <a:solidFill>
                  <a:srgbClr val="1F3A3D"/>
                </a:solidFill>
                <a:latin typeface="Calibri" panose="020F0502020204030204" pitchFamily="34" charset="0"/>
                <a:ea typeface="Calibri" panose="020F0502020204030204" pitchFamily="34" charset="0"/>
                <a:cs typeface="Calibri" panose="020F0502020204030204" pitchFamily="34" charset="0"/>
              </a:rPr>
              <a:t>Remasters, English, Steam</a:t>
            </a:r>
          </a:p>
        </p:txBody>
      </p:sp>
      <p:sp>
        <p:nvSpPr>
          <p:cNvPr id="16" name="Rectangle 15">
            <a:extLst>
              <a:ext uri="{FF2B5EF4-FFF2-40B4-BE49-F238E27FC236}">
                <a16:creationId xmlns:a16="http://schemas.microsoft.com/office/drawing/2014/main" id="{B363F85D-4635-C084-D61B-81E47183B7E3}"/>
              </a:ext>
            </a:extLst>
          </p:cNvPr>
          <p:cNvSpPr/>
          <p:nvPr/>
        </p:nvSpPr>
        <p:spPr>
          <a:xfrm>
            <a:off x="548640" y="4822291"/>
            <a:ext cx="5303520" cy="10972"/>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panose="020F0502020204030204" pitchFamily="34" charset="0"/>
              <a:ea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C69D524B-1F08-ACA4-6D12-BB399971C679}"/>
              </a:ext>
            </a:extLst>
          </p:cNvPr>
          <p:cNvSpPr txBox="1"/>
          <p:nvPr/>
        </p:nvSpPr>
        <p:spPr>
          <a:xfrm>
            <a:off x="6339840" y="3640638"/>
            <a:ext cx="5303520" cy="249877"/>
          </a:xfrm>
          <a:prstGeom prst="rect">
            <a:avLst/>
          </a:prstGeom>
          <a:noFill/>
        </p:spPr>
        <p:txBody>
          <a:bodyPr wrap="square" lIns="0" tIns="0" rIns="0" bIns="0">
            <a:spAutoFit/>
          </a:bodyPr>
          <a:lstStyle/>
          <a:p>
            <a:pPr>
              <a:lnSpc>
                <a:spcPct val="115000"/>
              </a:lnSpc>
            </a:pPr>
            <a:r>
              <a:rPr sz="1500" b="1" dirty="0">
                <a:solidFill>
                  <a:srgbClr val="1F3A3D"/>
                </a:solidFill>
                <a:latin typeface="Calibri" panose="020F0502020204030204" pitchFamily="34" charset="0"/>
                <a:ea typeface="Calibri" panose="020F0502020204030204" pitchFamily="34" charset="0"/>
                <a:cs typeface="Calibri" panose="020F0502020204030204" pitchFamily="34" charset="0"/>
              </a:rPr>
              <a:t>No causal claims</a:t>
            </a:r>
          </a:p>
        </p:txBody>
      </p:sp>
      <p:sp>
        <p:nvSpPr>
          <p:cNvPr id="19" name="Rectangle 18">
            <a:extLst>
              <a:ext uri="{FF2B5EF4-FFF2-40B4-BE49-F238E27FC236}">
                <a16:creationId xmlns:a16="http://schemas.microsoft.com/office/drawing/2014/main" id="{A0C8EC43-377F-3C7F-460E-7AE615B3E7E4}"/>
              </a:ext>
            </a:extLst>
          </p:cNvPr>
          <p:cNvSpPr/>
          <p:nvPr/>
        </p:nvSpPr>
        <p:spPr>
          <a:xfrm>
            <a:off x="6309360" y="4822291"/>
            <a:ext cx="5303520" cy="10972"/>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panose="020F0502020204030204" pitchFamily="34" charset="0"/>
              <a:ea typeface="Calibri" panose="020F0502020204030204" pitchFamily="34" charset="0"/>
              <a:cs typeface="Calibri" panose="020F0502020204030204" pitchFamily="34" charset="0"/>
            </a:endParaRPr>
          </a:p>
        </p:txBody>
      </p:sp>
      <p:sp>
        <p:nvSpPr>
          <p:cNvPr id="23" name="TextBox 22">
            <a:extLst>
              <a:ext uri="{FF2B5EF4-FFF2-40B4-BE49-F238E27FC236}">
                <a16:creationId xmlns:a16="http://schemas.microsoft.com/office/drawing/2014/main" id="{B8F232E4-A654-E5DD-2383-4DCC5971DC65}"/>
              </a:ext>
            </a:extLst>
          </p:cNvPr>
          <p:cNvSpPr txBox="1"/>
          <p:nvPr/>
        </p:nvSpPr>
        <p:spPr>
          <a:xfrm>
            <a:off x="6339840" y="2609443"/>
            <a:ext cx="4296076" cy="646331"/>
          </a:xfrm>
          <a:prstGeom prst="rect">
            <a:avLst/>
          </a:prstGeom>
          <a:noFill/>
        </p:spPr>
        <p:txBody>
          <a:bodyPr wrap="square" rtlCol="0">
            <a:spAutoFit/>
          </a:bodyPr>
          <a:lstStyle/>
          <a:p>
            <a:r>
              <a:rPr lang="en-US" sz="1200" dirty="0">
                <a:solidFill>
                  <a:srgbClr val="8C8C8C"/>
                </a:solidFill>
                <a:latin typeface="Calibri" panose="020F0502020204030204" pitchFamily="34" charset="0"/>
                <a:ea typeface="Calibri" panose="020F0502020204030204" pitchFamily="34" charset="0"/>
                <a:cs typeface="Calibri" panose="020F0502020204030204" pitchFamily="34" charset="0"/>
              </a:rPr>
              <a:t>Validation recall ranged from 93% for narrative to 25% for visual and audio. Comparing the same theme across each title is consistent, although cross-theme comparisons are inaccurate.</a:t>
            </a:r>
          </a:p>
        </p:txBody>
      </p:sp>
      <p:sp>
        <p:nvSpPr>
          <p:cNvPr id="26" name="TextBox 25">
            <a:extLst>
              <a:ext uri="{FF2B5EF4-FFF2-40B4-BE49-F238E27FC236}">
                <a16:creationId xmlns:a16="http://schemas.microsoft.com/office/drawing/2014/main" id="{51A15380-FDEE-0B51-7AC7-41EC5F4C2B60}"/>
              </a:ext>
            </a:extLst>
          </p:cNvPr>
          <p:cNvSpPr txBox="1"/>
          <p:nvPr/>
        </p:nvSpPr>
        <p:spPr>
          <a:xfrm>
            <a:off x="548640" y="4044074"/>
            <a:ext cx="5303520" cy="412292"/>
          </a:xfrm>
          <a:prstGeom prst="rect">
            <a:avLst/>
          </a:prstGeom>
          <a:noFill/>
        </p:spPr>
        <p:txBody>
          <a:bodyPr wrap="square" lIns="0" tIns="0" rIns="0" bIns="0">
            <a:spAutoFit/>
          </a:bodyPr>
          <a:lstStyle/>
          <a:p>
            <a:pPr>
              <a:lnSpc>
                <a:spcPct val="115000"/>
              </a:lnSpc>
            </a:pPr>
            <a:r>
              <a:rPr lang="en-US" sz="1200" b="0" dirty="0">
                <a:solidFill>
                  <a:srgbClr val="8C8C8C"/>
                </a:solidFill>
                <a:latin typeface="Calibri" panose="020F0502020204030204" pitchFamily="34" charset="0"/>
                <a:ea typeface="Calibri" panose="020F0502020204030204" pitchFamily="34" charset="0"/>
                <a:cs typeface="Calibri" panose="020F0502020204030204" pitchFamily="34" charset="0"/>
              </a:rPr>
              <a:t>BioShock 1 and 2 are remastered releases, Infinite is original. All data is sourced from English Steam reviews only</a:t>
            </a:r>
            <a:endParaRPr sz="1200" b="0" dirty="0">
              <a:solidFill>
                <a:srgbClr val="8C8C8C"/>
              </a:solidFill>
              <a:latin typeface="Calibri" panose="020F0502020204030204" pitchFamily="34" charset="0"/>
              <a:ea typeface="Calibri" panose="020F0502020204030204" pitchFamily="34" charset="0"/>
              <a:cs typeface="Calibri" panose="020F0502020204030204" pitchFamily="34" charset="0"/>
            </a:endParaRPr>
          </a:p>
        </p:txBody>
      </p:sp>
      <p:sp>
        <p:nvSpPr>
          <p:cNvPr id="29" name="TextBox 28">
            <a:extLst>
              <a:ext uri="{FF2B5EF4-FFF2-40B4-BE49-F238E27FC236}">
                <a16:creationId xmlns:a16="http://schemas.microsoft.com/office/drawing/2014/main" id="{18709980-5A8D-4CC8-DDD5-000B65B87648}"/>
              </a:ext>
            </a:extLst>
          </p:cNvPr>
          <p:cNvSpPr txBox="1"/>
          <p:nvPr/>
        </p:nvSpPr>
        <p:spPr>
          <a:xfrm>
            <a:off x="6339840" y="4030386"/>
            <a:ext cx="5303520" cy="412292"/>
          </a:xfrm>
          <a:prstGeom prst="rect">
            <a:avLst/>
          </a:prstGeom>
          <a:noFill/>
        </p:spPr>
        <p:txBody>
          <a:bodyPr wrap="square" lIns="0" tIns="0" rIns="0" bIns="0">
            <a:spAutoFit/>
          </a:bodyPr>
          <a:lstStyle/>
          <a:p>
            <a:pPr>
              <a:lnSpc>
                <a:spcPct val="115000"/>
              </a:lnSpc>
            </a:pPr>
            <a:r>
              <a:rPr lang="en-US" sz="1200" b="0" dirty="0">
                <a:solidFill>
                  <a:srgbClr val="8C8C8C"/>
                </a:solidFill>
                <a:latin typeface="Calibri" panose="020F0502020204030204" pitchFamily="34" charset="0"/>
                <a:ea typeface="Calibri" panose="020F0502020204030204" pitchFamily="34" charset="0"/>
                <a:cs typeface="Calibri" panose="020F0502020204030204" pitchFamily="34" charset="0"/>
              </a:rPr>
              <a:t>The analysi</a:t>
            </a:r>
            <a:r>
              <a:rPr lang="en-US" sz="1200" dirty="0">
                <a:solidFill>
                  <a:srgbClr val="8C8C8C"/>
                </a:solidFill>
                <a:latin typeface="Calibri" panose="020F0502020204030204" pitchFamily="34" charset="0"/>
                <a:ea typeface="Calibri" panose="020F0502020204030204" pitchFamily="34" charset="0"/>
                <a:cs typeface="Calibri" panose="020F0502020204030204" pitchFamily="34" charset="0"/>
              </a:rPr>
              <a:t>s best suited for understanding what BioShock reviewers discuss, rather than making concrete decisions on design.</a:t>
            </a:r>
            <a:endParaRPr sz="1200" b="0" dirty="0">
              <a:solidFill>
                <a:srgbClr val="8C8C8C"/>
              </a:solidFill>
              <a:latin typeface="Calibri" panose="020F0502020204030204" pitchFamily="34" charset="0"/>
              <a:ea typeface="Calibri" panose="020F0502020204030204" pitchFamily="34" charset="0"/>
              <a:cs typeface="Calibri" panose="020F0502020204030204" pitchFamily="34" charset="0"/>
            </a:endParaRPr>
          </a:p>
        </p:txBody>
      </p:sp>
      <p:sp>
        <p:nvSpPr>
          <p:cNvPr id="15" name="Text Placeholder 14">
            <a:extLst>
              <a:ext uri="{FF2B5EF4-FFF2-40B4-BE49-F238E27FC236}">
                <a16:creationId xmlns:a16="http://schemas.microsoft.com/office/drawing/2014/main" id="{BBC8C291-FE60-37A0-AA5F-7F256826FCA9}"/>
              </a:ext>
            </a:extLst>
          </p:cNvPr>
          <p:cNvSpPr>
            <a:spLocks noGrp="1"/>
          </p:cNvSpPr>
          <p:nvPr>
            <p:ph type="body" sz="quarter" idx="13"/>
          </p:nvPr>
        </p:nvSpPr>
        <p:spPr>
          <a:xfrm>
            <a:off x="548640" y="6056305"/>
            <a:ext cx="10972800" cy="457200"/>
          </a:xfrm>
        </p:spPr>
        <p:txBody>
          <a:bodyPr/>
          <a:lstStyle/>
          <a:p>
            <a:r>
              <a:rPr lang="da-DK" dirty="0"/>
              <a:t>Full methodology, theme dictionaries and validation results are in the appendix and public GitHub</a:t>
            </a:r>
          </a:p>
          <a:p>
            <a:endParaRPr lang="en-US" dirty="0"/>
          </a:p>
        </p:txBody>
      </p:sp>
    </p:spTree>
    <p:extLst>
      <p:ext uri="{BB962C8B-B14F-4D97-AF65-F5344CB8AC3E}">
        <p14:creationId xmlns:p14="http://schemas.microsoft.com/office/powerpoint/2010/main" val="31507004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gs>
            <a:gs pos="50000">
              <a:schemeClr val="bg1">
                <a:tint val="98000"/>
                <a:satMod val="130000"/>
                <a:shade val="90000"/>
                <a:lumMod val="103000"/>
              </a:schemeClr>
            </a:gs>
            <a:gs pos="100000">
              <a:schemeClr val="bg1">
                <a:shade val="63000"/>
                <a:satMod val="120000"/>
              </a:schemeClr>
            </a:gs>
          </a:gsLst>
          <a:lin ang="5400000" scaled="0"/>
        </a:gradFill>
        <a:effectLst/>
      </p:bgPr>
    </p:bg>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DEC8CB3F-9C7A-07D4-458A-BFAAFA620630}"/>
              </a:ext>
            </a:extLst>
          </p:cNvPr>
          <p:cNvGraphicFramePr>
            <a:graphicFrameLocks noGrp="1"/>
          </p:cNvGraphicFramePr>
          <p:nvPr>
            <p:extLst>
              <p:ext uri="{D42A27DB-BD31-4B8C-83A1-F6EECF244321}">
                <p14:modId xmlns:p14="http://schemas.microsoft.com/office/powerpoint/2010/main" val="3489186219"/>
              </p:ext>
            </p:extLst>
          </p:nvPr>
        </p:nvGraphicFramePr>
        <p:xfrm>
          <a:off x="457200" y="914401"/>
          <a:ext cx="11174818" cy="5582958"/>
        </p:xfrm>
        <a:graphic>
          <a:graphicData uri="http://schemas.openxmlformats.org/drawingml/2006/table">
            <a:tbl>
              <a:tblPr firstRow="1" bandRow="1">
                <a:tableStyleId>{5C22544A-7EE6-4342-B048-85BDC9FD1C3A}</a:tableStyleId>
              </a:tblPr>
              <a:tblGrid>
                <a:gridCol w="5587409">
                  <a:extLst>
                    <a:ext uri="{9D8B030D-6E8A-4147-A177-3AD203B41FA5}">
                      <a16:colId xmlns:a16="http://schemas.microsoft.com/office/drawing/2014/main" val="3889348999"/>
                    </a:ext>
                  </a:extLst>
                </a:gridCol>
                <a:gridCol w="5587409">
                  <a:extLst>
                    <a:ext uri="{9D8B030D-6E8A-4147-A177-3AD203B41FA5}">
                      <a16:colId xmlns:a16="http://schemas.microsoft.com/office/drawing/2014/main" val="1036188902"/>
                    </a:ext>
                  </a:extLst>
                </a:gridCol>
              </a:tblGrid>
              <a:tr h="365401">
                <a:tc>
                  <a:txBody>
                    <a:bodyPr/>
                    <a:lstStyle/>
                    <a:p>
                      <a:r>
                        <a:rPr lang="en-US" dirty="0">
                          <a:latin typeface="Calibri" panose="020F0502020204030204" pitchFamily="34" charset="0"/>
                          <a:ea typeface="Calibri" panose="020F0502020204030204" pitchFamily="34" charset="0"/>
                          <a:cs typeface="Calibri" panose="020F0502020204030204" pitchFamily="34" charset="0"/>
                        </a:rPr>
                        <a:t>Theme</a:t>
                      </a:r>
                    </a:p>
                  </a:txBody>
                  <a:tcPr/>
                </a:tc>
                <a:tc>
                  <a:txBody>
                    <a:bodyPr/>
                    <a:lstStyle/>
                    <a:p>
                      <a:r>
                        <a:rPr lang="en-US" dirty="0">
                          <a:latin typeface="Calibri" panose="020F0502020204030204" pitchFamily="34" charset="0"/>
                          <a:ea typeface="Calibri" panose="020F0502020204030204" pitchFamily="34" charset="0"/>
                          <a:cs typeface="Calibri" panose="020F0502020204030204" pitchFamily="34" charset="0"/>
                        </a:rPr>
                        <a:t>Keywords</a:t>
                      </a:r>
                    </a:p>
                  </a:txBody>
                  <a:tcPr/>
                </a:tc>
                <a:extLst>
                  <a:ext uri="{0D108BD9-81ED-4DB2-BD59-A6C34878D82A}">
                    <a16:rowId xmlns:a16="http://schemas.microsoft.com/office/drawing/2014/main" val="1935887759"/>
                  </a:ext>
                </a:extLst>
              </a:tr>
              <a:tr h="822152">
                <a:tc>
                  <a:txBody>
                    <a:bodyPr/>
                    <a:lstStyle/>
                    <a:p>
                      <a:r>
                        <a:rPr lang="en-US" dirty="0">
                          <a:latin typeface="Calibri" panose="020F0502020204030204" pitchFamily="34" charset="0"/>
                          <a:ea typeface="Calibri" panose="020F0502020204030204" pitchFamily="34" charset="0"/>
                          <a:cs typeface="Calibri" panose="020F0502020204030204" pitchFamily="34" charset="0"/>
                        </a:rPr>
                        <a:t>Narrative</a:t>
                      </a:r>
                    </a:p>
                  </a:txBody>
                  <a:tcPr/>
                </a:tc>
                <a:tc>
                  <a:txBody>
                    <a:bodyPr/>
                    <a:lstStyle/>
                    <a:p>
                      <a:r>
                        <a:rPr lang="en-US" sz="1200" b="0" i="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twist, would you kindly, betrayal, obedience, protector, flashback, redemption, timeline, multiverse, realities, constants, genes, genetic engineering, gene altering, autonomy, agency, conditioned, kidnapping, storytelling, narrative, writing, dialogue, story, plot, ending</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428237696"/>
                  </a:ext>
                </a:extLst>
              </a:tr>
              <a:tr h="639451">
                <a:tc>
                  <a:txBody>
                    <a:bodyPr/>
                    <a:lstStyle/>
                    <a:p>
                      <a:r>
                        <a:rPr lang="en-US" dirty="0">
                          <a:latin typeface="Calibri" panose="020F0502020204030204" pitchFamily="34" charset="0"/>
                          <a:ea typeface="Calibri" panose="020F0502020204030204" pitchFamily="34" charset="0"/>
                          <a:cs typeface="Calibri" panose="020F0502020204030204" pitchFamily="34" charset="0"/>
                        </a:rPr>
                        <a:t>Setting</a:t>
                      </a:r>
                    </a:p>
                  </a:txBody>
                  <a:tcPr/>
                </a:tc>
                <a:tc>
                  <a:txBody>
                    <a:bodyPr/>
                    <a:lstStyle/>
                    <a:p>
                      <a:r>
                        <a:rPr lang="en-US" sz="1200" b="0" i="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rapture, underwater, city, art deco, retro, theatre, </a:t>
                      </a:r>
                      <a:r>
                        <a:rPr lang="en-US" sz="1200" b="0" i="0" kern="1200" dirty="0" err="1">
                          <a:solidFill>
                            <a:schemeClr val="dk1"/>
                          </a:solidFill>
                          <a:effectLst/>
                          <a:latin typeface="Calibri" panose="020F0502020204030204" pitchFamily="34" charset="0"/>
                          <a:ea typeface="Calibri" panose="020F0502020204030204" pitchFamily="34" charset="0"/>
                          <a:cs typeface="Calibri" panose="020F0502020204030204" pitchFamily="34" charset="0"/>
                        </a:rPr>
                        <a:t>columbia</a:t>
                      </a:r>
                      <a:r>
                        <a:rPr lang="en-US" sz="1200" b="0" i="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 floating, sky, americana, steampunk, utopia, environment, architecture, dystopian, ocean, ruins, aesthetic, lighthouse, pavilion, arcadia, </a:t>
                      </a:r>
                      <a:r>
                        <a:rPr lang="en-US" sz="1200" b="0" i="0" kern="1200" dirty="0" err="1">
                          <a:solidFill>
                            <a:schemeClr val="dk1"/>
                          </a:solidFill>
                          <a:effectLst/>
                          <a:latin typeface="Calibri" panose="020F0502020204030204" pitchFamily="34" charset="0"/>
                          <a:ea typeface="Calibri" panose="020F0502020204030204" pitchFamily="34" charset="0"/>
                          <a:cs typeface="Calibri" panose="020F0502020204030204" pitchFamily="34" charset="0"/>
                        </a:rPr>
                        <a:t>prometheus</a:t>
                      </a:r>
                      <a:r>
                        <a:rPr lang="en-US" sz="1200" b="0" i="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 amusements</a:t>
                      </a:r>
                    </a:p>
                  </a:txBody>
                  <a:tcPr/>
                </a:tc>
                <a:extLst>
                  <a:ext uri="{0D108BD9-81ED-4DB2-BD59-A6C34878D82A}">
                    <a16:rowId xmlns:a16="http://schemas.microsoft.com/office/drawing/2014/main" val="975693310"/>
                  </a:ext>
                </a:extLst>
              </a:tr>
              <a:tr h="456751">
                <a:tc>
                  <a:txBody>
                    <a:bodyPr/>
                    <a:lstStyle/>
                    <a:p>
                      <a:r>
                        <a:rPr lang="en-US" dirty="0">
                          <a:latin typeface="Calibri" panose="020F0502020204030204" pitchFamily="34" charset="0"/>
                          <a:ea typeface="Calibri" panose="020F0502020204030204" pitchFamily="34" charset="0"/>
                          <a:cs typeface="Calibri" panose="020F0502020204030204" pitchFamily="34" charset="0"/>
                        </a:rPr>
                        <a:t>Atmosphere</a:t>
                      </a:r>
                    </a:p>
                  </a:txBody>
                  <a:tcPr/>
                </a:tc>
                <a:tc>
                  <a:txBody>
                    <a:bodyPr/>
                    <a:lstStyle/>
                    <a:p>
                      <a:r>
                        <a:rPr lang="en-US" sz="1200" b="0" i="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horror, eerie, scary, tense, immersive, uncomfortable, disturbing, mystery, dread, claustrophobic, twisted, unsettling</a:t>
                      </a:r>
                    </a:p>
                  </a:txBody>
                  <a:tcPr/>
                </a:tc>
                <a:extLst>
                  <a:ext uri="{0D108BD9-81ED-4DB2-BD59-A6C34878D82A}">
                    <a16:rowId xmlns:a16="http://schemas.microsoft.com/office/drawing/2014/main" val="2874849683"/>
                  </a:ext>
                </a:extLst>
              </a:tr>
              <a:tr h="822152">
                <a:tc>
                  <a:txBody>
                    <a:bodyPr/>
                    <a:lstStyle/>
                    <a:p>
                      <a:r>
                        <a:rPr lang="en-US" dirty="0">
                          <a:latin typeface="Calibri" panose="020F0502020204030204" pitchFamily="34" charset="0"/>
                          <a:ea typeface="Calibri" panose="020F0502020204030204" pitchFamily="34" charset="0"/>
                          <a:cs typeface="Calibri" panose="020F0502020204030204" pitchFamily="34" charset="0"/>
                        </a:rPr>
                        <a:t>Characters</a:t>
                      </a:r>
                    </a:p>
                  </a:txBody>
                  <a:tcPr/>
                </a:tc>
                <a:tc>
                  <a:txBody>
                    <a:bodyPr/>
                    <a:lstStyle/>
                    <a:p>
                      <a:r>
                        <a:rPr lang="en-US" sz="1200" b="0" i="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jack, </a:t>
                      </a:r>
                      <a:r>
                        <a:rPr lang="en-US" sz="1200" b="0" i="0" kern="1200" dirty="0" err="1">
                          <a:solidFill>
                            <a:schemeClr val="dk1"/>
                          </a:solidFill>
                          <a:effectLst/>
                          <a:latin typeface="Calibri" panose="020F0502020204030204" pitchFamily="34" charset="0"/>
                          <a:ea typeface="Calibri" panose="020F0502020204030204" pitchFamily="34" charset="0"/>
                          <a:cs typeface="Calibri" panose="020F0502020204030204" pitchFamily="34" charset="0"/>
                        </a:rPr>
                        <a:t>ryan</a:t>
                      </a:r>
                      <a:r>
                        <a:rPr lang="en-US" sz="1200" b="0" i="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 atlas, </a:t>
                      </a:r>
                      <a:r>
                        <a:rPr lang="en-US" sz="1200" b="0" i="0" kern="1200" dirty="0" err="1">
                          <a:solidFill>
                            <a:schemeClr val="dk1"/>
                          </a:solidFill>
                          <a:effectLst/>
                          <a:latin typeface="Calibri" panose="020F0502020204030204" pitchFamily="34" charset="0"/>
                          <a:ea typeface="Calibri" panose="020F0502020204030204" pitchFamily="34" charset="0"/>
                          <a:cs typeface="Calibri" panose="020F0502020204030204" pitchFamily="34" charset="0"/>
                        </a:rPr>
                        <a:t>fontaine</a:t>
                      </a:r>
                      <a:r>
                        <a:rPr lang="en-US" sz="1200" b="0" i="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 </a:t>
                      </a:r>
                      <a:r>
                        <a:rPr lang="en-US" sz="1200" b="0" i="0" kern="1200" dirty="0" err="1">
                          <a:solidFill>
                            <a:schemeClr val="dk1"/>
                          </a:solidFill>
                          <a:effectLst/>
                          <a:latin typeface="Calibri" panose="020F0502020204030204" pitchFamily="34" charset="0"/>
                          <a:ea typeface="Calibri" panose="020F0502020204030204" pitchFamily="34" charset="0"/>
                          <a:cs typeface="Calibri" panose="020F0502020204030204" pitchFamily="34" charset="0"/>
                        </a:rPr>
                        <a:t>tenenbaum</a:t>
                      </a:r>
                      <a:r>
                        <a:rPr lang="en-US" sz="1200" b="0" i="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 </a:t>
                      </a:r>
                      <a:r>
                        <a:rPr lang="en-US" sz="1200" b="0" i="0" kern="1200" dirty="0" err="1">
                          <a:solidFill>
                            <a:schemeClr val="dk1"/>
                          </a:solidFill>
                          <a:effectLst/>
                          <a:latin typeface="Calibri" panose="020F0502020204030204" pitchFamily="34" charset="0"/>
                          <a:ea typeface="Calibri" panose="020F0502020204030204" pitchFamily="34" charset="0"/>
                          <a:cs typeface="Calibri" panose="020F0502020204030204" pitchFamily="34" charset="0"/>
                        </a:rPr>
                        <a:t>cohen</a:t>
                      </a:r>
                      <a:r>
                        <a:rPr lang="en-US" sz="1200" b="0" i="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 little sister, daddies, daddy, splicer, delta, </a:t>
                      </a:r>
                      <a:r>
                        <a:rPr lang="en-US" sz="1200" b="0" i="0" kern="1200" dirty="0" err="1">
                          <a:solidFill>
                            <a:schemeClr val="dk1"/>
                          </a:solidFill>
                          <a:effectLst/>
                          <a:latin typeface="Calibri" panose="020F0502020204030204" pitchFamily="34" charset="0"/>
                          <a:ea typeface="Calibri" panose="020F0502020204030204" pitchFamily="34" charset="0"/>
                          <a:cs typeface="Calibri" panose="020F0502020204030204" pitchFamily="34" charset="0"/>
                        </a:rPr>
                        <a:t>eleanor</a:t>
                      </a:r>
                      <a:r>
                        <a:rPr lang="en-US" sz="1200" b="0" i="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 lamb, </a:t>
                      </a:r>
                      <a:r>
                        <a:rPr lang="en-US" sz="1200" b="0" i="0" kern="1200" dirty="0" err="1">
                          <a:solidFill>
                            <a:schemeClr val="dk1"/>
                          </a:solidFill>
                          <a:effectLst/>
                          <a:latin typeface="Calibri" panose="020F0502020204030204" pitchFamily="34" charset="0"/>
                          <a:ea typeface="Calibri" panose="020F0502020204030204" pitchFamily="34" charset="0"/>
                          <a:cs typeface="Calibri" panose="020F0502020204030204" pitchFamily="34" charset="0"/>
                        </a:rPr>
                        <a:t>sofia</a:t>
                      </a:r>
                      <a:r>
                        <a:rPr lang="en-US" sz="1200" b="0" i="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 </a:t>
                      </a:r>
                      <a:r>
                        <a:rPr lang="en-US" sz="1200" b="0" i="0" kern="1200" dirty="0" err="1">
                          <a:solidFill>
                            <a:schemeClr val="dk1"/>
                          </a:solidFill>
                          <a:effectLst/>
                          <a:latin typeface="Calibri" panose="020F0502020204030204" pitchFamily="34" charset="0"/>
                          <a:ea typeface="Calibri" panose="020F0502020204030204" pitchFamily="34" charset="0"/>
                          <a:cs typeface="Calibri" panose="020F0502020204030204" pitchFamily="34" charset="0"/>
                        </a:rPr>
                        <a:t>sinclair</a:t>
                      </a:r>
                      <a:r>
                        <a:rPr lang="en-US" sz="1200" b="0" i="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 grace, big sister, </a:t>
                      </a:r>
                      <a:r>
                        <a:rPr lang="en-US" sz="1200" b="0" i="0" kern="1200" dirty="0" err="1">
                          <a:solidFill>
                            <a:schemeClr val="dk1"/>
                          </a:solidFill>
                          <a:effectLst/>
                          <a:latin typeface="Calibri" panose="020F0502020204030204" pitchFamily="34" charset="0"/>
                          <a:ea typeface="Calibri" panose="020F0502020204030204" pitchFamily="34" charset="0"/>
                          <a:cs typeface="Calibri" panose="020F0502020204030204" pitchFamily="34" charset="0"/>
                        </a:rPr>
                        <a:t>poole</a:t>
                      </a:r>
                      <a:r>
                        <a:rPr lang="en-US" sz="1200" b="0" i="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 booker, </a:t>
                      </a:r>
                      <a:r>
                        <a:rPr lang="en-US" sz="1200" b="0" i="0" kern="1200" dirty="0" err="1">
                          <a:solidFill>
                            <a:schemeClr val="dk1"/>
                          </a:solidFill>
                          <a:effectLst/>
                          <a:latin typeface="Calibri" panose="020F0502020204030204" pitchFamily="34" charset="0"/>
                          <a:ea typeface="Calibri" panose="020F0502020204030204" pitchFamily="34" charset="0"/>
                          <a:cs typeface="Calibri" panose="020F0502020204030204" pitchFamily="34" charset="0"/>
                        </a:rPr>
                        <a:t>elizabeth</a:t>
                      </a:r>
                      <a:r>
                        <a:rPr lang="en-US" sz="1200" b="0" i="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 </a:t>
                      </a:r>
                      <a:r>
                        <a:rPr lang="en-US" sz="1200" b="0" i="0" kern="1200" dirty="0" err="1">
                          <a:solidFill>
                            <a:schemeClr val="dk1"/>
                          </a:solidFill>
                          <a:effectLst/>
                          <a:latin typeface="Calibri" panose="020F0502020204030204" pitchFamily="34" charset="0"/>
                          <a:ea typeface="Calibri" panose="020F0502020204030204" pitchFamily="34" charset="0"/>
                          <a:cs typeface="Calibri" panose="020F0502020204030204" pitchFamily="34" charset="0"/>
                        </a:rPr>
                        <a:t>comstock</a:t>
                      </a:r>
                      <a:r>
                        <a:rPr lang="en-US" sz="1200" b="0" i="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 songbird, twins, daisy, turrets, mosquito, zeppelin, barrage, handyman, fireman, zealot, motorized patriot, siren, boy of silence, </a:t>
                      </a:r>
                      <a:r>
                        <a:rPr lang="en-US" sz="1200" b="0" i="0" kern="1200" dirty="0" err="1">
                          <a:solidFill>
                            <a:schemeClr val="dk1"/>
                          </a:solidFill>
                          <a:effectLst/>
                          <a:latin typeface="Calibri" panose="020F0502020204030204" pitchFamily="34" charset="0"/>
                          <a:ea typeface="Calibri" panose="020F0502020204030204" pitchFamily="34" charset="0"/>
                          <a:cs typeface="Calibri" panose="020F0502020204030204" pitchFamily="34" charset="0"/>
                        </a:rPr>
                        <a:t>lutece</a:t>
                      </a:r>
                      <a:r>
                        <a:rPr lang="en-US" sz="1200" b="0" i="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 </a:t>
                      </a:r>
                      <a:r>
                        <a:rPr lang="en-US" sz="1200" b="0" i="0" kern="1200" dirty="0" err="1">
                          <a:solidFill>
                            <a:schemeClr val="dk1"/>
                          </a:solidFill>
                          <a:effectLst/>
                          <a:latin typeface="Calibri" panose="020F0502020204030204" pitchFamily="34" charset="0"/>
                          <a:ea typeface="Calibri" panose="020F0502020204030204" pitchFamily="34" charset="0"/>
                          <a:cs typeface="Calibri" panose="020F0502020204030204" pitchFamily="34" charset="0"/>
                        </a:rPr>
                        <a:t>suchong</a:t>
                      </a:r>
                      <a:endParaRPr lang="en-US" sz="1200" b="0" i="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926760513"/>
                  </a:ext>
                </a:extLst>
              </a:tr>
              <a:tr h="456751">
                <a:tc>
                  <a:txBody>
                    <a:bodyPr/>
                    <a:lstStyle/>
                    <a:p>
                      <a:r>
                        <a:rPr lang="en-US" dirty="0">
                          <a:latin typeface="Calibri" panose="020F0502020204030204" pitchFamily="34" charset="0"/>
                          <a:ea typeface="Calibri" panose="020F0502020204030204" pitchFamily="34" charset="0"/>
                          <a:cs typeface="Calibri" panose="020F0502020204030204" pitchFamily="34" charset="0"/>
                        </a:rPr>
                        <a:t>Combat</a:t>
                      </a:r>
                    </a:p>
                  </a:txBody>
                  <a:tcPr/>
                </a:tc>
                <a:tc>
                  <a:txBody>
                    <a:bodyPr/>
                    <a:lstStyle/>
                    <a:p>
                      <a:r>
                        <a:rPr lang="en-US" sz="1200" b="0" i="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plasmids, combat, movement, quantum tear, weapons, gunplay, shooting, </a:t>
                      </a:r>
                      <a:r>
                        <a:rPr lang="en-US" sz="1200" b="0" i="0" kern="1200" dirty="0" err="1">
                          <a:solidFill>
                            <a:schemeClr val="dk1"/>
                          </a:solidFill>
                          <a:effectLst/>
                          <a:latin typeface="Calibri" panose="020F0502020204030204" pitchFamily="34" charset="0"/>
                          <a:ea typeface="Calibri" panose="020F0502020204030204" pitchFamily="34" charset="0"/>
                          <a:cs typeface="Calibri" panose="020F0502020204030204" pitchFamily="34" charset="0"/>
                        </a:rPr>
                        <a:t>vigors</a:t>
                      </a:r>
                      <a:r>
                        <a:rPr lang="en-US" sz="1200" b="0" i="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 guns, wrench, research camera, drill, rivet, hack, sky-hook, </a:t>
                      </a:r>
                      <a:r>
                        <a:rPr lang="en-US" sz="1200" b="0" i="0" kern="1200" dirty="0" err="1">
                          <a:solidFill>
                            <a:schemeClr val="dk1"/>
                          </a:solidFill>
                          <a:effectLst/>
                          <a:latin typeface="Calibri" panose="020F0502020204030204" pitchFamily="34" charset="0"/>
                          <a:ea typeface="Calibri" panose="020F0502020204030204" pitchFamily="34" charset="0"/>
                          <a:cs typeface="Calibri" panose="020F0502020204030204" pitchFamily="34" charset="0"/>
                        </a:rPr>
                        <a:t>adam</a:t>
                      </a:r>
                      <a:r>
                        <a:rPr lang="en-US" sz="1200" b="0" i="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 eve, tonics, difficulty</a:t>
                      </a:r>
                    </a:p>
                  </a:txBody>
                  <a:tcPr/>
                </a:tc>
                <a:extLst>
                  <a:ext uri="{0D108BD9-81ED-4DB2-BD59-A6C34878D82A}">
                    <a16:rowId xmlns:a16="http://schemas.microsoft.com/office/drawing/2014/main" val="3053882921"/>
                  </a:ext>
                </a:extLst>
              </a:tr>
              <a:tr h="822152">
                <a:tc>
                  <a:txBody>
                    <a:bodyPr/>
                    <a:lstStyle/>
                    <a:p>
                      <a:r>
                        <a:rPr lang="en-US" dirty="0">
                          <a:latin typeface="Calibri" panose="020F0502020204030204" pitchFamily="34" charset="0"/>
                          <a:ea typeface="Calibri" panose="020F0502020204030204" pitchFamily="34" charset="0"/>
                          <a:cs typeface="Calibri" panose="020F0502020204030204" pitchFamily="34" charset="0"/>
                        </a:rPr>
                        <a:t>Ideology</a:t>
                      </a:r>
                    </a:p>
                  </a:txBody>
                  <a:tcPr/>
                </a:tc>
                <a:tc>
                  <a:txBody>
                    <a:bodyPr/>
                    <a:lstStyle/>
                    <a:p>
                      <a:r>
                        <a:rPr lang="en-US" sz="1200" b="0" i="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capitalism, greed, individualism, free will, wealth disparity, exploitation, slavery, selfishness, political, religious, religion, oppression, collectivism, utilitarianism, exceptionalism, communism, police state, </a:t>
                      </a:r>
                      <a:r>
                        <a:rPr lang="en-US" sz="1200" b="0" i="0" kern="1200" dirty="0" err="1">
                          <a:solidFill>
                            <a:schemeClr val="dk1"/>
                          </a:solidFill>
                          <a:effectLst/>
                          <a:latin typeface="Calibri" panose="020F0502020204030204" pitchFamily="34" charset="0"/>
                          <a:ea typeface="Calibri" panose="020F0502020204030204" pitchFamily="34" charset="0"/>
                          <a:cs typeface="Calibri" panose="020F0502020204030204" pitchFamily="34" charset="0"/>
                        </a:rPr>
                        <a:t>ayn</a:t>
                      </a:r>
                      <a:r>
                        <a:rPr lang="en-US" sz="1200" b="0" i="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 rand, authoritarian, right wing, morality, objectivism, racism, nationalism</a:t>
                      </a:r>
                    </a:p>
                  </a:txBody>
                  <a:tcPr/>
                </a:tc>
                <a:extLst>
                  <a:ext uri="{0D108BD9-81ED-4DB2-BD59-A6C34878D82A}">
                    <a16:rowId xmlns:a16="http://schemas.microsoft.com/office/drawing/2014/main" val="4291250214"/>
                  </a:ext>
                </a:extLst>
              </a:tr>
              <a:tr h="365401">
                <a:tc>
                  <a:txBody>
                    <a:bodyPr/>
                    <a:lstStyle/>
                    <a:p>
                      <a:r>
                        <a:rPr lang="en-US" dirty="0">
                          <a:latin typeface="Calibri" panose="020F0502020204030204" pitchFamily="34" charset="0"/>
                          <a:ea typeface="Calibri" panose="020F0502020204030204" pitchFamily="34" charset="0"/>
                          <a:cs typeface="Calibri" panose="020F0502020204030204" pitchFamily="34" charset="0"/>
                        </a:rPr>
                        <a:t>Visual/Audio</a:t>
                      </a:r>
                    </a:p>
                  </a:txBody>
                  <a:tcPr/>
                </a:tc>
                <a:tc>
                  <a:txBody>
                    <a:bodyPr/>
                    <a:lstStyle/>
                    <a:p>
                      <a:r>
                        <a:rPr lang="en-US" sz="1200" b="0" i="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lighting, audio, graphics, music, voice acting, sound design, style, soundtrack</a:t>
                      </a:r>
                    </a:p>
                  </a:txBody>
                  <a:tcPr/>
                </a:tc>
                <a:extLst>
                  <a:ext uri="{0D108BD9-81ED-4DB2-BD59-A6C34878D82A}">
                    <a16:rowId xmlns:a16="http://schemas.microsoft.com/office/drawing/2014/main" val="303468813"/>
                  </a:ext>
                </a:extLst>
              </a:tr>
              <a:tr h="456751">
                <a:tc>
                  <a:txBody>
                    <a:bodyPr/>
                    <a:lstStyle/>
                    <a:p>
                      <a:r>
                        <a:rPr lang="en-US" dirty="0">
                          <a:latin typeface="Calibri" panose="020F0502020204030204" pitchFamily="34" charset="0"/>
                          <a:ea typeface="Calibri" panose="020F0502020204030204" pitchFamily="34" charset="0"/>
                          <a:cs typeface="Calibri" panose="020F0502020204030204" pitchFamily="34" charset="0"/>
                        </a:rPr>
                        <a:t>Technical</a:t>
                      </a:r>
                    </a:p>
                  </a:txBody>
                  <a:tcPr/>
                </a:tc>
                <a:tc>
                  <a:txBody>
                    <a:bodyPr/>
                    <a:lstStyle/>
                    <a:p>
                      <a:r>
                        <a:rPr lang="en-US" sz="1200" b="0" i="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crash, stutter, performance, port, patch, </a:t>
                      </a:r>
                      <a:r>
                        <a:rPr lang="en-US" sz="1200" b="0" i="0" kern="1200" dirty="0" err="1">
                          <a:solidFill>
                            <a:schemeClr val="dk1"/>
                          </a:solidFill>
                          <a:effectLst/>
                          <a:latin typeface="Calibri" panose="020F0502020204030204" pitchFamily="34" charset="0"/>
                          <a:ea typeface="Calibri" panose="020F0502020204030204" pitchFamily="34" charset="0"/>
                          <a:cs typeface="Calibri" panose="020F0502020204030204" pitchFamily="34" charset="0"/>
                        </a:rPr>
                        <a:t>fov</a:t>
                      </a:r>
                      <a:r>
                        <a:rPr lang="en-US" sz="1200" b="0" i="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 mouse, bugs, optimization, fps, controls, resolution, freezing, freeze, glitching, glitch, glitches, crashes, crashed, crashing, laggy</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743173756"/>
                  </a:ext>
                </a:extLst>
              </a:tr>
              <a:tr h="370878">
                <a:tc>
                  <a:txBody>
                    <a:bodyPr/>
                    <a:lstStyle/>
                    <a:p>
                      <a:r>
                        <a:rPr lang="en-US" dirty="0">
                          <a:latin typeface="Calibri" panose="020F0502020204030204" pitchFamily="34" charset="0"/>
                          <a:ea typeface="Calibri" panose="020F0502020204030204" pitchFamily="34" charset="0"/>
                          <a:cs typeface="Calibri" panose="020F0502020204030204" pitchFamily="34" charset="0"/>
                        </a:rPr>
                        <a:t>Pacing</a:t>
                      </a:r>
                    </a:p>
                  </a:txBody>
                  <a:tcPr/>
                </a:tc>
                <a:tc>
                  <a:txBody>
                    <a:bodyPr/>
                    <a:lstStyle/>
                    <a:p>
                      <a:r>
                        <a:rPr lang="en-US" sz="1200" b="0" i="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repetitive, short, long, boring, tedious, replay ability, backtrack, drags, filler, padding</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638589265"/>
                  </a:ext>
                </a:extLst>
              </a:tr>
            </a:tbl>
          </a:graphicData>
        </a:graphic>
      </p:graphicFrame>
      <p:sp>
        <p:nvSpPr>
          <p:cNvPr id="6" name="TextBox 5">
            <a:extLst>
              <a:ext uri="{FF2B5EF4-FFF2-40B4-BE49-F238E27FC236}">
                <a16:creationId xmlns:a16="http://schemas.microsoft.com/office/drawing/2014/main" id="{1CDEEB41-1866-325D-1AB8-9355D23C5797}"/>
              </a:ext>
            </a:extLst>
          </p:cNvPr>
          <p:cNvSpPr txBox="1"/>
          <p:nvPr/>
        </p:nvSpPr>
        <p:spPr>
          <a:xfrm>
            <a:off x="380421" y="360641"/>
            <a:ext cx="4305987" cy="492443"/>
          </a:xfrm>
          <a:prstGeom prst="rect">
            <a:avLst/>
          </a:prstGeom>
          <a:noFill/>
        </p:spPr>
        <p:txBody>
          <a:bodyPr wrap="none" rtlCol="0">
            <a:spAutoFit/>
          </a:bodyPr>
          <a:lstStyle/>
          <a:p>
            <a:r>
              <a:rPr lang="en-US" sz="2600" dirty="0">
                <a:latin typeface="Calibri" panose="020F0502020204030204" pitchFamily="34" charset="0"/>
                <a:ea typeface="Calibri" panose="020F0502020204030204" pitchFamily="34" charset="0"/>
                <a:cs typeface="Calibri" panose="020F0502020204030204" pitchFamily="34" charset="0"/>
              </a:rPr>
              <a:t>Appendix - Theme dictionaries</a:t>
            </a:r>
          </a:p>
        </p:txBody>
      </p:sp>
    </p:spTree>
    <p:extLst>
      <p:ext uri="{BB962C8B-B14F-4D97-AF65-F5344CB8AC3E}">
        <p14:creationId xmlns:p14="http://schemas.microsoft.com/office/powerpoint/2010/main" val="22451854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gs>
            <a:gs pos="50000">
              <a:schemeClr val="bg1">
                <a:tint val="98000"/>
                <a:satMod val="130000"/>
                <a:shade val="90000"/>
                <a:lumMod val="103000"/>
              </a:schemeClr>
            </a:gs>
            <a:gs pos="100000">
              <a:schemeClr val="bg1">
                <a:shade val="63000"/>
                <a:satMod val="120000"/>
              </a:schemeClr>
            </a:gs>
          </a:gsLst>
          <a:lin ang="5400000" scaled="0"/>
        </a:gradFill>
        <a:effectLst/>
      </p:bgPr>
    </p:bg>
    <p:spTree>
      <p:nvGrpSpPr>
        <p:cNvPr id="1" name="">
          <a:extLst>
            <a:ext uri="{FF2B5EF4-FFF2-40B4-BE49-F238E27FC236}">
              <a16:creationId xmlns:a16="http://schemas.microsoft.com/office/drawing/2014/main" id="{AE9C55F8-0AD2-1131-2D6E-98E1655ABFD7}"/>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F2B5C4E-3EE4-BADA-66B6-E411D79F49A1}"/>
              </a:ext>
            </a:extLst>
          </p:cNvPr>
          <p:cNvGraphicFramePr>
            <a:graphicFrameLocks noGrp="1"/>
          </p:cNvGraphicFramePr>
          <p:nvPr>
            <p:extLst>
              <p:ext uri="{D42A27DB-BD31-4B8C-83A1-F6EECF244321}">
                <p14:modId xmlns:p14="http://schemas.microsoft.com/office/powerpoint/2010/main" val="2191980918"/>
              </p:ext>
            </p:extLst>
          </p:nvPr>
        </p:nvGraphicFramePr>
        <p:xfrm>
          <a:off x="457199" y="914398"/>
          <a:ext cx="11249247" cy="5577843"/>
        </p:xfrm>
        <a:graphic>
          <a:graphicData uri="http://schemas.openxmlformats.org/drawingml/2006/table">
            <a:tbl>
              <a:tblPr firstRow="1" bandRow="1">
                <a:tableStyleId>{5C22544A-7EE6-4342-B048-85BDC9FD1C3A}</a:tableStyleId>
              </a:tblPr>
              <a:tblGrid>
                <a:gridCol w="3749749">
                  <a:extLst>
                    <a:ext uri="{9D8B030D-6E8A-4147-A177-3AD203B41FA5}">
                      <a16:colId xmlns:a16="http://schemas.microsoft.com/office/drawing/2014/main" val="3889348999"/>
                    </a:ext>
                  </a:extLst>
                </a:gridCol>
                <a:gridCol w="3749749">
                  <a:extLst>
                    <a:ext uri="{9D8B030D-6E8A-4147-A177-3AD203B41FA5}">
                      <a16:colId xmlns:a16="http://schemas.microsoft.com/office/drawing/2014/main" val="2625025428"/>
                    </a:ext>
                  </a:extLst>
                </a:gridCol>
                <a:gridCol w="3749749">
                  <a:extLst>
                    <a:ext uri="{9D8B030D-6E8A-4147-A177-3AD203B41FA5}">
                      <a16:colId xmlns:a16="http://schemas.microsoft.com/office/drawing/2014/main" val="1036188902"/>
                    </a:ext>
                  </a:extLst>
                </a:gridCol>
              </a:tblGrid>
              <a:tr h="405511">
                <a:tc>
                  <a:txBody>
                    <a:bodyPr/>
                    <a:lstStyle/>
                    <a:p>
                      <a:r>
                        <a:rPr lang="en-US" sz="1800" dirty="0">
                          <a:latin typeface="Calibri" panose="020F0502020204030204" pitchFamily="34" charset="0"/>
                          <a:ea typeface="Calibri" panose="020F0502020204030204" pitchFamily="34" charset="0"/>
                          <a:cs typeface="Calibri" panose="020F0502020204030204" pitchFamily="34" charset="0"/>
                        </a:rPr>
                        <a:t>Theme</a:t>
                      </a:r>
                    </a:p>
                  </a:txBody>
                  <a:tcPr/>
                </a:tc>
                <a:tc>
                  <a:txBody>
                    <a:bodyPr/>
                    <a:lstStyle/>
                    <a:p>
                      <a:r>
                        <a:rPr lang="en-US" sz="1800" dirty="0">
                          <a:latin typeface="Calibri" panose="020F0502020204030204" pitchFamily="34" charset="0"/>
                          <a:ea typeface="Calibri" panose="020F0502020204030204" pitchFamily="34" charset="0"/>
                          <a:cs typeface="Calibri" panose="020F0502020204030204" pitchFamily="34" charset="0"/>
                        </a:rPr>
                        <a:t>Precision</a:t>
                      </a:r>
                    </a:p>
                  </a:txBody>
                  <a:tcPr/>
                </a:tc>
                <a:tc>
                  <a:txBody>
                    <a:bodyPr/>
                    <a:lstStyle/>
                    <a:p>
                      <a:r>
                        <a:rPr lang="en-US" sz="1800" dirty="0">
                          <a:latin typeface="Calibri" panose="020F0502020204030204" pitchFamily="34" charset="0"/>
                          <a:ea typeface="Calibri" panose="020F0502020204030204" pitchFamily="34" charset="0"/>
                          <a:cs typeface="Calibri" panose="020F0502020204030204" pitchFamily="34" charset="0"/>
                        </a:rPr>
                        <a:t>Recall</a:t>
                      </a:r>
                    </a:p>
                  </a:txBody>
                  <a:tcPr/>
                </a:tc>
                <a:extLst>
                  <a:ext uri="{0D108BD9-81ED-4DB2-BD59-A6C34878D82A}">
                    <a16:rowId xmlns:a16="http://schemas.microsoft.com/office/drawing/2014/main" val="1935887759"/>
                  </a:ext>
                </a:extLst>
              </a:tr>
              <a:tr h="799387">
                <a:tc>
                  <a:txBody>
                    <a:bodyPr/>
                    <a:lstStyle/>
                    <a:p>
                      <a:r>
                        <a:rPr lang="en-US" sz="1800" dirty="0">
                          <a:latin typeface="Calibri" panose="020F0502020204030204" pitchFamily="34" charset="0"/>
                          <a:ea typeface="Calibri" panose="020F0502020204030204" pitchFamily="34" charset="0"/>
                          <a:cs typeface="Calibri" panose="020F0502020204030204" pitchFamily="34" charset="0"/>
                        </a:rPr>
                        <a:t>Narrative</a:t>
                      </a:r>
                    </a:p>
                  </a:txBody>
                  <a:tcPr/>
                </a:tc>
                <a:tc>
                  <a:txBody>
                    <a:bodyPr/>
                    <a:lstStyle/>
                    <a:p>
                      <a:r>
                        <a:rPr lang="en-US" sz="1800" dirty="0">
                          <a:latin typeface="Calibri" panose="020F0502020204030204" pitchFamily="34" charset="0"/>
                          <a:ea typeface="Calibri" panose="020F0502020204030204" pitchFamily="34" charset="0"/>
                          <a:cs typeface="Calibri" panose="020F0502020204030204" pitchFamily="34" charset="0"/>
                        </a:rPr>
                        <a:t>0.87</a:t>
                      </a:r>
                    </a:p>
                  </a:txBody>
                  <a:tcPr/>
                </a:tc>
                <a:tc>
                  <a:txBody>
                    <a:bodyPr/>
                    <a:lstStyle/>
                    <a:p>
                      <a:r>
                        <a:rPr lang="en-US" sz="1800" dirty="0">
                          <a:latin typeface="Calibri" panose="020F0502020204030204" pitchFamily="34" charset="0"/>
                          <a:ea typeface="Calibri" panose="020F0502020204030204" pitchFamily="34" charset="0"/>
                          <a:cs typeface="Calibri" panose="020F0502020204030204" pitchFamily="34" charset="0"/>
                        </a:rPr>
                        <a:t>0.93</a:t>
                      </a:r>
                    </a:p>
                  </a:txBody>
                  <a:tcPr/>
                </a:tc>
                <a:extLst>
                  <a:ext uri="{0D108BD9-81ED-4DB2-BD59-A6C34878D82A}">
                    <a16:rowId xmlns:a16="http://schemas.microsoft.com/office/drawing/2014/main" val="2428237696"/>
                  </a:ext>
                </a:extLst>
              </a:tr>
              <a:tr h="621747">
                <a:tc>
                  <a:txBody>
                    <a:bodyPr/>
                    <a:lstStyle/>
                    <a:p>
                      <a:r>
                        <a:rPr lang="en-US" sz="1800" dirty="0">
                          <a:latin typeface="Calibri" panose="020F0502020204030204" pitchFamily="34" charset="0"/>
                          <a:ea typeface="Calibri" panose="020F0502020204030204" pitchFamily="34" charset="0"/>
                          <a:cs typeface="Calibri" panose="020F0502020204030204" pitchFamily="34" charset="0"/>
                        </a:rPr>
                        <a:t>Setting</a:t>
                      </a:r>
                    </a:p>
                  </a:txBody>
                  <a:tcPr/>
                </a:tc>
                <a:tc>
                  <a:txBody>
                    <a:bodyPr/>
                    <a:lstStyle/>
                    <a:p>
                      <a:r>
                        <a:rPr lang="en-US" sz="1800" dirty="0">
                          <a:latin typeface="Calibri" panose="020F0502020204030204" pitchFamily="34" charset="0"/>
                          <a:ea typeface="Calibri" panose="020F0502020204030204" pitchFamily="34" charset="0"/>
                          <a:cs typeface="Calibri" panose="020F0502020204030204" pitchFamily="34" charset="0"/>
                        </a:rPr>
                        <a:t>.80</a:t>
                      </a:r>
                    </a:p>
                  </a:txBody>
                  <a:tcPr/>
                </a:tc>
                <a:tc>
                  <a:txBody>
                    <a:bodyPr/>
                    <a:lstStyle/>
                    <a:p>
                      <a:r>
                        <a:rPr lang="en-US" sz="1800" b="0" i="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.50</a:t>
                      </a:r>
                    </a:p>
                  </a:txBody>
                  <a:tcPr/>
                </a:tc>
                <a:extLst>
                  <a:ext uri="{0D108BD9-81ED-4DB2-BD59-A6C34878D82A}">
                    <a16:rowId xmlns:a16="http://schemas.microsoft.com/office/drawing/2014/main" val="975693310"/>
                  </a:ext>
                </a:extLst>
              </a:tr>
              <a:tr h="444102">
                <a:tc>
                  <a:txBody>
                    <a:bodyPr/>
                    <a:lstStyle/>
                    <a:p>
                      <a:r>
                        <a:rPr lang="en-US" sz="1800" dirty="0">
                          <a:latin typeface="Calibri" panose="020F0502020204030204" pitchFamily="34" charset="0"/>
                          <a:ea typeface="Calibri" panose="020F0502020204030204" pitchFamily="34" charset="0"/>
                          <a:cs typeface="Calibri" panose="020F0502020204030204" pitchFamily="34" charset="0"/>
                        </a:rPr>
                        <a:t>Atmosphere</a:t>
                      </a:r>
                    </a:p>
                  </a:txBody>
                  <a:tcPr/>
                </a:tc>
                <a:tc>
                  <a:txBody>
                    <a:bodyPr/>
                    <a:lstStyle/>
                    <a:p>
                      <a:r>
                        <a:rPr lang="en-US" sz="1800" dirty="0">
                          <a:latin typeface="Calibri" panose="020F0502020204030204" pitchFamily="34" charset="0"/>
                          <a:ea typeface="Calibri" panose="020F0502020204030204" pitchFamily="34" charset="0"/>
                          <a:cs typeface="Calibri" panose="020F0502020204030204" pitchFamily="34" charset="0"/>
                        </a:rPr>
                        <a:t>1.0</a:t>
                      </a:r>
                    </a:p>
                  </a:txBody>
                  <a:tcPr/>
                </a:tc>
                <a:tc>
                  <a:txBody>
                    <a:bodyPr/>
                    <a:lstStyle/>
                    <a:p>
                      <a:r>
                        <a:rPr lang="en-US" sz="1800" b="0" i="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0.30</a:t>
                      </a:r>
                    </a:p>
                  </a:txBody>
                  <a:tcPr/>
                </a:tc>
                <a:extLst>
                  <a:ext uri="{0D108BD9-81ED-4DB2-BD59-A6C34878D82A}">
                    <a16:rowId xmlns:a16="http://schemas.microsoft.com/office/drawing/2014/main" val="2874849683"/>
                  </a:ext>
                </a:extLst>
              </a:tr>
              <a:tr h="799387">
                <a:tc>
                  <a:txBody>
                    <a:bodyPr/>
                    <a:lstStyle/>
                    <a:p>
                      <a:r>
                        <a:rPr lang="en-US" sz="1800" dirty="0">
                          <a:latin typeface="Calibri" panose="020F0502020204030204" pitchFamily="34" charset="0"/>
                          <a:ea typeface="Calibri" panose="020F0502020204030204" pitchFamily="34" charset="0"/>
                          <a:cs typeface="Calibri" panose="020F0502020204030204" pitchFamily="34" charset="0"/>
                        </a:rPr>
                        <a:t>Characters</a:t>
                      </a:r>
                    </a:p>
                  </a:txBody>
                  <a:tcPr/>
                </a:tc>
                <a:tc>
                  <a:txBody>
                    <a:bodyPr/>
                    <a:lstStyle/>
                    <a:p>
                      <a:r>
                        <a:rPr lang="en-US" sz="1800" dirty="0">
                          <a:latin typeface="Calibri" panose="020F0502020204030204" pitchFamily="34" charset="0"/>
                          <a:ea typeface="Calibri" panose="020F0502020204030204" pitchFamily="34" charset="0"/>
                          <a:cs typeface="Calibri" panose="020F0502020204030204" pitchFamily="34" charset="0"/>
                        </a:rPr>
                        <a:t>.8</a:t>
                      </a:r>
                    </a:p>
                  </a:txBody>
                  <a:tcPr/>
                </a:tc>
                <a:tc>
                  <a:txBody>
                    <a:bodyPr/>
                    <a:lstStyle/>
                    <a:p>
                      <a:r>
                        <a:rPr lang="en-US" sz="1800" b="0" i="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.67</a:t>
                      </a:r>
                    </a:p>
                  </a:txBody>
                  <a:tcPr/>
                </a:tc>
                <a:extLst>
                  <a:ext uri="{0D108BD9-81ED-4DB2-BD59-A6C34878D82A}">
                    <a16:rowId xmlns:a16="http://schemas.microsoft.com/office/drawing/2014/main" val="2926760513"/>
                  </a:ext>
                </a:extLst>
              </a:tr>
              <a:tr h="444102">
                <a:tc>
                  <a:txBody>
                    <a:bodyPr/>
                    <a:lstStyle/>
                    <a:p>
                      <a:r>
                        <a:rPr lang="en-US" sz="1800" dirty="0">
                          <a:latin typeface="Calibri" panose="020F0502020204030204" pitchFamily="34" charset="0"/>
                          <a:ea typeface="Calibri" panose="020F0502020204030204" pitchFamily="34" charset="0"/>
                          <a:cs typeface="Calibri" panose="020F0502020204030204" pitchFamily="34" charset="0"/>
                        </a:rPr>
                        <a:t>Combat</a:t>
                      </a:r>
                    </a:p>
                  </a:txBody>
                  <a:tcPr/>
                </a:tc>
                <a:tc>
                  <a:txBody>
                    <a:bodyPr/>
                    <a:lstStyle/>
                    <a:p>
                      <a:r>
                        <a:rPr lang="en-US" sz="1800" dirty="0">
                          <a:latin typeface="Calibri" panose="020F0502020204030204" pitchFamily="34" charset="0"/>
                          <a:ea typeface="Calibri" panose="020F0502020204030204" pitchFamily="34" charset="0"/>
                          <a:cs typeface="Calibri" panose="020F0502020204030204" pitchFamily="34" charset="0"/>
                        </a:rPr>
                        <a:t>1.0</a:t>
                      </a:r>
                    </a:p>
                  </a:txBody>
                  <a:tcPr/>
                </a:tc>
                <a:tc>
                  <a:txBody>
                    <a:bodyPr/>
                    <a:lstStyle/>
                    <a:p>
                      <a:r>
                        <a:rPr lang="en-US" sz="1800" b="0" i="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.57</a:t>
                      </a:r>
                    </a:p>
                  </a:txBody>
                  <a:tcPr/>
                </a:tc>
                <a:extLst>
                  <a:ext uri="{0D108BD9-81ED-4DB2-BD59-A6C34878D82A}">
                    <a16:rowId xmlns:a16="http://schemas.microsoft.com/office/drawing/2014/main" val="3053882921"/>
                  </a:ext>
                </a:extLst>
              </a:tr>
              <a:tr h="799387">
                <a:tc>
                  <a:txBody>
                    <a:bodyPr/>
                    <a:lstStyle/>
                    <a:p>
                      <a:r>
                        <a:rPr lang="en-US" sz="1800" dirty="0">
                          <a:latin typeface="Calibri" panose="020F0502020204030204" pitchFamily="34" charset="0"/>
                          <a:ea typeface="Calibri" panose="020F0502020204030204" pitchFamily="34" charset="0"/>
                          <a:cs typeface="Calibri" panose="020F0502020204030204" pitchFamily="34" charset="0"/>
                        </a:rPr>
                        <a:t>Ideology</a:t>
                      </a:r>
                    </a:p>
                  </a:txBody>
                  <a:tcPr/>
                </a:tc>
                <a:tc>
                  <a:txBody>
                    <a:bodyPr/>
                    <a:lstStyle/>
                    <a:p>
                      <a:r>
                        <a:rPr lang="en-US" sz="1800" dirty="0">
                          <a:latin typeface="Calibri" panose="020F0502020204030204" pitchFamily="34" charset="0"/>
                          <a:ea typeface="Calibri" panose="020F0502020204030204" pitchFamily="34" charset="0"/>
                          <a:cs typeface="Calibri" panose="020F0502020204030204" pitchFamily="34" charset="0"/>
                        </a:rPr>
                        <a:t>.50</a:t>
                      </a:r>
                    </a:p>
                  </a:txBody>
                  <a:tcPr/>
                </a:tc>
                <a:tc>
                  <a:txBody>
                    <a:bodyPr/>
                    <a:lstStyle/>
                    <a:p>
                      <a:r>
                        <a:rPr lang="en-US" sz="1800" b="0" i="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.50</a:t>
                      </a:r>
                    </a:p>
                  </a:txBody>
                  <a:tcPr/>
                </a:tc>
                <a:extLst>
                  <a:ext uri="{0D108BD9-81ED-4DB2-BD59-A6C34878D82A}">
                    <a16:rowId xmlns:a16="http://schemas.microsoft.com/office/drawing/2014/main" val="4291250214"/>
                  </a:ext>
                </a:extLst>
              </a:tr>
              <a:tr h="405511">
                <a:tc>
                  <a:txBody>
                    <a:bodyPr/>
                    <a:lstStyle/>
                    <a:p>
                      <a:r>
                        <a:rPr lang="en-US" sz="1800" dirty="0">
                          <a:latin typeface="Calibri" panose="020F0502020204030204" pitchFamily="34" charset="0"/>
                          <a:ea typeface="Calibri" panose="020F0502020204030204" pitchFamily="34" charset="0"/>
                          <a:cs typeface="Calibri" panose="020F0502020204030204" pitchFamily="34" charset="0"/>
                        </a:rPr>
                        <a:t>Visual/audio</a:t>
                      </a:r>
                    </a:p>
                  </a:txBody>
                  <a:tcPr/>
                </a:tc>
                <a:tc>
                  <a:txBody>
                    <a:bodyPr/>
                    <a:lstStyle/>
                    <a:p>
                      <a:r>
                        <a:rPr lang="en-US" sz="1800" dirty="0">
                          <a:latin typeface="Calibri" panose="020F0502020204030204" pitchFamily="34" charset="0"/>
                          <a:ea typeface="Calibri" panose="020F0502020204030204" pitchFamily="34" charset="0"/>
                          <a:cs typeface="Calibri" panose="020F0502020204030204" pitchFamily="34" charset="0"/>
                        </a:rPr>
                        <a:t>.75</a:t>
                      </a:r>
                    </a:p>
                  </a:txBody>
                  <a:tcPr/>
                </a:tc>
                <a:tc>
                  <a:txBody>
                    <a:bodyPr/>
                    <a:lstStyle/>
                    <a:p>
                      <a:r>
                        <a:rPr lang="en-US" sz="1800" b="0" i="0"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.25</a:t>
                      </a:r>
                    </a:p>
                  </a:txBody>
                  <a:tcPr/>
                </a:tc>
                <a:extLst>
                  <a:ext uri="{0D108BD9-81ED-4DB2-BD59-A6C34878D82A}">
                    <a16:rowId xmlns:a16="http://schemas.microsoft.com/office/drawing/2014/main" val="303468813"/>
                  </a:ext>
                </a:extLst>
              </a:tr>
              <a:tr h="444102">
                <a:tc>
                  <a:txBody>
                    <a:bodyPr/>
                    <a:lstStyle/>
                    <a:p>
                      <a:r>
                        <a:rPr lang="en-US" sz="1800" dirty="0">
                          <a:latin typeface="Calibri" panose="020F0502020204030204" pitchFamily="34" charset="0"/>
                          <a:ea typeface="Calibri" panose="020F0502020204030204" pitchFamily="34" charset="0"/>
                          <a:cs typeface="Calibri" panose="020F0502020204030204" pitchFamily="34" charset="0"/>
                        </a:rPr>
                        <a:t>Technical</a:t>
                      </a:r>
                    </a:p>
                  </a:txBody>
                  <a:tcPr/>
                </a:tc>
                <a:tc>
                  <a:txBody>
                    <a:bodyPr/>
                    <a:lstStyle/>
                    <a:p>
                      <a:r>
                        <a:rPr lang="en-US" sz="1800" dirty="0">
                          <a:latin typeface="Calibri" panose="020F0502020204030204" pitchFamily="34" charset="0"/>
                          <a:ea typeface="Calibri" panose="020F0502020204030204" pitchFamily="34" charset="0"/>
                          <a:cs typeface="Calibri" panose="020F0502020204030204" pitchFamily="34" charset="0"/>
                        </a:rPr>
                        <a:t>.91</a:t>
                      </a:r>
                    </a:p>
                  </a:txBody>
                  <a:tcPr/>
                </a:tc>
                <a:tc>
                  <a:txBody>
                    <a:bodyPr/>
                    <a:lstStyle/>
                    <a:p>
                      <a:r>
                        <a:rPr lang="en-US" sz="1800" dirty="0">
                          <a:latin typeface="Calibri" panose="020F0502020204030204" pitchFamily="34" charset="0"/>
                          <a:ea typeface="Calibri" panose="020F0502020204030204" pitchFamily="34" charset="0"/>
                          <a:cs typeface="Calibri" panose="020F0502020204030204" pitchFamily="34" charset="0"/>
                        </a:rPr>
                        <a:t>.58</a:t>
                      </a:r>
                    </a:p>
                  </a:txBody>
                  <a:tcPr/>
                </a:tc>
                <a:extLst>
                  <a:ext uri="{0D108BD9-81ED-4DB2-BD59-A6C34878D82A}">
                    <a16:rowId xmlns:a16="http://schemas.microsoft.com/office/drawing/2014/main" val="3743173756"/>
                  </a:ext>
                </a:extLst>
              </a:tr>
              <a:tr h="414607">
                <a:tc>
                  <a:txBody>
                    <a:bodyPr/>
                    <a:lstStyle/>
                    <a:p>
                      <a:r>
                        <a:rPr lang="en-US" sz="1800" dirty="0">
                          <a:latin typeface="Calibri" panose="020F0502020204030204" pitchFamily="34" charset="0"/>
                          <a:ea typeface="Calibri" panose="020F0502020204030204" pitchFamily="34" charset="0"/>
                          <a:cs typeface="Calibri" panose="020F0502020204030204" pitchFamily="34" charset="0"/>
                        </a:rPr>
                        <a:t>Pacing</a:t>
                      </a:r>
                    </a:p>
                  </a:txBody>
                  <a:tcPr/>
                </a:tc>
                <a:tc>
                  <a:txBody>
                    <a:bodyPr/>
                    <a:lstStyle/>
                    <a:p>
                      <a:r>
                        <a:rPr lang="en-US" sz="1800" dirty="0">
                          <a:latin typeface="Calibri" panose="020F0502020204030204" pitchFamily="34" charset="0"/>
                          <a:ea typeface="Calibri" panose="020F0502020204030204" pitchFamily="34" charset="0"/>
                          <a:cs typeface="Calibri" panose="020F0502020204030204" pitchFamily="34" charset="0"/>
                        </a:rPr>
                        <a:t>.50</a:t>
                      </a:r>
                    </a:p>
                  </a:txBody>
                  <a:tcPr/>
                </a:tc>
                <a:tc>
                  <a:txBody>
                    <a:bodyPr/>
                    <a:lstStyle/>
                    <a:p>
                      <a:r>
                        <a:rPr lang="en-US" sz="1800" dirty="0">
                          <a:latin typeface="Calibri" panose="020F0502020204030204" pitchFamily="34" charset="0"/>
                          <a:ea typeface="Calibri" panose="020F0502020204030204" pitchFamily="34" charset="0"/>
                          <a:cs typeface="Calibri" panose="020F0502020204030204" pitchFamily="34" charset="0"/>
                        </a:rPr>
                        <a:t>.40</a:t>
                      </a:r>
                    </a:p>
                  </a:txBody>
                  <a:tcPr/>
                </a:tc>
                <a:extLst>
                  <a:ext uri="{0D108BD9-81ED-4DB2-BD59-A6C34878D82A}">
                    <a16:rowId xmlns:a16="http://schemas.microsoft.com/office/drawing/2014/main" val="2638589265"/>
                  </a:ext>
                </a:extLst>
              </a:tr>
            </a:tbl>
          </a:graphicData>
        </a:graphic>
      </p:graphicFrame>
      <p:sp>
        <p:nvSpPr>
          <p:cNvPr id="6" name="TextBox 5">
            <a:extLst>
              <a:ext uri="{FF2B5EF4-FFF2-40B4-BE49-F238E27FC236}">
                <a16:creationId xmlns:a16="http://schemas.microsoft.com/office/drawing/2014/main" id="{80C4684A-9741-21DF-2CC5-05C23E97E707}"/>
              </a:ext>
            </a:extLst>
          </p:cNvPr>
          <p:cNvSpPr txBox="1"/>
          <p:nvPr/>
        </p:nvSpPr>
        <p:spPr>
          <a:xfrm>
            <a:off x="457199" y="365759"/>
            <a:ext cx="4111831" cy="492443"/>
          </a:xfrm>
          <a:prstGeom prst="rect">
            <a:avLst/>
          </a:prstGeom>
          <a:noFill/>
        </p:spPr>
        <p:txBody>
          <a:bodyPr wrap="none" rtlCol="0">
            <a:spAutoFit/>
          </a:bodyPr>
          <a:lstStyle/>
          <a:p>
            <a:r>
              <a:rPr lang="en-US" sz="2600" dirty="0">
                <a:latin typeface="Calibri" panose="020F0502020204030204" pitchFamily="34" charset="0"/>
                <a:ea typeface="Calibri" panose="020F0502020204030204" pitchFamily="34" charset="0"/>
                <a:cs typeface="Calibri" panose="020F0502020204030204" pitchFamily="34" charset="0"/>
              </a:rPr>
              <a:t>Appendix - Validation Results</a:t>
            </a:r>
          </a:p>
        </p:txBody>
      </p:sp>
    </p:spTree>
    <p:extLst>
      <p:ext uri="{BB962C8B-B14F-4D97-AF65-F5344CB8AC3E}">
        <p14:creationId xmlns:p14="http://schemas.microsoft.com/office/powerpoint/2010/main" val="11000219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gs>
            <a:gs pos="50000">
              <a:schemeClr val="bg1">
                <a:tint val="98000"/>
                <a:satMod val="130000"/>
                <a:shade val="90000"/>
                <a:lumMod val="103000"/>
              </a:schemeClr>
            </a:gs>
            <a:gs pos="100000">
              <a:schemeClr val="bg1">
                <a:shade val="63000"/>
                <a:satMod val="120000"/>
              </a:schemeClr>
            </a:gs>
          </a:gsLst>
          <a:lin ang="5400000" scaled="0"/>
        </a:gradFill>
        <a:effectLst/>
      </p:bgPr>
    </p:bg>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6E4643D0-C037-ED1A-1604-8F613EA12535}"/>
              </a:ext>
            </a:extLst>
          </p:cNvPr>
          <p:cNvGraphicFramePr>
            <a:graphicFrameLocks noGrp="1"/>
          </p:cNvGraphicFramePr>
          <p:nvPr>
            <p:extLst>
              <p:ext uri="{D42A27DB-BD31-4B8C-83A1-F6EECF244321}">
                <p14:modId xmlns:p14="http://schemas.microsoft.com/office/powerpoint/2010/main" val="2447147163"/>
              </p:ext>
            </p:extLst>
          </p:nvPr>
        </p:nvGraphicFramePr>
        <p:xfrm>
          <a:off x="457200" y="914400"/>
          <a:ext cx="11132290" cy="5592726"/>
        </p:xfrm>
        <a:graphic>
          <a:graphicData uri="http://schemas.openxmlformats.org/drawingml/2006/table">
            <a:tbl>
              <a:tblPr firstRow="1" bandRow="1">
                <a:tableStyleId>{5C22544A-7EE6-4342-B048-85BDC9FD1C3A}</a:tableStyleId>
              </a:tblPr>
              <a:tblGrid>
                <a:gridCol w="2226458">
                  <a:extLst>
                    <a:ext uri="{9D8B030D-6E8A-4147-A177-3AD203B41FA5}">
                      <a16:colId xmlns:a16="http://schemas.microsoft.com/office/drawing/2014/main" val="2592134700"/>
                    </a:ext>
                  </a:extLst>
                </a:gridCol>
                <a:gridCol w="2226458">
                  <a:extLst>
                    <a:ext uri="{9D8B030D-6E8A-4147-A177-3AD203B41FA5}">
                      <a16:colId xmlns:a16="http://schemas.microsoft.com/office/drawing/2014/main" val="1657355156"/>
                    </a:ext>
                  </a:extLst>
                </a:gridCol>
                <a:gridCol w="2226458">
                  <a:extLst>
                    <a:ext uri="{9D8B030D-6E8A-4147-A177-3AD203B41FA5}">
                      <a16:colId xmlns:a16="http://schemas.microsoft.com/office/drawing/2014/main" val="4020653067"/>
                    </a:ext>
                  </a:extLst>
                </a:gridCol>
                <a:gridCol w="2226458">
                  <a:extLst>
                    <a:ext uri="{9D8B030D-6E8A-4147-A177-3AD203B41FA5}">
                      <a16:colId xmlns:a16="http://schemas.microsoft.com/office/drawing/2014/main" val="259386025"/>
                    </a:ext>
                  </a:extLst>
                </a:gridCol>
                <a:gridCol w="2226458">
                  <a:extLst>
                    <a:ext uri="{9D8B030D-6E8A-4147-A177-3AD203B41FA5}">
                      <a16:colId xmlns:a16="http://schemas.microsoft.com/office/drawing/2014/main" val="2282017544"/>
                    </a:ext>
                  </a:extLst>
                </a:gridCol>
              </a:tblGrid>
              <a:tr h="621414">
                <a:tc>
                  <a:txBody>
                    <a:bodyPr/>
                    <a:lstStyle/>
                    <a:p>
                      <a:r>
                        <a:rPr lang="en-US" sz="1600" dirty="0">
                          <a:latin typeface="Calibri" panose="020F0502020204030204" pitchFamily="34" charset="0"/>
                          <a:ea typeface="Calibri" panose="020F0502020204030204" pitchFamily="34" charset="0"/>
                          <a:cs typeface="Calibri" panose="020F0502020204030204" pitchFamily="34" charset="0"/>
                        </a:rPr>
                        <a:t>Game</a:t>
                      </a:r>
                    </a:p>
                  </a:txBody>
                  <a:tcPr/>
                </a:tc>
                <a:tc>
                  <a:txBody>
                    <a:bodyPr/>
                    <a:lstStyle/>
                    <a:p>
                      <a:r>
                        <a:rPr lang="en-US" sz="1600" dirty="0">
                          <a:latin typeface="Calibri" panose="020F0502020204030204" pitchFamily="34" charset="0"/>
                          <a:ea typeface="Calibri" panose="020F0502020204030204" pitchFamily="34" charset="0"/>
                          <a:cs typeface="Calibri" panose="020F0502020204030204" pitchFamily="34" charset="0"/>
                        </a:rPr>
                        <a:t>English Steam Reviews</a:t>
                      </a:r>
                    </a:p>
                  </a:txBody>
                  <a:tcPr/>
                </a:tc>
                <a:tc>
                  <a:txBody>
                    <a:bodyPr/>
                    <a:lstStyle/>
                    <a:p>
                      <a:r>
                        <a:rPr lang="en-US" sz="1600" dirty="0">
                          <a:latin typeface="Calibri" panose="020F0502020204030204" pitchFamily="34" charset="0"/>
                          <a:ea typeface="Calibri" panose="020F0502020204030204" pitchFamily="34" charset="0"/>
                          <a:cs typeface="Calibri" panose="020F0502020204030204" pitchFamily="34" charset="0"/>
                        </a:rPr>
                        <a:t>% positive</a:t>
                      </a:r>
                    </a:p>
                  </a:txBody>
                  <a:tcPr/>
                </a:tc>
                <a:tc>
                  <a:txBody>
                    <a:bodyPr/>
                    <a:lstStyle/>
                    <a:p>
                      <a:r>
                        <a:rPr lang="en-US" sz="1600" dirty="0">
                          <a:latin typeface="Calibri" panose="020F0502020204030204" pitchFamily="34" charset="0"/>
                          <a:ea typeface="Calibri" panose="020F0502020204030204" pitchFamily="34" charset="0"/>
                          <a:cs typeface="Calibri" panose="020F0502020204030204" pitchFamily="34" charset="0"/>
                        </a:rPr>
                        <a:t>Source</a:t>
                      </a:r>
                    </a:p>
                  </a:txBody>
                  <a:tcPr/>
                </a:tc>
                <a:tc>
                  <a:txBody>
                    <a:bodyPr/>
                    <a:lstStyle/>
                    <a:p>
                      <a:r>
                        <a:rPr lang="en-US" sz="1600" dirty="0">
                          <a:latin typeface="Calibri" panose="020F0502020204030204" pitchFamily="34" charset="0"/>
                          <a:ea typeface="Calibri" panose="020F0502020204030204" pitchFamily="34" charset="0"/>
                          <a:cs typeface="Calibri" panose="020F0502020204030204" pitchFamily="34" charset="0"/>
                        </a:rPr>
                        <a:t>Accessed</a:t>
                      </a:r>
                    </a:p>
                  </a:txBody>
                  <a:tcPr/>
                </a:tc>
                <a:extLst>
                  <a:ext uri="{0D108BD9-81ED-4DB2-BD59-A6C34878D82A}">
                    <a16:rowId xmlns:a16="http://schemas.microsoft.com/office/drawing/2014/main" val="2319519180"/>
                  </a:ext>
                </a:extLst>
              </a:tr>
              <a:tr h="621414">
                <a:tc>
                  <a:txBody>
                    <a:bodyPr/>
                    <a:lstStyle/>
                    <a:p>
                      <a:r>
                        <a:rPr lang="en-US" sz="1600" dirty="0">
                          <a:latin typeface="Calibri" panose="020F0502020204030204" pitchFamily="34" charset="0"/>
                          <a:ea typeface="Calibri" panose="020F0502020204030204" pitchFamily="34" charset="0"/>
                          <a:cs typeface="Calibri" panose="020F0502020204030204" pitchFamily="34" charset="0"/>
                        </a:rPr>
                        <a:t>BioShock Remastered</a:t>
                      </a:r>
                    </a:p>
                  </a:txBody>
                  <a:tcPr/>
                </a:tc>
                <a:tc>
                  <a:txBody>
                    <a:bodyPr/>
                    <a:lstStyle/>
                    <a:p>
                      <a:r>
                        <a:rPr lang="en-US" sz="1600">
                          <a:latin typeface="Calibri" panose="020F0502020204030204" pitchFamily="34" charset="0"/>
                          <a:ea typeface="Calibri" panose="020F0502020204030204" pitchFamily="34" charset="0"/>
                          <a:cs typeface="Calibri" panose="020F0502020204030204" pitchFamily="34" charset="0"/>
                        </a:rPr>
                        <a:t>26,155</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r>
                        <a:rPr lang="en-US" sz="1600" dirty="0">
                          <a:latin typeface="Calibri" panose="020F0502020204030204" pitchFamily="34" charset="0"/>
                          <a:ea typeface="Calibri" panose="020F0502020204030204" pitchFamily="34" charset="0"/>
                          <a:cs typeface="Calibri" panose="020F0502020204030204" pitchFamily="34" charset="0"/>
                        </a:rPr>
                        <a:t>82.0</a:t>
                      </a:r>
                    </a:p>
                  </a:txBody>
                  <a:tcPr/>
                </a:tc>
                <a:tc>
                  <a:txBody>
                    <a:bodyPr/>
                    <a:lstStyle/>
                    <a:p>
                      <a:r>
                        <a:rPr lang="en-US" sz="1600" dirty="0">
                          <a:latin typeface="Calibri" panose="020F0502020204030204" pitchFamily="34" charset="0"/>
                          <a:ea typeface="Calibri" panose="020F0502020204030204" pitchFamily="34" charset="0"/>
                          <a:cs typeface="Calibri" panose="020F0502020204030204" pitchFamily="34" charset="0"/>
                        </a:rPr>
                        <a:t>Steam review API (notebook 1)</a:t>
                      </a:r>
                    </a:p>
                  </a:txBody>
                  <a:tcPr/>
                </a:tc>
                <a:tc>
                  <a:txBody>
                    <a:bodyPr/>
                    <a:lstStyle/>
                    <a:p>
                      <a:r>
                        <a:rPr lang="en-US" sz="1600" dirty="0">
                          <a:latin typeface="Calibri" panose="020F0502020204030204" pitchFamily="34" charset="0"/>
                          <a:ea typeface="Calibri" panose="020F0502020204030204" pitchFamily="34" charset="0"/>
                          <a:cs typeface="Calibri" panose="020F0502020204030204" pitchFamily="34" charset="0"/>
                        </a:rPr>
                        <a:t>July 26, 2026</a:t>
                      </a:r>
                    </a:p>
                  </a:txBody>
                  <a:tcPr/>
                </a:tc>
                <a:extLst>
                  <a:ext uri="{0D108BD9-81ED-4DB2-BD59-A6C34878D82A}">
                    <a16:rowId xmlns:a16="http://schemas.microsoft.com/office/drawing/2014/main" val="844077674"/>
                  </a:ext>
                </a:extLst>
              </a:tr>
              <a:tr h="887734">
                <a:tc>
                  <a:txBody>
                    <a:bodyPr/>
                    <a:lstStyle/>
                    <a:p>
                      <a:r>
                        <a:rPr lang="en-US" sz="1600" dirty="0">
                          <a:latin typeface="Calibri" panose="020F0502020204030204" pitchFamily="34" charset="0"/>
                          <a:ea typeface="Calibri" panose="020F0502020204030204" pitchFamily="34" charset="0"/>
                          <a:cs typeface="Calibri" panose="020F0502020204030204" pitchFamily="34" charset="0"/>
                        </a:rPr>
                        <a:t>BioShock 2</a:t>
                      </a:r>
                    </a:p>
                  </a:txBody>
                  <a:tcPr/>
                </a:tc>
                <a:tc>
                  <a:txBody>
                    <a:bodyPr/>
                    <a:lstStyle/>
                    <a:p>
                      <a:r>
                        <a:rPr lang="en-US" sz="1600" dirty="0">
                          <a:latin typeface="Calibri" panose="020F0502020204030204" pitchFamily="34" charset="0"/>
                          <a:ea typeface="Calibri" panose="020F0502020204030204" pitchFamily="34" charset="0"/>
                          <a:cs typeface="Calibri" panose="020F0502020204030204" pitchFamily="34" charset="0"/>
                        </a:rPr>
                        <a:t>12,008</a:t>
                      </a:r>
                    </a:p>
                  </a:txBody>
                  <a:tcPr/>
                </a:tc>
                <a:tc>
                  <a:txBody>
                    <a:bodyPr/>
                    <a:lstStyle/>
                    <a:p>
                      <a:r>
                        <a:rPr lang="en-US" sz="1600" dirty="0">
                          <a:latin typeface="Calibri" panose="020F0502020204030204" pitchFamily="34" charset="0"/>
                          <a:ea typeface="Calibri" panose="020F0502020204030204" pitchFamily="34" charset="0"/>
                          <a:cs typeface="Calibri" panose="020F0502020204030204" pitchFamily="34" charset="0"/>
                        </a:rPr>
                        <a:t>71.0</a:t>
                      </a:r>
                    </a:p>
                    <a:p>
                      <a:endParaRPr lang="en-US" sz="16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Calibri" panose="020F0502020204030204" pitchFamily="34" charset="0"/>
                          <a:ea typeface="Calibri" panose="020F0502020204030204" pitchFamily="34" charset="0"/>
                          <a:cs typeface="Calibri" panose="020F0502020204030204" pitchFamily="34" charset="0"/>
                        </a:rPr>
                        <a:t>Steam review API (notebook 1)</a:t>
                      </a:r>
                    </a:p>
                    <a:p>
                      <a:endParaRPr lang="en-US" sz="16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Calibri" panose="020F0502020204030204" pitchFamily="34" charset="0"/>
                          <a:ea typeface="Calibri" panose="020F0502020204030204" pitchFamily="34" charset="0"/>
                          <a:cs typeface="Calibri" panose="020F0502020204030204" pitchFamily="34" charset="0"/>
                        </a:rPr>
                        <a:t>July 26, 2026</a:t>
                      </a:r>
                    </a:p>
                    <a:p>
                      <a:endParaRPr lang="en-US" sz="1600"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471013570"/>
                  </a:ext>
                </a:extLst>
              </a:tr>
              <a:tr h="887734">
                <a:tc>
                  <a:txBody>
                    <a:bodyPr/>
                    <a:lstStyle/>
                    <a:p>
                      <a:r>
                        <a:rPr lang="en-US" sz="1600" dirty="0">
                          <a:latin typeface="Calibri" panose="020F0502020204030204" pitchFamily="34" charset="0"/>
                          <a:ea typeface="Calibri" panose="020F0502020204030204" pitchFamily="34" charset="0"/>
                          <a:cs typeface="Calibri" panose="020F0502020204030204" pitchFamily="34" charset="0"/>
                        </a:rPr>
                        <a:t>BioShock Infinite</a:t>
                      </a:r>
                    </a:p>
                  </a:txBody>
                  <a:tcPr/>
                </a:tc>
                <a:tc>
                  <a:txBody>
                    <a:bodyPr/>
                    <a:lstStyle/>
                    <a:p>
                      <a:r>
                        <a:rPr lang="en-US" sz="1600" dirty="0">
                          <a:latin typeface="Calibri" panose="020F0502020204030204" pitchFamily="34" charset="0"/>
                          <a:ea typeface="Calibri" panose="020F0502020204030204" pitchFamily="34" charset="0"/>
                          <a:cs typeface="Calibri" panose="020F0502020204030204" pitchFamily="34" charset="0"/>
                        </a:rPr>
                        <a:t>47,232</a:t>
                      </a:r>
                    </a:p>
                  </a:txBody>
                  <a:tcPr/>
                </a:tc>
                <a:tc>
                  <a:txBody>
                    <a:bodyPr/>
                    <a:lstStyle/>
                    <a:p>
                      <a:r>
                        <a:rPr lang="en-US" sz="1600" dirty="0">
                          <a:latin typeface="Calibri" panose="020F0502020204030204" pitchFamily="34" charset="0"/>
                          <a:ea typeface="Calibri" panose="020F0502020204030204" pitchFamily="34" charset="0"/>
                          <a:cs typeface="Calibri" panose="020F0502020204030204" pitchFamily="34" charset="0"/>
                        </a:rPr>
                        <a:t>91.1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Calibri" panose="020F0502020204030204" pitchFamily="34" charset="0"/>
                          <a:ea typeface="Calibri" panose="020F0502020204030204" pitchFamily="34" charset="0"/>
                          <a:cs typeface="Calibri" panose="020F0502020204030204" pitchFamily="34" charset="0"/>
                        </a:rPr>
                        <a:t>Steam review API (notebook 1)</a:t>
                      </a:r>
                    </a:p>
                    <a:p>
                      <a:endParaRPr lang="en-US" sz="16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Calibri" panose="020F0502020204030204" pitchFamily="34" charset="0"/>
                          <a:ea typeface="Calibri" panose="020F0502020204030204" pitchFamily="34" charset="0"/>
                          <a:cs typeface="Calibri" panose="020F0502020204030204" pitchFamily="34" charset="0"/>
                        </a:rPr>
                        <a:t>July 26, 2026</a:t>
                      </a:r>
                    </a:p>
                    <a:p>
                      <a:endParaRPr lang="en-US" sz="1600"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753879754"/>
                  </a:ext>
                </a:extLst>
              </a:tr>
              <a:tr h="798962">
                <a:tc>
                  <a:txBody>
                    <a:bodyPr/>
                    <a:lstStyle/>
                    <a:p>
                      <a:r>
                        <a:rPr lang="en-US" sz="1600" dirty="0">
                          <a:latin typeface="Calibri" panose="020F0502020204030204" pitchFamily="34" charset="0"/>
                          <a:ea typeface="Calibri" panose="020F0502020204030204" pitchFamily="34" charset="0"/>
                          <a:cs typeface="Calibri" panose="020F0502020204030204" pitchFamily="34" charset="0"/>
                        </a:rPr>
                        <a:t>Doom (2016)</a:t>
                      </a:r>
                    </a:p>
                  </a:txBody>
                  <a:tcPr/>
                </a:tc>
                <a:tc>
                  <a:txBody>
                    <a:bodyPr/>
                    <a:lstStyle/>
                    <a:p>
                      <a:r>
                        <a:rPr lang="en-US" sz="1600" dirty="0">
                          <a:latin typeface="Calibri" panose="020F0502020204030204" pitchFamily="34" charset="0"/>
                          <a:ea typeface="Calibri" panose="020F0502020204030204" pitchFamily="34" charset="0"/>
                          <a:cs typeface="Calibri" panose="020F0502020204030204" pitchFamily="34" charset="0"/>
                        </a:rPr>
                        <a:t>84,839</a:t>
                      </a:r>
                    </a:p>
                  </a:txBody>
                  <a:tcPr/>
                </a:tc>
                <a:tc>
                  <a:txBody>
                    <a:bodyPr/>
                    <a:lstStyle/>
                    <a:p>
                      <a:r>
                        <a:rPr lang="en-US" sz="1600" dirty="0">
                          <a:latin typeface="Calibri" panose="020F0502020204030204" pitchFamily="34" charset="0"/>
                          <a:ea typeface="Calibri" panose="020F0502020204030204" pitchFamily="34" charset="0"/>
                          <a:cs typeface="Calibri" panose="020F0502020204030204" pitchFamily="34" charset="0"/>
                        </a:rPr>
                        <a:t>95.0</a:t>
                      </a:r>
                    </a:p>
                  </a:txBody>
                  <a:tcPr/>
                </a:tc>
                <a:tc>
                  <a:txBody>
                    <a:bodyPr/>
                    <a:lstStyle/>
                    <a:p>
                      <a:r>
                        <a:rPr lang="en-US" sz="1600" dirty="0">
                          <a:latin typeface="Calibri" panose="020F0502020204030204" pitchFamily="34" charset="0"/>
                          <a:ea typeface="Calibri" panose="020F0502020204030204" pitchFamily="34" charset="0"/>
                          <a:cs typeface="Calibri" panose="020F0502020204030204" pitchFamily="34" charset="0"/>
                        </a:rPr>
                        <a:t>Steam store review summary</a:t>
                      </a:r>
                    </a:p>
                  </a:txBody>
                  <a:tcPr/>
                </a:tc>
                <a:tc>
                  <a:txBody>
                    <a:bodyPr/>
                    <a:lstStyle/>
                    <a:p>
                      <a:r>
                        <a:rPr lang="en-US" sz="1600" dirty="0">
                          <a:latin typeface="Calibri" panose="020F0502020204030204" pitchFamily="34" charset="0"/>
                          <a:ea typeface="Calibri" panose="020F0502020204030204" pitchFamily="34" charset="0"/>
                          <a:cs typeface="Calibri" panose="020F0502020204030204" pitchFamily="34" charset="0"/>
                        </a:rPr>
                        <a:t>September 3, 2026</a:t>
                      </a:r>
                      <a:endParaRPr lang="en-US" sz="1600" baseline="30000" dirty="0">
                        <a:latin typeface="Calibri" panose="020F0502020204030204" pitchFamily="34" charset="0"/>
                        <a:ea typeface="Calibri" panose="020F0502020204030204" pitchFamily="34" charset="0"/>
                        <a:cs typeface="Calibri" panose="020F0502020204030204" pitchFamily="34" charset="0"/>
                      </a:endParaRPr>
                    </a:p>
                    <a:p>
                      <a:endParaRPr lang="en-US" sz="1600" baseline="30000" dirty="0">
                        <a:latin typeface="Calibri" panose="020F0502020204030204" pitchFamily="34" charset="0"/>
                        <a:ea typeface="Calibri" panose="020F0502020204030204" pitchFamily="34" charset="0"/>
                        <a:cs typeface="Calibri" panose="020F0502020204030204" pitchFamily="34" charset="0"/>
                      </a:endParaRPr>
                    </a:p>
                    <a:p>
                      <a:endParaRPr lang="en-US" sz="1600"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040104333"/>
                  </a:ext>
                </a:extLst>
              </a:tr>
              <a:tr h="887734">
                <a:tc>
                  <a:txBody>
                    <a:bodyPr/>
                    <a:lstStyle/>
                    <a:p>
                      <a:r>
                        <a:rPr lang="en-US" sz="1600" dirty="0">
                          <a:latin typeface="Calibri" panose="020F0502020204030204" pitchFamily="34" charset="0"/>
                          <a:ea typeface="Calibri" panose="020F0502020204030204" pitchFamily="34" charset="0"/>
                          <a:cs typeface="Calibri" panose="020F0502020204030204" pitchFamily="34" charset="0"/>
                        </a:rPr>
                        <a:t>Dishonored (2012)</a:t>
                      </a:r>
                    </a:p>
                  </a:txBody>
                  <a:tcPr/>
                </a:tc>
                <a:tc>
                  <a:txBody>
                    <a:bodyPr/>
                    <a:lstStyle/>
                    <a:p>
                      <a:r>
                        <a:rPr lang="en-US" sz="1600" dirty="0">
                          <a:latin typeface="Calibri" panose="020F0502020204030204" pitchFamily="34" charset="0"/>
                          <a:ea typeface="Calibri" panose="020F0502020204030204" pitchFamily="34" charset="0"/>
                          <a:cs typeface="Calibri" panose="020F0502020204030204" pitchFamily="34" charset="0"/>
                        </a:rPr>
                        <a:t>39,664</a:t>
                      </a:r>
                    </a:p>
                  </a:txBody>
                  <a:tcPr/>
                </a:tc>
                <a:tc>
                  <a:txBody>
                    <a:bodyPr/>
                    <a:lstStyle/>
                    <a:p>
                      <a:r>
                        <a:rPr lang="en-US" sz="1600" dirty="0">
                          <a:latin typeface="Calibri" panose="020F0502020204030204" pitchFamily="34" charset="0"/>
                          <a:ea typeface="Calibri" panose="020F0502020204030204" pitchFamily="34" charset="0"/>
                          <a:cs typeface="Calibri" panose="020F0502020204030204" pitchFamily="34" charset="0"/>
                        </a:rPr>
                        <a:t>97.0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Calibri" panose="020F0502020204030204" pitchFamily="34" charset="0"/>
                          <a:ea typeface="Calibri" panose="020F0502020204030204" pitchFamily="34" charset="0"/>
                          <a:cs typeface="Calibri" panose="020F0502020204030204" pitchFamily="34" charset="0"/>
                        </a:rPr>
                        <a:t>Steam store review summary</a:t>
                      </a:r>
                    </a:p>
                    <a:p>
                      <a:endParaRPr lang="en-US" sz="16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r>
                        <a:rPr lang="en-US" sz="1600" dirty="0">
                          <a:latin typeface="Calibri" panose="020F0502020204030204" pitchFamily="34" charset="0"/>
                          <a:ea typeface="Calibri" panose="020F0502020204030204" pitchFamily="34" charset="0"/>
                          <a:cs typeface="Calibri" panose="020F0502020204030204" pitchFamily="34" charset="0"/>
                        </a:rPr>
                        <a:t>September 3, 2026</a:t>
                      </a:r>
                    </a:p>
                  </a:txBody>
                  <a:tcPr/>
                </a:tc>
                <a:extLst>
                  <a:ext uri="{0D108BD9-81ED-4DB2-BD59-A6C34878D82A}">
                    <a16:rowId xmlns:a16="http://schemas.microsoft.com/office/drawing/2014/main" val="2674051839"/>
                  </a:ext>
                </a:extLst>
              </a:tr>
              <a:tr h="887734">
                <a:tc>
                  <a:txBody>
                    <a:bodyPr/>
                    <a:lstStyle/>
                    <a:p>
                      <a:r>
                        <a:rPr lang="en-US" sz="1600" dirty="0">
                          <a:latin typeface="Calibri" panose="020F0502020204030204" pitchFamily="34" charset="0"/>
                          <a:ea typeface="Calibri" panose="020F0502020204030204" pitchFamily="34" charset="0"/>
                          <a:cs typeface="Calibri" panose="020F0502020204030204" pitchFamily="34" charset="0"/>
                        </a:rPr>
                        <a:t>Dishonored 2 (2016)</a:t>
                      </a:r>
                    </a:p>
                  </a:txBody>
                  <a:tcPr/>
                </a:tc>
                <a:tc>
                  <a:txBody>
                    <a:bodyPr/>
                    <a:lstStyle/>
                    <a:p>
                      <a:r>
                        <a:rPr lang="en-US" sz="1600" dirty="0">
                          <a:latin typeface="Calibri" panose="020F0502020204030204" pitchFamily="34" charset="0"/>
                          <a:ea typeface="Calibri" panose="020F0502020204030204" pitchFamily="34" charset="0"/>
                          <a:cs typeface="Calibri" panose="020F0502020204030204" pitchFamily="34" charset="0"/>
                        </a:rPr>
                        <a:t>19,817</a:t>
                      </a:r>
                    </a:p>
                  </a:txBody>
                  <a:tcPr/>
                </a:tc>
                <a:tc>
                  <a:txBody>
                    <a:bodyPr/>
                    <a:lstStyle/>
                    <a:p>
                      <a:r>
                        <a:rPr lang="en-US" sz="1600" dirty="0">
                          <a:latin typeface="Calibri" panose="020F0502020204030204" pitchFamily="34" charset="0"/>
                          <a:ea typeface="Calibri" panose="020F0502020204030204" pitchFamily="34" charset="0"/>
                          <a:cs typeface="Calibri" panose="020F0502020204030204" pitchFamily="34" charset="0"/>
                        </a:rPr>
                        <a:t>88.0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Calibri" panose="020F0502020204030204" pitchFamily="34" charset="0"/>
                          <a:ea typeface="Calibri" panose="020F0502020204030204" pitchFamily="34" charset="0"/>
                          <a:cs typeface="Calibri" panose="020F0502020204030204" pitchFamily="34" charset="0"/>
                        </a:rPr>
                        <a:t>Steam store review summary</a:t>
                      </a:r>
                    </a:p>
                    <a:p>
                      <a:r>
                        <a:rPr lang="en-US" sz="1600" dirty="0">
                          <a:latin typeface="Calibri" panose="020F0502020204030204" pitchFamily="34" charset="0"/>
                          <a:ea typeface="Calibri" panose="020F0502020204030204" pitchFamily="34" charset="0"/>
                          <a:cs typeface="Calibri" panose="020F0502020204030204" pitchFamily="34" charset="0"/>
                        </a:rPr>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Calibri" panose="020F0502020204030204" pitchFamily="34" charset="0"/>
                          <a:ea typeface="Calibri" panose="020F0502020204030204" pitchFamily="34" charset="0"/>
                          <a:cs typeface="Calibri" panose="020F0502020204030204" pitchFamily="34" charset="0"/>
                        </a:rPr>
                        <a:t>September 3, 2026</a:t>
                      </a:r>
                    </a:p>
                    <a:p>
                      <a:endParaRPr lang="en-US" sz="1600"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496073798"/>
                  </a:ext>
                </a:extLst>
              </a:tr>
            </a:tbl>
          </a:graphicData>
        </a:graphic>
      </p:graphicFrame>
      <p:sp>
        <p:nvSpPr>
          <p:cNvPr id="5" name="TextBox 4">
            <a:extLst>
              <a:ext uri="{FF2B5EF4-FFF2-40B4-BE49-F238E27FC236}">
                <a16:creationId xmlns:a16="http://schemas.microsoft.com/office/drawing/2014/main" id="{CC643390-C63C-7ACC-F9A3-6FADC8935605}"/>
              </a:ext>
            </a:extLst>
          </p:cNvPr>
          <p:cNvSpPr txBox="1"/>
          <p:nvPr/>
        </p:nvSpPr>
        <p:spPr>
          <a:xfrm>
            <a:off x="457200" y="421957"/>
            <a:ext cx="7655442" cy="492443"/>
          </a:xfrm>
          <a:prstGeom prst="rect">
            <a:avLst/>
          </a:prstGeom>
          <a:noFill/>
        </p:spPr>
        <p:txBody>
          <a:bodyPr wrap="square" rtlCol="0">
            <a:spAutoFit/>
          </a:bodyPr>
          <a:lstStyle/>
          <a:p>
            <a:r>
              <a:rPr lang="en-US" sz="2600" dirty="0"/>
              <a:t>Appendix – data and comparison sources</a:t>
            </a:r>
          </a:p>
        </p:txBody>
      </p:sp>
    </p:spTree>
    <p:extLst>
      <p:ext uri="{BB962C8B-B14F-4D97-AF65-F5344CB8AC3E}">
        <p14:creationId xmlns:p14="http://schemas.microsoft.com/office/powerpoint/2010/main" val="29256429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gs>
            <a:gs pos="50000">
              <a:schemeClr val="bg1">
                <a:tint val="98000"/>
                <a:satMod val="130000"/>
                <a:shade val="90000"/>
                <a:lumMod val="103000"/>
              </a:schemeClr>
            </a:gs>
            <a:gs pos="100000">
              <a:schemeClr val="bg1">
                <a:shade val="63000"/>
                <a:satMod val="120000"/>
              </a:schemeClr>
            </a:gs>
          </a:gsLst>
          <a:lin ang="54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3A587-0E3E-98B4-60C0-C72FF12A6855}"/>
              </a:ext>
            </a:extLst>
          </p:cNvPr>
          <p:cNvSpPr>
            <a:spLocks noGrp="1"/>
          </p:cNvSpPr>
          <p:nvPr>
            <p:ph type="title"/>
          </p:nvPr>
        </p:nvSpPr>
        <p:spPr/>
        <p:txBody>
          <a:bodyPr/>
          <a:lstStyle/>
          <a:p>
            <a:r>
              <a:rPr lang="en-US" dirty="0"/>
              <a:t> </a:t>
            </a:r>
          </a:p>
        </p:txBody>
      </p:sp>
      <p:sp>
        <p:nvSpPr>
          <p:cNvPr id="8" name="Title 1">
            <a:extLst>
              <a:ext uri="{FF2B5EF4-FFF2-40B4-BE49-F238E27FC236}">
                <a16:creationId xmlns:a16="http://schemas.microsoft.com/office/drawing/2014/main" id="{21E6E5A7-F7AA-E658-180A-9026BD366918}"/>
              </a:ext>
            </a:extLst>
          </p:cNvPr>
          <p:cNvSpPr txBox="1">
            <a:spLocks/>
          </p:cNvSpPr>
          <p:nvPr/>
        </p:nvSpPr>
        <p:spPr>
          <a:xfrm>
            <a:off x="548640" y="457200"/>
            <a:ext cx="10972800" cy="1097280"/>
          </a:xfrm>
          <a:prstGeom prst="rect">
            <a:avLst/>
          </a:prstGeom>
        </p:spPr>
        <p:txBody>
          <a:bodyPr vert="horz" lIns="0" tIns="0" rIns="0" bIns="0" rtlCol="0" anchor="b" anchorCtr="0">
            <a:normAutofit/>
          </a:bodyPr>
          <a:lstStyle>
            <a:lvl1pPr algn="l" defTabSz="914400" rtl="0" eaLnBrk="1" latinLnBrk="0" hangingPunct="1">
              <a:lnSpc>
                <a:spcPct val="90000"/>
              </a:lnSpc>
              <a:spcBef>
                <a:spcPct val="0"/>
              </a:spcBef>
              <a:buNone/>
              <a:defRPr sz="2800" kern="1200">
                <a:solidFill>
                  <a:srgbClr val="1F3A3D"/>
                </a:solidFill>
                <a:latin typeface="Calibri" panose="020F0502020204030204" pitchFamily="34" charset="0"/>
                <a:ea typeface="Calibri" panose="020F0502020204030204" pitchFamily="34" charset="0"/>
                <a:cs typeface="Calibri" panose="020F0502020204030204" pitchFamily="34" charset="0"/>
              </a:defRPr>
            </a:lvl1pPr>
          </a:lstStyle>
          <a:p>
            <a:r>
              <a:rPr lang="en-US" dirty="0"/>
              <a:t>Appendix - repository, sources, and AI use</a:t>
            </a:r>
          </a:p>
        </p:txBody>
      </p:sp>
      <p:sp>
        <p:nvSpPr>
          <p:cNvPr id="9" name="TextBox 8">
            <a:extLst>
              <a:ext uri="{FF2B5EF4-FFF2-40B4-BE49-F238E27FC236}">
                <a16:creationId xmlns:a16="http://schemas.microsoft.com/office/drawing/2014/main" id="{1E14D18E-5C0F-510C-9B7D-DAEF5148ADE3}"/>
              </a:ext>
            </a:extLst>
          </p:cNvPr>
          <p:cNvSpPr txBox="1"/>
          <p:nvPr/>
        </p:nvSpPr>
        <p:spPr>
          <a:xfrm>
            <a:off x="548640" y="1737360"/>
            <a:ext cx="5212080" cy="199927"/>
          </a:xfrm>
          <a:prstGeom prst="rect">
            <a:avLst/>
          </a:prstGeom>
          <a:noFill/>
        </p:spPr>
        <p:txBody>
          <a:bodyPr wrap="square" lIns="0" tIns="0" rIns="0" bIns="0">
            <a:spAutoFit/>
          </a:bodyPr>
          <a:lstStyle/>
          <a:p>
            <a:pPr>
              <a:lnSpc>
                <a:spcPct val="115000"/>
              </a:lnSpc>
            </a:pPr>
            <a:r>
              <a:rPr sz="1200" b="1">
                <a:solidFill>
                  <a:srgbClr val="8C8C8C"/>
                </a:solidFill>
                <a:latin typeface="Calibri"/>
              </a:rPr>
              <a:t>REPOSITORY</a:t>
            </a:r>
          </a:p>
        </p:txBody>
      </p:sp>
      <p:sp>
        <p:nvSpPr>
          <p:cNvPr id="10" name="Rectangle 9">
            <a:extLst>
              <a:ext uri="{FF2B5EF4-FFF2-40B4-BE49-F238E27FC236}">
                <a16:creationId xmlns:a16="http://schemas.microsoft.com/office/drawing/2014/main" id="{1B1CA2D1-171C-A835-6DF8-CADCF42E81D7}"/>
              </a:ext>
            </a:extLst>
          </p:cNvPr>
          <p:cNvSpPr/>
          <p:nvPr/>
        </p:nvSpPr>
        <p:spPr>
          <a:xfrm>
            <a:off x="548640" y="2029968"/>
            <a:ext cx="5212080" cy="10972"/>
          </a:xfrm>
          <a:prstGeom prst="rect">
            <a:avLst/>
          </a:prstGeom>
          <a:solidFill>
            <a:srgbClr val="DCDF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1" name="TextBox 10">
            <a:extLst>
              <a:ext uri="{FF2B5EF4-FFF2-40B4-BE49-F238E27FC236}">
                <a16:creationId xmlns:a16="http://schemas.microsoft.com/office/drawing/2014/main" id="{132B962F-C976-2EDE-288E-15F4CB834C62}"/>
              </a:ext>
            </a:extLst>
          </p:cNvPr>
          <p:cNvSpPr txBox="1"/>
          <p:nvPr/>
        </p:nvSpPr>
        <p:spPr>
          <a:xfrm>
            <a:off x="548640" y="2212848"/>
            <a:ext cx="5212080" cy="412292"/>
          </a:xfrm>
          <a:prstGeom prst="rect">
            <a:avLst/>
          </a:prstGeom>
          <a:noFill/>
        </p:spPr>
        <p:txBody>
          <a:bodyPr wrap="square" lIns="0" tIns="0" rIns="0" bIns="0">
            <a:spAutoFit/>
          </a:bodyPr>
          <a:lstStyle/>
          <a:p>
            <a:pPr>
              <a:lnSpc>
                <a:spcPct val="115000"/>
              </a:lnSpc>
            </a:pPr>
            <a:r>
              <a:rPr sz="1200" b="0" dirty="0">
                <a:solidFill>
                  <a:srgbClr val="1F3A3D"/>
                </a:solidFill>
                <a:latin typeface="Calibri"/>
              </a:rPr>
              <a:t>github.com/</a:t>
            </a:r>
            <a:r>
              <a:rPr sz="1200" b="0" dirty="0" err="1">
                <a:solidFill>
                  <a:srgbClr val="1F3A3D"/>
                </a:solidFill>
                <a:latin typeface="Calibri"/>
              </a:rPr>
              <a:t>saviongb</a:t>
            </a:r>
            <a:r>
              <a:rPr sz="1200" b="0" dirty="0">
                <a:solidFill>
                  <a:srgbClr val="1F3A3D"/>
                </a:solidFill>
                <a:latin typeface="Calibri"/>
              </a:rPr>
              <a:t>/Bioshock-Revival-Analysis
</a:t>
            </a:r>
            <a:r>
              <a:rPr lang="en-US" sz="1200" b="0" dirty="0">
                <a:solidFill>
                  <a:srgbClr val="1F3A3D"/>
                </a:solidFill>
                <a:latin typeface="Calibri"/>
              </a:rPr>
              <a:t>Impressions, </a:t>
            </a:r>
            <a:r>
              <a:rPr sz="1200" b="0" dirty="0">
                <a:solidFill>
                  <a:srgbClr val="1F3A3D"/>
                </a:solidFill>
                <a:latin typeface="Calibri"/>
              </a:rPr>
              <a:t>Notebooks, </a:t>
            </a:r>
            <a:r>
              <a:rPr lang="en-US" sz="1200" b="0" dirty="0">
                <a:solidFill>
                  <a:srgbClr val="1F3A3D"/>
                </a:solidFill>
                <a:latin typeface="Calibri"/>
              </a:rPr>
              <a:t>T</a:t>
            </a:r>
            <a:r>
              <a:rPr sz="1200" b="0" dirty="0">
                <a:solidFill>
                  <a:srgbClr val="1F3A3D"/>
                </a:solidFill>
                <a:latin typeface="Calibri"/>
              </a:rPr>
              <a:t>heme dictionaries, </a:t>
            </a:r>
            <a:r>
              <a:rPr lang="en-US" sz="1200" dirty="0">
                <a:solidFill>
                  <a:srgbClr val="1F3A3D"/>
                </a:solidFill>
                <a:latin typeface="Calibri"/>
              </a:rPr>
              <a:t>P</a:t>
            </a:r>
            <a:r>
              <a:rPr sz="1200" b="0" dirty="0">
                <a:solidFill>
                  <a:srgbClr val="1F3A3D"/>
                </a:solidFill>
                <a:latin typeface="Calibri"/>
              </a:rPr>
              <a:t>redictions, and </a:t>
            </a:r>
            <a:r>
              <a:rPr lang="en-US" sz="1200" b="0" dirty="0">
                <a:solidFill>
                  <a:srgbClr val="1F3A3D"/>
                </a:solidFill>
                <a:latin typeface="Calibri"/>
              </a:rPr>
              <a:t>C</a:t>
            </a:r>
            <a:r>
              <a:rPr sz="1200" b="0" dirty="0">
                <a:solidFill>
                  <a:srgbClr val="1F3A3D"/>
                </a:solidFill>
                <a:latin typeface="Calibri"/>
              </a:rPr>
              <a:t>ommit history.</a:t>
            </a:r>
          </a:p>
        </p:txBody>
      </p:sp>
      <p:sp>
        <p:nvSpPr>
          <p:cNvPr id="12" name="TextBox 11">
            <a:extLst>
              <a:ext uri="{FF2B5EF4-FFF2-40B4-BE49-F238E27FC236}">
                <a16:creationId xmlns:a16="http://schemas.microsoft.com/office/drawing/2014/main" id="{B811CEB4-E2EF-64AD-F3E7-9BD0541F3E1C}"/>
              </a:ext>
            </a:extLst>
          </p:cNvPr>
          <p:cNvSpPr txBox="1"/>
          <p:nvPr/>
        </p:nvSpPr>
        <p:spPr>
          <a:xfrm>
            <a:off x="548640" y="3246120"/>
            <a:ext cx="5212080" cy="199927"/>
          </a:xfrm>
          <a:prstGeom prst="rect">
            <a:avLst/>
          </a:prstGeom>
          <a:noFill/>
        </p:spPr>
        <p:txBody>
          <a:bodyPr wrap="square" lIns="0" tIns="0" rIns="0" bIns="0">
            <a:spAutoFit/>
          </a:bodyPr>
          <a:lstStyle/>
          <a:p>
            <a:pPr>
              <a:lnSpc>
                <a:spcPct val="115000"/>
              </a:lnSpc>
            </a:pPr>
            <a:r>
              <a:rPr sz="1200" b="1">
                <a:solidFill>
                  <a:srgbClr val="8C8C8C"/>
                </a:solidFill>
                <a:latin typeface="Calibri"/>
              </a:rPr>
              <a:t>AI USE</a:t>
            </a:r>
          </a:p>
        </p:txBody>
      </p:sp>
      <p:sp>
        <p:nvSpPr>
          <p:cNvPr id="13" name="Rectangle 12">
            <a:extLst>
              <a:ext uri="{FF2B5EF4-FFF2-40B4-BE49-F238E27FC236}">
                <a16:creationId xmlns:a16="http://schemas.microsoft.com/office/drawing/2014/main" id="{74242B25-A80D-FDE1-5B2F-AC8B8B513F1E}"/>
              </a:ext>
            </a:extLst>
          </p:cNvPr>
          <p:cNvSpPr/>
          <p:nvPr/>
        </p:nvSpPr>
        <p:spPr>
          <a:xfrm>
            <a:off x="548640" y="3538728"/>
            <a:ext cx="5212080" cy="10972"/>
          </a:xfrm>
          <a:prstGeom prst="rect">
            <a:avLst/>
          </a:prstGeom>
          <a:solidFill>
            <a:srgbClr val="DCDF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4" name="TextBox 13">
            <a:extLst>
              <a:ext uri="{FF2B5EF4-FFF2-40B4-BE49-F238E27FC236}">
                <a16:creationId xmlns:a16="http://schemas.microsoft.com/office/drawing/2014/main" id="{88F4DB1D-DB67-3901-0E3B-1EEB3188EB40}"/>
              </a:ext>
            </a:extLst>
          </p:cNvPr>
          <p:cNvSpPr txBox="1"/>
          <p:nvPr/>
        </p:nvSpPr>
        <p:spPr>
          <a:xfrm>
            <a:off x="548640" y="3721608"/>
            <a:ext cx="5212080" cy="412292"/>
          </a:xfrm>
          <a:prstGeom prst="rect">
            <a:avLst/>
          </a:prstGeom>
          <a:noFill/>
        </p:spPr>
        <p:txBody>
          <a:bodyPr wrap="square" lIns="0" tIns="0" rIns="0" bIns="0">
            <a:spAutoFit/>
          </a:bodyPr>
          <a:lstStyle/>
          <a:p>
            <a:pPr>
              <a:lnSpc>
                <a:spcPct val="115000"/>
              </a:lnSpc>
            </a:pPr>
            <a:r>
              <a:rPr sz="1200" b="0" dirty="0">
                <a:solidFill>
                  <a:srgbClr val="1F3A3D"/>
                </a:solidFill>
                <a:latin typeface="Calibri"/>
              </a:rPr>
              <a:t>Claude was used as a programming guide</a:t>
            </a:r>
            <a:r>
              <a:rPr lang="en-US" sz="1200" b="0" dirty="0">
                <a:solidFill>
                  <a:srgbClr val="1F3A3D"/>
                </a:solidFill>
                <a:latin typeface="Calibri"/>
              </a:rPr>
              <a:t> and brainstorming tool, </a:t>
            </a:r>
            <a:r>
              <a:rPr sz="1200" b="0" dirty="0">
                <a:solidFill>
                  <a:srgbClr val="1F3A3D"/>
                </a:solidFill>
                <a:latin typeface="Calibri"/>
              </a:rPr>
              <a:t>all analytical decisions, hand-coding, and findings are my own.</a:t>
            </a:r>
          </a:p>
        </p:txBody>
      </p:sp>
      <p:sp>
        <p:nvSpPr>
          <p:cNvPr id="15" name="TextBox 14">
            <a:extLst>
              <a:ext uri="{FF2B5EF4-FFF2-40B4-BE49-F238E27FC236}">
                <a16:creationId xmlns:a16="http://schemas.microsoft.com/office/drawing/2014/main" id="{9FB10FBE-0159-6F2A-F6DD-D73074B88E5C}"/>
              </a:ext>
            </a:extLst>
          </p:cNvPr>
          <p:cNvSpPr txBox="1"/>
          <p:nvPr/>
        </p:nvSpPr>
        <p:spPr>
          <a:xfrm>
            <a:off x="6400800" y="1737360"/>
            <a:ext cx="5212080" cy="199927"/>
          </a:xfrm>
          <a:prstGeom prst="rect">
            <a:avLst/>
          </a:prstGeom>
          <a:noFill/>
        </p:spPr>
        <p:txBody>
          <a:bodyPr wrap="square" lIns="0" tIns="0" rIns="0" bIns="0">
            <a:spAutoFit/>
          </a:bodyPr>
          <a:lstStyle/>
          <a:p>
            <a:pPr>
              <a:lnSpc>
                <a:spcPct val="115000"/>
              </a:lnSpc>
            </a:pPr>
            <a:r>
              <a:rPr sz="1200" b="1">
                <a:solidFill>
                  <a:srgbClr val="8C8C8C"/>
                </a:solidFill>
                <a:latin typeface="Calibri"/>
              </a:rPr>
              <a:t>SOURCES CITED</a:t>
            </a:r>
          </a:p>
        </p:txBody>
      </p:sp>
      <p:sp>
        <p:nvSpPr>
          <p:cNvPr id="16" name="Rectangle 15">
            <a:extLst>
              <a:ext uri="{FF2B5EF4-FFF2-40B4-BE49-F238E27FC236}">
                <a16:creationId xmlns:a16="http://schemas.microsoft.com/office/drawing/2014/main" id="{C8463BB6-37AB-4D02-80FA-A34F9D8789F0}"/>
              </a:ext>
            </a:extLst>
          </p:cNvPr>
          <p:cNvSpPr/>
          <p:nvPr/>
        </p:nvSpPr>
        <p:spPr>
          <a:xfrm>
            <a:off x="6400800" y="2029968"/>
            <a:ext cx="5212080" cy="10972"/>
          </a:xfrm>
          <a:prstGeom prst="rect">
            <a:avLst/>
          </a:prstGeom>
          <a:solidFill>
            <a:srgbClr val="DCDF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7" name="TextBox 16">
            <a:extLst>
              <a:ext uri="{FF2B5EF4-FFF2-40B4-BE49-F238E27FC236}">
                <a16:creationId xmlns:a16="http://schemas.microsoft.com/office/drawing/2014/main" id="{A6778ABA-4125-C1F7-ECB9-D3FBBD629BF5}"/>
              </a:ext>
            </a:extLst>
          </p:cNvPr>
          <p:cNvSpPr txBox="1"/>
          <p:nvPr/>
        </p:nvSpPr>
        <p:spPr>
          <a:xfrm>
            <a:off x="6400800" y="2212848"/>
            <a:ext cx="5212080" cy="199927"/>
          </a:xfrm>
          <a:prstGeom prst="rect">
            <a:avLst/>
          </a:prstGeom>
          <a:noFill/>
        </p:spPr>
        <p:txBody>
          <a:bodyPr wrap="square" lIns="0" tIns="0" rIns="0" bIns="0">
            <a:spAutoFit/>
          </a:bodyPr>
          <a:lstStyle/>
          <a:p>
            <a:pPr>
              <a:lnSpc>
                <a:spcPct val="115000"/>
              </a:lnSpc>
            </a:pPr>
            <a:r>
              <a:rPr sz="1200" b="1">
                <a:solidFill>
                  <a:srgbClr val="1F3A3D"/>
                </a:solidFill>
                <a:latin typeface="Calibri"/>
              </a:rPr>
              <a:t>Take-Two Q3 FY2020 earnings</a:t>
            </a:r>
          </a:p>
        </p:txBody>
      </p:sp>
      <p:sp>
        <p:nvSpPr>
          <p:cNvPr id="18" name="TextBox 17">
            <a:extLst>
              <a:ext uri="{FF2B5EF4-FFF2-40B4-BE49-F238E27FC236}">
                <a16:creationId xmlns:a16="http://schemas.microsoft.com/office/drawing/2014/main" id="{4ED7C30B-C984-6FF4-EB30-15A5A55FCD0C}"/>
              </a:ext>
            </a:extLst>
          </p:cNvPr>
          <p:cNvSpPr txBox="1"/>
          <p:nvPr/>
        </p:nvSpPr>
        <p:spPr>
          <a:xfrm>
            <a:off x="6400800" y="2468880"/>
            <a:ext cx="5212080" cy="199927"/>
          </a:xfrm>
          <a:prstGeom prst="rect">
            <a:avLst/>
          </a:prstGeom>
          <a:noFill/>
        </p:spPr>
        <p:txBody>
          <a:bodyPr wrap="square" lIns="0" tIns="0" rIns="0" bIns="0">
            <a:spAutoFit/>
          </a:bodyPr>
          <a:lstStyle/>
          <a:p>
            <a:pPr>
              <a:lnSpc>
                <a:spcPct val="115000"/>
              </a:lnSpc>
            </a:pPr>
            <a:r>
              <a:rPr sz="1200" b="0" dirty="0">
                <a:solidFill>
                  <a:srgbClr val="8C8C8C"/>
                </a:solidFill>
                <a:latin typeface="Calibri"/>
              </a:rPr>
              <a:t>Feb 6, 2020 — </a:t>
            </a:r>
            <a:r>
              <a:rPr lang="en-US" sz="1200" dirty="0">
                <a:solidFill>
                  <a:srgbClr val="8C8C8C"/>
                </a:solidFill>
                <a:latin typeface="Calibri"/>
                <a:hlinkClick r:id="rId2" action="ppaction://hlinkfile"/>
              </a:rPr>
              <a:t>ir.take2games.com/node/26586/pdf</a:t>
            </a:r>
            <a:endParaRPr sz="1200" b="0" dirty="0">
              <a:solidFill>
                <a:srgbClr val="8C8C8C"/>
              </a:solidFill>
              <a:latin typeface="Calibri"/>
            </a:endParaRPr>
          </a:p>
        </p:txBody>
      </p:sp>
      <p:sp>
        <p:nvSpPr>
          <p:cNvPr id="19" name="TextBox 18">
            <a:extLst>
              <a:ext uri="{FF2B5EF4-FFF2-40B4-BE49-F238E27FC236}">
                <a16:creationId xmlns:a16="http://schemas.microsoft.com/office/drawing/2014/main" id="{71FE344D-075D-6919-DA29-38925921DCDF}"/>
              </a:ext>
            </a:extLst>
          </p:cNvPr>
          <p:cNvSpPr txBox="1"/>
          <p:nvPr/>
        </p:nvSpPr>
        <p:spPr>
          <a:xfrm>
            <a:off x="6400800" y="2926080"/>
            <a:ext cx="5212080" cy="199927"/>
          </a:xfrm>
          <a:prstGeom prst="rect">
            <a:avLst/>
          </a:prstGeom>
          <a:noFill/>
        </p:spPr>
        <p:txBody>
          <a:bodyPr wrap="square" lIns="0" tIns="0" rIns="0" bIns="0">
            <a:spAutoFit/>
          </a:bodyPr>
          <a:lstStyle/>
          <a:p>
            <a:pPr>
              <a:lnSpc>
                <a:spcPct val="115000"/>
              </a:lnSpc>
            </a:pPr>
            <a:r>
              <a:rPr sz="1200" b="1">
                <a:solidFill>
                  <a:srgbClr val="1F3A3D"/>
                </a:solidFill>
                <a:latin typeface="Calibri"/>
              </a:rPr>
              <a:t>Take-Two Q2 FY2026 earnings call</a:t>
            </a:r>
          </a:p>
        </p:txBody>
      </p:sp>
      <p:sp>
        <p:nvSpPr>
          <p:cNvPr id="20" name="TextBox 19">
            <a:extLst>
              <a:ext uri="{FF2B5EF4-FFF2-40B4-BE49-F238E27FC236}">
                <a16:creationId xmlns:a16="http://schemas.microsoft.com/office/drawing/2014/main" id="{3C649BC7-C324-60B2-A40A-FCF6ACD15B77}"/>
              </a:ext>
            </a:extLst>
          </p:cNvPr>
          <p:cNvSpPr txBox="1"/>
          <p:nvPr/>
        </p:nvSpPr>
        <p:spPr>
          <a:xfrm>
            <a:off x="6400800" y="3182112"/>
            <a:ext cx="5212080" cy="413768"/>
          </a:xfrm>
          <a:prstGeom prst="rect">
            <a:avLst/>
          </a:prstGeom>
          <a:noFill/>
        </p:spPr>
        <p:txBody>
          <a:bodyPr wrap="square" lIns="0" tIns="0" rIns="0" bIns="0">
            <a:spAutoFit/>
          </a:bodyPr>
          <a:lstStyle/>
          <a:p>
            <a:pPr>
              <a:lnSpc>
                <a:spcPct val="115000"/>
              </a:lnSpc>
            </a:pPr>
            <a:r>
              <a:rPr sz="1200" b="0" dirty="0">
                <a:solidFill>
                  <a:srgbClr val="8C8C8C"/>
                </a:solidFill>
                <a:latin typeface="Calibri"/>
              </a:rPr>
              <a:t>Nov 6, 2025 — </a:t>
            </a:r>
            <a:r>
              <a:rPr lang="en-US" sz="1200" dirty="0">
                <a:hlinkClick r:id="rId3"/>
              </a:rPr>
              <a:t>https://www.roic.ai/quote/TTWO:UW/transcripts/2026-year/2-quarter</a:t>
            </a:r>
            <a:endParaRPr sz="1200" b="0" dirty="0">
              <a:solidFill>
                <a:srgbClr val="8C8C8C"/>
              </a:solidFill>
              <a:latin typeface="Calibri"/>
            </a:endParaRPr>
          </a:p>
        </p:txBody>
      </p:sp>
      <p:sp>
        <p:nvSpPr>
          <p:cNvPr id="21" name="TextBox 20">
            <a:extLst>
              <a:ext uri="{FF2B5EF4-FFF2-40B4-BE49-F238E27FC236}">
                <a16:creationId xmlns:a16="http://schemas.microsoft.com/office/drawing/2014/main" id="{42D5C430-4A4B-AF3B-A489-46F6C6A75AE6}"/>
              </a:ext>
            </a:extLst>
          </p:cNvPr>
          <p:cNvSpPr txBox="1"/>
          <p:nvPr/>
        </p:nvSpPr>
        <p:spPr>
          <a:xfrm>
            <a:off x="6400800" y="3639312"/>
            <a:ext cx="5212080" cy="199927"/>
          </a:xfrm>
          <a:prstGeom prst="rect">
            <a:avLst/>
          </a:prstGeom>
          <a:noFill/>
        </p:spPr>
        <p:txBody>
          <a:bodyPr wrap="square" lIns="0" tIns="0" rIns="0" bIns="0">
            <a:spAutoFit/>
          </a:bodyPr>
          <a:lstStyle/>
          <a:p>
            <a:pPr>
              <a:lnSpc>
                <a:spcPct val="115000"/>
              </a:lnSpc>
            </a:pPr>
            <a:r>
              <a:rPr sz="1200" b="1">
                <a:solidFill>
                  <a:srgbClr val="1F3A3D"/>
                </a:solidFill>
                <a:latin typeface="Calibri"/>
              </a:rPr>
              <a:t>Take-Two Q1 FY2027 results</a:t>
            </a:r>
          </a:p>
        </p:txBody>
      </p:sp>
      <p:sp>
        <p:nvSpPr>
          <p:cNvPr id="22" name="TextBox 21">
            <a:extLst>
              <a:ext uri="{FF2B5EF4-FFF2-40B4-BE49-F238E27FC236}">
                <a16:creationId xmlns:a16="http://schemas.microsoft.com/office/drawing/2014/main" id="{DC0925D8-5C7C-CAB6-4EA6-921994466B73}"/>
              </a:ext>
            </a:extLst>
          </p:cNvPr>
          <p:cNvSpPr txBox="1"/>
          <p:nvPr/>
        </p:nvSpPr>
        <p:spPr>
          <a:xfrm>
            <a:off x="6400800" y="3895344"/>
            <a:ext cx="5212080" cy="412292"/>
          </a:xfrm>
          <a:prstGeom prst="rect">
            <a:avLst/>
          </a:prstGeom>
          <a:noFill/>
        </p:spPr>
        <p:txBody>
          <a:bodyPr wrap="square" lIns="0" tIns="0" rIns="0" bIns="0">
            <a:spAutoFit/>
          </a:bodyPr>
          <a:lstStyle/>
          <a:p>
            <a:pPr>
              <a:lnSpc>
                <a:spcPct val="115000"/>
              </a:lnSpc>
            </a:pPr>
            <a:r>
              <a:rPr sz="1200" b="0" dirty="0">
                <a:solidFill>
                  <a:srgbClr val="8C8C8C"/>
                </a:solidFill>
                <a:latin typeface="Calibri"/>
              </a:rPr>
              <a:t>Aug 7, 2026 — </a:t>
            </a:r>
            <a:r>
              <a:rPr lang="en-US" sz="1200" dirty="0">
                <a:solidFill>
                  <a:srgbClr val="8C8C8C"/>
                </a:solidFill>
                <a:latin typeface="Calibri"/>
                <a:hlinkClick r:id="rId4"/>
              </a:rPr>
              <a:t>https://www.take2games.com/ir</a:t>
            </a:r>
            <a:endParaRPr lang="en-US" sz="1200" b="0" dirty="0">
              <a:solidFill>
                <a:srgbClr val="8C8C8C"/>
              </a:solidFill>
              <a:latin typeface="Calibri"/>
            </a:endParaRPr>
          </a:p>
          <a:p>
            <a:pPr>
              <a:lnSpc>
                <a:spcPct val="115000"/>
              </a:lnSpc>
            </a:pPr>
            <a:endParaRPr sz="1200" b="0" dirty="0">
              <a:solidFill>
                <a:srgbClr val="8C8C8C"/>
              </a:solidFill>
              <a:latin typeface="Calibri"/>
            </a:endParaRPr>
          </a:p>
        </p:txBody>
      </p:sp>
      <p:sp>
        <p:nvSpPr>
          <p:cNvPr id="23" name="TextBox 22">
            <a:extLst>
              <a:ext uri="{FF2B5EF4-FFF2-40B4-BE49-F238E27FC236}">
                <a16:creationId xmlns:a16="http://schemas.microsoft.com/office/drawing/2014/main" id="{F7022947-189A-6460-F59D-11287FFE0E79}"/>
              </a:ext>
            </a:extLst>
          </p:cNvPr>
          <p:cNvSpPr txBox="1"/>
          <p:nvPr/>
        </p:nvSpPr>
        <p:spPr>
          <a:xfrm>
            <a:off x="6400800" y="4352544"/>
            <a:ext cx="5212080" cy="199927"/>
          </a:xfrm>
          <a:prstGeom prst="rect">
            <a:avLst/>
          </a:prstGeom>
          <a:noFill/>
        </p:spPr>
        <p:txBody>
          <a:bodyPr wrap="square" lIns="0" tIns="0" rIns="0" bIns="0">
            <a:spAutoFit/>
          </a:bodyPr>
          <a:lstStyle/>
          <a:p>
            <a:pPr>
              <a:lnSpc>
                <a:spcPct val="115000"/>
              </a:lnSpc>
            </a:pPr>
            <a:r>
              <a:rPr sz="1200" b="1">
                <a:solidFill>
                  <a:srgbClr val="1F3A3D"/>
                </a:solidFill>
                <a:latin typeface="Calibri"/>
              </a:rPr>
              <a:t>Game File, Stephen Totilo</a:t>
            </a:r>
          </a:p>
        </p:txBody>
      </p:sp>
      <p:sp>
        <p:nvSpPr>
          <p:cNvPr id="24" name="TextBox 23">
            <a:extLst>
              <a:ext uri="{FF2B5EF4-FFF2-40B4-BE49-F238E27FC236}">
                <a16:creationId xmlns:a16="http://schemas.microsoft.com/office/drawing/2014/main" id="{16060AB9-80EB-D8E4-5386-C6D2F3EF8CF8}"/>
              </a:ext>
            </a:extLst>
          </p:cNvPr>
          <p:cNvSpPr txBox="1"/>
          <p:nvPr/>
        </p:nvSpPr>
        <p:spPr>
          <a:xfrm>
            <a:off x="6400800" y="4608576"/>
            <a:ext cx="5212080" cy="624658"/>
          </a:xfrm>
          <a:prstGeom prst="rect">
            <a:avLst/>
          </a:prstGeom>
          <a:noFill/>
        </p:spPr>
        <p:txBody>
          <a:bodyPr wrap="square" lIns="0" tIns="0" rIns="0" bIns="0">
            <a:spAutoFit/>
          </a:bodyPr>
          <a:lstStyle/>
          <a:p>
            <a:pPr>
              <a:lnSpc>
                <a:spcPct val="115000"/>
              </a:lnSpc>
            </a:pPr>
            <a:r>
              <a:rPr sz="1200" b="0" dirty="0">
                <a:solidFill>
                  <a:srgbClr val="8C8C8C"/>
                </a:solidFill>
                <a:latin typeface="Calibri"/>
              </a:rPr>
              <a:t>May 2026 — </a:t>
            </a:r>
            <a:r>
              <a:rPr lang="en-US" sz="1200" dirty="0">
                <a:hlinkClick r:id="rId5"/>
              </a:rPr>
              <a:t>https://www.gamefile.news/p/bioshock-gta-nfl-civ7-take-two-strauss-zelnick</a:t>
            </a:r>
            <a:br>
              <a:rPr lang="en-US" sz="1200" dirty="0"/>
            </a:br>
            <a:endParaRPr sz="1200" b="0" dirty="0">
              <a:solidFill>
                <a:srgbClr val="8C8C8C"/>
              </a:solidFill>
              <a:latin typeface="Calibri"/>
            </a:endParaRPr>
          </a:p>
        </p:txBody>
      </p:sp>
    </p:spTree>
    <p:extLst>
      <p:ext uri="{BB962C8B-B14F-4D97-AF65-F5344CB8AC3E}">
        <p14:creationId xmlns:p14="http://schemas.microsoft.com/office/powerpoint/2010/main" val="36367536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gs>
            <a:gs pos="50000">
              <a:schemeClr val="bg1">
                <a:tint val="98000"/>
                <a:satMod val="130000"/>
                <a:shade val="90000"/>
                <a:lumMod val="103000"/>
              </a:schemeClr>
            </a:gs>
            <a:gs pos="100000">
              <a:schemeClr val="bg1">
                <a:shade val="63000"/>
                <a:satMod val="120000"/>
              </a:schemeClr>
            </a:gs>
          </a:gsLst>
          <a:lin ang="5400000" scaled="0"/>
        </a:gra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CE841CE-F777-DEF1-2851-CCE08011D61F}"/>
              </a:ext>
            </a:extLst>
          </p:cNvPr>
          <p:cNvSpPr>
            <a:spLocks noGrp="1"/>
          </p:cNvSpPr>
          <p:nvPr>
            <p:ph type="title"/>
          </p:nvPr>
        </p:nvSpPr>
        <p:spPr>
          <a:xfrm>
            <a:off x="548640" y="457200"/>
            <a:ext cx="10972800" cy="1097280"/>
          </a:xfrm>
        </p:spPr>
        <p:txBody>
          <a:bodyPr/>
          <a:lstStyle/>
          <a:p>
            <a:r>
              <a:rPr dirty="0"/>
              <a:t>Appendix </a:t>
            </a:r>
            <a:r>
              <a:rPr lang="en-US" dirty="0"/>
              <a:t>-</a:t>
            </a:r>
            <a:r>
              <a:rPr dirty="0"/>
              <a:t> scope and definitions</a:t>
            </a:r>
          </a:p>
        </p:txBody>
      </p:sp>
      <p:sp>
        <p:nvSpPr>
          <p:cNvPr id="8" name="TextBox 7">
            <a:extLst>
              <a:ext uri="{FF2B5EF4-FFF2-40B4-BE49-F238E27FC236}">
                <a16:creationId xmlns:a16="http://schemas.microsoft.com/office/drawing/2014/main" id="{2C9F618A-7B11-60B9-BEFA-B086C99301A0}"/>
              </a:ext>
            </a:extLst>
          </p:cNvPr>
          <p:cNvSpPr txBox="1"/>
          <p:nvPr/>
        </p:nvSpPr>
        <p:spPr>
          <a:xfrm>
            <a:off x="548640" y="1755648"/>
            <a:ext cx="5212080" cy="183255"/>
          </a:xfrm>
          <a:prstGeom prst="rect">
            <a:avLst/>
          </a:prstGeom>
          <a:noFill/>
        </p:spPr>
        <p:txBody>
          <a:bodyPr wrap="square" lIns="0" tIns="0" rIns="0" bIns="0">
            <a:spAutoFit/>
          </a:bodyPr>
          <a:lstStyle/>
          <a:p>
            <a:pPr>
              <a:lnSpc>
                <a:spcPct val="115000"/>
              </a:lnSpc>
            </a:pPr>
            <a:r>
              <a:rPr sz="1100" b="1">
                <a:solidFill>
                  <a:srgbClr val="8C8C8C"/>
                </a:solidFill>
                <a:latin typeface="Calibri" panose="020F0502020204030204" pitchFamily="34" charset="0"/>
                <a:ea typeface="Calibri" panose="020F0502020204030204" pitchFamily="34" charset="0"/>
                <a:cs typeface="Calibri" panose="020F0502020204030204" pitchFamily="34" charset="0"/>
              </a:rPr>
              <a:t>CORPUS</a:t>
            </a:r>
          </a:p>
        </p:txBody>
      </p:sp>
      <p:sp>
        <p:nvSpPr>
          <p:cNvPr id="9" name="Rectangle 8">
            <a:extLst>
              <a:ext uri="{FF2B5EF4-FFF2-40B4-BE49-F238E27FC236}">
                <a16:creationId xmlns:a16="http://schemas.microsoft.com/office/drawing/2014/main" id="{D80ECBAE-A921-3B98-28B2-0FD2D783F1C3}"/>
              </a:ext>
            </a:extLst>
          </p:cNvPr>
          <p:cNvSpPr/>
          <p:nvPr/>
        </p:nvSpPr>
        <p:spPr>
          <a:xfrm>
            <a:off x="548640" y="2029967"/>
            <a:ext cx="5212080" cy="10972"/>
          </a:xfrm>
          <a:prstGeom prst="rect">
            <a:avLst/>
          </a:prstGeom>
          <a:solidFill>
            <a:srgbClr val="DCDF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panose="020F0502020204030204" pitchFamily="34" charset="0"/>
              <a:ea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B50E98A0-E073-2301-09DC-0295D402ACA9}"/>
              </a:ext>
            </a:extLst>
          </p:cNvPr>
          <p:cNvSpPr txBox="1"/>
          <p:nvPr/>
        </p:nvSpPr>
        <p:spPr>
          <a:xfrm>
            <a:off x="548640" y="2176272"/>
            <a:ext cx="5212080" cy="624658"/>
          </a:xfrm>
          <a:prstGeom prst="rect">
            <a:avLst/>
          </a:prstGeom>
          <a:noFill/>
        </p:spPr>
        <p:txBody>
          <a:bodyPr wrap="square" lIns="0" tIns="0" rIns="0" bIns="0">
            <a:spAutoFit/>
          </a:bodyPr>
          <a:lstStyle/>
          <a:p>
            <a:pPr>
              <a:lnSpc>
                <a:spcPct val="115000"/>
              </a:lnSpc>
            </a:pPr>
            <a:r>
              <a:rPr sz="1200" b="0" dirty="0">
                <a:solidFill>
                  <a:srgbClr val="1F3A3D"/>
                </a:solidFill>
                <a:latin typeface="Calibri" panose="020F0502020204030204" pitchFamily="34" charset="0"/>
                <a:ea typeface="Calibri" panose="020F0502020204030204" pitchFamily="34" charset="0"/>
                <a:cs typeface="Calibri" panose="020F0502020204030204" pitchFamily="34" charset="0"/>
              </a:rPr>
              <a:t>85,395 English reviews pulled from Steam's public review API on July 26, 2026. BioShock Remastered 26,155</a:t>
            </a:r>
            <a:r>
              <a:rPr lang="en-US" sz="1200" b="0" dirty="0">
                <a:solidFill>
                  <a:srgbClr val="1F3A3D"/>
                </a:solidFill>
                <a:latin typeface="Calibri" panose="020F0502020204030204" pitchFamily="34" charset="0"/>
                <a:ea typeface="Calibri" panose="020F0502020204030204" pitchFamily="34" charset="0"/>
                <a:cs typeface="Calibri" panose="020F0502020204030204" pitchFamily="34" charset="0"/>
              </a:rPr>
              <a:t>,</a:t>
            </a:r>
            <a:r>
              <a:rPr sz="1200" b="0" dirty="0">
                <a:solidFill>
                  <a:srgbClr val="1F3A3D"/>
                </a:solidFill>
                <a:latin typeface="Calibri" panose="020F0502020204030204" pitchFamily="34" charset="0"/>
                <a:ea typeface="Calibri" panose="020F0502020204030204" pitchFamily="34" charset="0"/>
                <a:cs typeface="Calibri" panose="020F0502020204030204" pitchFamily="34" charset="0"/>
              </a:rPr>
              <a:t> BioShock 2 Remastered 12,008</a:t>
            </a:r>
            <a:r>
              <a:rPr lang="en-US" sz="1200" b="0" dirty="0">
                <a:solidFill>
                  <a:srgbClr val="1F3A3D"/>
                </a:solidFill>
                <a:latin typeface="Calibri" panose="020F0502020204030204" pitchFamily="34" charset="0"/>
                <a:ea typeface="Calibri" panose="020F0502020204030204" pitchFamily="34" charset="0"/>
                <a:cs typeface="Calibri" panose="020F0502020204030204" pitchFamily="34" charset="0"/>
              </a:rPr>
              <a:t>,</a:t>
            </a:r>
            <a:r>
              <a:rPr sz="1200" b="0" dirty="0">
                <a:solidFill>
                  <a:srgbClr val="1F3A3D"/>
                </a:solidFill>
                <a:latin typeface="Calibri" panose="020F0502020204030204" pitchFamily="34" charset="0"/>
                <a:ea typeface="Calibri" panose="020F0502020204030204" pitchFamily="34" charset="0"/>
                <a:cs typeface="Calibri" panose="020F0502020204030204" pitchFamily="34" charset="0"/>
              </a:rPr>
              <a:t> BioShock Infinite 47,232.</a:t>
            </a:r>
          </a:p>
        </p:txBody>
      </p:sp>
      <p:sp>
        <p:nvSpPr>
          <p:cNvPr id="11" name="TextBox 10">
            <a:extLst>
              <a:ext uri="{FF2B5EF4-FFF2-40B4-BE49-F238E27FC236}">
                <a16:creationId xmlns:a16="http://schemas.microsoft.com/office/drawing/2014/main" id="{67D3EEBC-7F7B-0DDC-C6DB-9E68781B12AB}"/>
              </a:ext>
            </a:extLst>
          </p:cNvPr>
          <p:cNvSpPr txBox="1"/>
          <p:nvPr/>
        </p:nvSpPr>
        <p:spPr>
          <a:xfrm>
            <a:off x="548640" y="3145536"/>
            <a:ext cx="5212080" cy="183255"/>
          </a:xfrm>
          <a:prstGeom prst="rect">
            <a:avLst/>
          </a:prstGeom>
          <a:noFill/>
        </p:spPr>
        <p:txBody>
          <a:bodyPr wrap="square" lIns="0" tIns="0" rIns="0" bIns="0">
            <a:spAutoFit/>
          </a:bodyPr>
          <a:lstStyle/>
          <a:p>
            <a:pPr>
              <a:lnSpc>
                <a:spcPct val="115000"/>
              </a:lnSpc>
            </a:pPr>
            <a:r>
              <a:rPr sz="1100" b="1">
                <a:solidFill>
                  <a:srgbClr val="8C8C8C"/>
                </a:solidFill>
                <a:latin typeface="Calibri" panose="020F0502020204030204" pitchFamily="34" charset="0"/>
                <a:ea typeface="Calibri" panose="020F0502020204030204" pitchFamily="34" charset="0"/>
                <a:cs typeface="Calibri" panose="020F0502020204030204" pitchFamily="34" charset="0"/>
              </a:rPr>
              <a:t>TITLES</a:t>
            </a:r>
          </a:p>
        </p:txBody>
      </p:sp>
      <p:sp>
        <p:nvSpPr>
          <p:cNvPr id="12" name="Rectangle 11">
            <a:extLst>
              <a:ext uri="{FF2B5EF4-FFF2-40B4-BE49-F238E27FC236}">
                <a16:creationId xmlns:a16="http://schemas.microsoft.com/office/drawing/2014/main" id="{BA84DBD4-BEA9-6E7D-03CB-BED2604ABFC9}"/>
              </a:ext>
            </a:extLst>
          </p:cNvPr>
          <p:cNvSpPr/>
          <p:nvPr/>
        </p:nvSpPr>
        <p:spPr>
          <a:xfrm>
            <a:off x="548640" y="3419856"/>
            <a:ext cx="5212080" cy="10972"/>
          </a:xfrm>
          <a:prstGeom prst="rect">
            <a:avLst/>
          </a:prstGeom>
          <a:solidFill>
            <a:srgbClr val="DCDF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panose="020F0502020204030204" pitchFamily="34" charset="0"/>
              <a:ea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2C313ECB-D316-2DE7-703A-E8002AC24F0E}"/>
              </a:ext>
            </a:extLst>
          </p:cNvPr>
          <p:cNvSpPr txBox="1"/>
          <p:nvPr/>
        </p:nvSpPr>
        <p:spPr>
          <a:xfrm>
            <a:off x="548640" y="3566160"/>
            <a:ext cx="5212080" cy="412292"/>
          </a:xfrm>
          <a:prstGeom prst="rect">
            <a:avLst/>
          </a:prstGeom>
          <a:noFill/>
        </p:spPr>
        <p:txBody>
          <a:bodyPr wrap="square" lIns="0" tIns="0" rIns="0" bIns="0">
            <a:spAutoFit/>
          </a:bodyPr>
          <a:lstStyle/>
          <a:p>
            <a:pPr>
              <a:lnSpc>
                <a:spcPct val="115000"/>
              </a:lnSpc>
            </a:pPr>
            <a:r>
              <a:rPr sz="1200" b="0" dirty="0">
                <a:solidFill>
                  <a:srgbClr val="1F3A3D"/>
                </a:solidFill>
                <a:latin typeface="Calibri" panose="020F0502020204030204" pitchFamily="34" charset="0"/>
                <a:ea typeface="Calibri" panose="020F0502020204030204" pitchFamily="34" charset="0"/>
                <a:cs typeface="Calibri" panose="020F0502020204030204" pitchFamily="34" charset="0"/>
              </a:rPr>
              <a:t>BioShock 1 and 2 are the 2016 remastered releases, not the original 2007 and 2010 versions. Infinite is the original release.</a:t>
            </a:r>
          </a:p>
        </p:txBody>
      </p:sp>
      <p:sp>
        <p:nvSpPr>
          <p:cNvPr id="14" name="TextBox 13">
            <a:extLst>
              <a:ext uri="{FF2B5EF4-FFF2-40B4-BE49-F238E27FC236}">
                <a16:creationId xmlns:a16="http://schemas.microsoft.com/office/drawing/2014/main" id="{CF80B1E4-316B-E646-C29E-459D8A95BAA4}"/>
              </a:ext>
            </a:extLst>
          </p:cNvPr>
          <p:cNvSpPr txBox="1"/>
          <p:nvPr/>
        </p:nvSpPr>
        <p:spPr>
          <a:xfrm>
            <a:off x="548640" y="4535424"/>
            <a:ext cx="5212080" cy="183255"/>
          </a:xfrm>
          <a:prstGeom prst="rect">
            <a:avLst/>
          </a:prstGeom>
          <a:noFill/>
        </p:spPr>
        <p:txBody>
          <a:bodyPr wrap="square" lIns="0" tIns="0" rIns="0" bIns="0">
            <a:spAutoFit/>
          </a:bodyPr>
          <a:lstStyle/>
          <a:p>
            <a:pPr>
              <a:lnSpc>
                <a:spcPct val="115000"/>
              </a:lnSpc>
            </a:pPr>
            <a:r>
              <a:rPr sz="1100" b="1">
                <a:solidFill>
                  <a:srgbClr val="8C8C8C"/>
                </a:solidFill>
                <a:latin typeface="Calibri" panose="020F0502020204030204" pitchFamily="34" charset="0"/>
                <a:ea typeface="Calibri" panose="020F0502020204030204" pitchFamily="34" charset="0"/>
                <a:cs typeface="Calibri" panose="020F0502020204030204" pitchFamily="34" charset="0"/>
              </a:rPr>
              <a:t>VERDICT</a:t>
            </a:r>
          </a:p>
        </p:txBody>
      </p:sp>
      <p:sp>
        <p:nvSpPr>
          <p:cNvPr id="15" name="Rectangle 14">
            <a:extLst>
              <a:ext uri="{FF2B5EF4-FFF2-40B4-BE49-F238E27FC236}">
                <a16:creationId xmlns:a16="http://schemas.microsoft.com/office/drawing/2014/main" id="{11DC30BE-0102-A256-55B0-FFF682E0C52F}"/>
              </a:ext>
            </a:extLst>
          </p:cNvPr>
          <p:cNvSpPr/>
          <p:nvPr/>
        </p:nvSpPr>
        <p:spPr>
          <a:xfrm>
            <a:off x="548640" y="4809744"/>
            <a:ext cx="5212080" cy="10972"/>
          </a:xfrm>
          <a:prstGeom prst="rect">
            <a:avLst/>
          </a:prstGeom>
          <a:solidFill>
            <a:srgbClr val="DCDF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panose="020F0502020204030204" pitchFamily="34" charset="0"/>
              <a:ea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C53B8264-F4D0-4A98-65E7-DA65F93661F5}"/>
              </a:ext>
            </a:extLst>
          </p:cNvPr>
          <p:cNvSpPr txBox="1"/>
          <p:nvPr/>
        </p:nvSpPr>
        <p:spPr>
          <a:xfrm>
            <a:off x="548640" y="4956048"/>
            <a:ext cx="5212080" cy="412292"/>
          </a:xfrm>
          <a:prstGeom prst="rect">
            <a:avLst/>
          </a:prstGeom>
          <a:noFill/>
        </p:spPr>
        <p:txBody>
          <a:bodyPr wrap="square" lIns="0" tIns="0" rIns="0" bIns="0">
            <a:spAutoFit/>
          </a:bodyPr>
          <a:lstStyle/>
          <a:p>
            <a:pPr>
              <a:lnSpc>
                <a:spcPct val="115000"/>
              </a:lnSpc>
            </a:pPr>
            <a:r>
              <a:rPr sz="1200" b="0" dirty="0">
                <a:solidFill>
                  <a:srgbClr val="1F3A3D"/>
                </a:solidFill>
                <a:latin typeface="Calibri" panose="020F0502020204030204" pitchFamily="34" charset="0"/>
                <a:ea typeface="Calibri" panose="020F0502020204030204" pitchFamily="34" charset="0"/>
                <a:cs typeface="Calibri" panose="020F0502020204030204" pitchFamily="34" charset="0"/>
              </a:rPr>
              <a:t>Positive or negative as recorded by Steam's thumbs up / thumbs down, not from review text.</a:t>
            </a:r>
          </a:p>
        </p:txBody>
      </p:sp>
      <p:sp>
        <p:nvSpPr>
          <p:cNvPr id="17" name="TextBox 16">
            <a:extLst>
              <a:ext uri="{FF2B5EF4-FFF2-40B4-BE49-F238E27FC236}">
                <a16:creationId xmlns:a16="http://schemas.microsoft.com/office/drawing/2014/main" id="{EA497E22-F2D0-9E14-F12C-E2E59687A1BD}"/>
              </a:ext>
            </a:extLst>
          </p:cNvPr>
          <p:cNvSpPr txBox="1"/>
          <p:nvPr/>
        </p:nvSpPr>
        <p:spPr>
          <a:xfrm>
            <a:off x="6400800" y="1755648"/>
            <a:ext cx="5212080" cy="183255"/>
          </a:xfrm>
          <a:prstGeom prst="rect">
            <a:avLst/>
          </a:prstGeom>
          <a:noFill/>
        </p:spPr>
        <p:txBody>
          <a:bodyPr wrap="square" lIns="0" tIns="0" rIns="0" bIns="0">
            <a:spAutoFit/>
          </a:bodyPr>
          <a:lstStyle/>
          <a:p>
            <a:pPr>
              <a:lnSpc>
                <a:spcPct val="115000"/>
              </a:lnSpc>
            </a:pPr>
            <a:r>
              <a:rPr sz="1100" b="1">
                <a:solidFill>
                  <a:srgbClr val="8C8C8C"/>
                </a:solidFill>
                <a:latin typeface="Calibri" panose="020F0502020204030204" pitchFamily="34" charset="0"/>
                <a:ea typeface="Calibri" panose="020F0502020204030204" pitchFamily="34" charset="0"/>
                <a:cs typeface="Calibri" panose="020F0502020204030204" pitchFamily="34" charset="0"/>
              </a:rPr>
              <a:t>REVIEW ERA</a:t>
            </a:r>
          </a:p>
        </p:txBody>
      </p:sp>
      <p:sp>
        <p:nvSpPr>
          <p:cNvPr id="18" name="Rectangle 17">
            <a:extLst>
              <a:ext uri="{FF2B5EF4-FFF2-40B4-BE49-F238E27FC236}">
                <a16:creationId xmlns:a16="http://schemas.microsoft.com/office/drawing/2014/main" id="{5255E317-58DB-77F1-604D-2C03C4A90797}"/>
              </a:ext>
            </a:extLst>
          </p:cNvPr>
          <p:cNvSpPr/>
          <p:nvPr/>
        </p:nvSpPr>
        <p:spPr>
          <a:xfrm>
            <a:off x="6400800" y="2029967"/>
            <a:ext cx="5212080" cy="10972"/>
          </a:xfrm>
          <a:prstGeom prst="rect">
            <a:avLst/>
          </a:prstGeom>
          <a:solidFill>
            <a:srgbClr val="DCDF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panose="020F0502020204030204" pitchFamily="34" charset="0"/>
              <a:ea typeface="Calibri" panose="020F0502020204030204" pitchFamily="34" charset="0"/>
              <a:cs typeface="Calibri" panose="020F0502020204030204" pitchFamily="34" charset="0"/>
            </a:endParaRPr>
          </a:p>
        </p:txBody>
      </p:sp>
      <p:sp>
        <p:nvSpPr>
          <p:cNvPr id="19" name="TextBox 18">
            <a:extLst>
              <a:ext uri="{FF2B5EF4-FFF2-40B4-BE49-F238E27FC236}">
                <a16:creationId xmlns:a16="http://schemas.microsoft.com/office/drawing/2014/main" id="{4BC6EE1D-C0AE-B988-855A-3094C9339458}"/>
              </a:ext>
            </a:extLst>
          </p:cNvPr>
          <p:cNvSpPr txBox="1"/>
          <p:nvPr/>
        </p:nvSpPr>
        <p:spPr>
          <a:xfrm>
            <a:off x="6400800" y="2176272"/>
            <a:ext cx="5212080" cy="624658"/>
          </a:xfrm>
          <a:prstGeom prst="rect">
            <a:avLst/>
          </a:prstGeom>
          <a:noFill/>
        </p:spPr>
        <p:txBody>
          <a:bodyPr wrap="square" lIns="0" tIns="0" rIns="0" bIns="0">
            <a:spAutoFit/>
          </a:bodyPr>
          <a:lstStyle/>
          <a:p>
            <a:pPr>
              <a:lnSpc>
                <a:spcPct val="115000"/>
              </a:lnSpc>
            </a:pPr>
            <a:r>
              <a:rPr sz="1200" b="0">
                <a:solidFill>
                  <a:srgbClr val="1F3A3D"/>
                </a:solidFill>
                <a:latin typeface="Calibri" panose="020F0502020204030204" pitchFamily="34" charset="0"/>
                <a:ea typeface="Calibri" panose="020F0502020204030204" pitchFamily="34" charset="0"/>
                <a:cs typeface="Calibri" panose="020F0502020204030204" pitchFamily="34" charset="0"/>
              </a:rPr>
              <a:t>Launch era covers the first 12 months after each title's Steam release; later era covers everything after. Era groups are different reviewers, not the same reviewers over time.</a:t>
            </a:r>
          </a:p>
        </p:txBody>
      </p:sp>
      <p:sp>
        <p:nvSpPr>
          <p:cNvPr id="20" name="TextBox 19">
            <a:extLst>
              <a:ext uri="{FF2B5EF4-FFF2-40B4-BE49-F238E27FC236}">
                <a16:creationId xmlns:a16="http://schemas.microsoft.com/office/drawing/2014/main" id="{93C06717-6161-1C04-274D-A787C6287362}"/>
              </a:ext>
            </a:extLst>
          </p:cNvPr>
          <p:cNvSpPr txBox="1"/>
          <p:nvPr/>
        </p:nvSpPr>
        <p:spPr>
          <a:xfrm>
            <a:off x="6400800" y="3145536"/>
            <a:ext cx="5212080" cy="183255"/>
          </a:xfrm>
          <a:prstGeom prst="rect">
            <a:avLst/>
          </a:prstGeom>
          <a:noFill/>
        </p:spPr>
        <p:txBody>
          <a:bodyPr wrap="square" lIns="0" tIns="0" rIns="0" bIns="0">
            <a:spAutoFit/>
          </a:bodyPr>
          <a:lstStyle/>
          <a:p>
            <a:pPr>
              <a:lnSpc>
                <a:spcPct val="115000"/>
              </a:lnSpc>
            </a:pPr>
            <a:r>
              <a:rPr sz="1100" b="1">
                <a:solidFill>
                  <a:srgbClr val="8C8C8C"/>
                </a:solidFill>
                <a:latin typeface="Calibri" panose="020F0502020204030204" pitchFamily="34" charset="0"/>
                <a:ea typeface="Calibri" panose="020F0502020204030204" pitchFamily="34" charset="0"/>
                <a:cs typeface="Calibri" panose="020F0502020204030204" pitchFamily="34" charset="0"/>
              </a:rPr>
              <a:t>PLAYTIME BANDS</a:t>
            </a:r>
          </a:p>
        </p:txBody>
      </p:sp>
      <p:sp>
        <p:nvSpPr>
          <p:cNvPr id="21" name="Rectangle 20">
            <a:extLst>
              <a:ext uri="{FF2B5EF4-FFF2-40B4-BE49-F238E27FC236}">
                <a16:creationId xmlns:a16="http://schemas.microsoft.com/office/drawing/2014/main" id="{ABC10CFA-B9FC-E140-E71F-EFAB0F6B5196}"/>
              </a:ext>
            </a:extLst>
          </p:cNvPr>
          <p:cNvSpPr/>
          <p:nvPr/>
        </p:nvSpPr>
        <p:spPr>
          <a:xfrm>
            <a:off x="6400800" y="3419856"/>
            <a:ext cx="5212080" cy="10972"/>
          </a:xfrm>
          <a:prstGeom prst="rect">
            <a:avLst/>
          </a:prstGeom>
          <a:solidFill>
            <a:srgbClr val="DCDF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panose="020F0502020204030204" pitchFamily="34" charset="0"/>
              <a:ea typeface="Calibri" panose="020F0502020204030204" pitchFamily="34" charset="0"/>
              <a:cs typeface="Calibri" panose="020F0502020204030204" pitchFamily="34" charset="0"/>
            </a:endParaRPr>
          </a:p>
        </p:txBody>
      </p:sp>
      <p:sp>
        <p:nvSpPr>
          <p:cNvPr id="22" name="TextBox 21">
            <a:extLst>
              <a:ext uri="{FF2B5EF4-FFF2-40B4-BE49-F238E27FC236}">
                <a16:creationId xmlns:a16="http://schemas.microsoft.com/office/drawing/2014/main" id="{F1625469-16D3-A8B7-F247-862BF0C68011}"/>
              </a:ext>
            </a:extLst>
          </p:cNvPr>
          <p:cNvSpPr txBox="1"/>
          <p:nvPr/>
        </p:nvSpPr>
        <p:spPr>
          <a:xfrm>
            <a:off x="6400800" y="3566160"/>
            <a:ext cx="5212080" cy="412292"/>
          </a:xfrm>
          <a:prstGeom prst="rect">
            <a:avLst/>
          </a:prstGeom>
          <a:noFill/>
        </p:spPr>
        <p:txBody>
          <a:bodyPr wrap="square" lIns="0" tIns="0" rIns="0" bIns="0">
            <a:spAutoFit/>
          </a:bodyPr>
          <a:lstStyle/>
          <a:p>
            <a:pPr>
              <a:lnSpc>
                <a:spcPct val="115000"/>
              </a:lnSpc>
            </a:pPr>
            <a:r>
              <a:rPr sz="1200" b="0" dirty="0">
                <a:solidFill>
                  <a:srgbClr val="1F3A3D"/>
                </a:solidFill>
                <a:latin typeface="Calibri" panose="020F0502020204030204" pitchFamily="34" charset="0"/>
                <a:ea typeface="Calibri" panose="020F0502020204030204" pitchFamily="34" charset="0"/>
                <a:cs typeface="Calibri" panose="020F0502020204030204" pitchFamily="34" charset="0"/>
              </a:rPr>
              <a:t>Brief under 2 hours, moderate 2 to 12 hours, extended 12 hours or more, hours recorded at the time of review.</a:t>
            </a:r>
          </a:p>
        </p:txBody>
      </p:sp>
      <p:sp>
        <p:nvSpPr>
          <p:cNvPr id="23" name="TextBox 22">
            <a:extLst>
              <a:ext uri="{FF2B5EF4-FFF2-40B4-BE49-F238E27FC236}">
                <a16:creationId xmlns:a16="http://schemas.microsoft.com/office/drawing/2014/main" id="{A5956537-B1BF-41F8-5D83-A21561D9705C}"/>
              </a:ext>
            </a:extLst>
          </p:cNvPr>
          <p:cNvSpPr txBox="1"/>
          <p:nvPr/>
        </p:nvSpPr>
        <p:spPr>
          <a:xfrm>
            <a:off x="6400800" y="4535424"/>
            <a:ext cx="5212080" cy="183255"/>
          </a:xfrm>
          <a:prstGeom prst="rect">
            <a:avLst/>
          </a:prstGeom>
          <a:noFill/>
        </p:spPr>
        <p:txBody>
          <a:bodyPr wrap="square" lIns="0" tIns="0" rIns="0" bIns="0">
            <a:spAutoFit/>
          </a:bodyPr>
          <a:lstStyle/>
          <a:p>
            <a:pPr>
              <a:lnSpc>
                <a:spcPct val="115000"/>
              </a:lnSpc>
            </a:pPr>
            <a:r>
              <a:rPr sz="1100" b="1" dirty="0">
                <a:solidFill>
                  <a:srgbClr val="8C8C8C"/>
                </a:solidFill>
                <a:latin typeface="Calibri" panose="020F0502020204030204" pitchFamily="34" charset="0"/>
                <a:ea typeface="Calibri" panose="020F0502020204030204" pitchFamily="34" charset="0"/>
                <a:cs typeface="Calibri" panose="020F0502020204030204" pitchFamily="34" charset="0"/>
              </a:rPr>
              <a:t>RECENT </a:t>
            </a:r>
            <a:r>
              <a:rPr lang="en-US" sz="1100" b="1" dirty="0">
                <a:solidFill>
                  <a:srgbClr val="8C8C8C"/>
                </a:solidFill>
                <a:latin typeface="Calibri" panose="020F0502020204030204" pitchFamily="34" charset="0"/>
                <a:ea typeface="Calibri" panose="020F0502020204030204" pitchFamily="34" charset="0"/>
                <a:cs typeface="Calibri" panose="020F0502020204030204" pitchFamily="34" charset="0"/>
              </a:rPr>
              <a:t>DATA (SLIDE 4)</a:t>
            </a:r>
            <a:endParaRPr sz="1100" b="1" dirty="0">
              <a:solidFill>
                <a:srgbClr val="8C8C8C"/>
              </a:solidFill>
              <a:latin typeface="Calibri" panose="020F0502020204030204" pitchFamily="34" charset="0"/>
              <a:ea typeface="Calibri" panose="020F0502020204030204" pitchFamily="34" charset="0"/>
              <a:cs typeface="Calibri" panose="020F0502020204030204" pitchFamily="34" charset="0"/>
            </a:endParaRPr>
          </a:p>
        </p:txBody>
      </p:sp>
      <p:sp>
        <p:nvSpPr>
          <p:cNvPr id="24" name="Rectangle 23">
            <a:extLst>
              <a:ext uri="{FF2B5EF4-FFF2-40B4-BE49-F238E27FC236}">
                <a16:creationId xmlns:a16="http://schemas.microsoft.com/office/drawing/2014/main" id="{FB209FC3-3CE0-4005-BFFF-DC13732AEBE6}"/>
              </a:ext>
            </a:extLst>
          </p:cNvPr>
          <p:cNvSpPr/>
          <p:nvPr/>
        </p:nvSpPr>
        <p:spPr>
          <a:xfrm>
            <a:off x="6400800" y="4809744"/>
            <a:ext cx="5212080" cy="10972"/>
          </a:xfrm>
          <a:prstGeom prst="rect">
            <a:avLst/>
          </a:prstGeom>
          <a:solidFill>
            <a:srgbClr val="DCDF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panose="020F0502020204030204" pitchFamily="34" charset="0"/>
              <a:ea typeface="Calibri" panose="020F0502020204030204" pitchFamily="34" charset="0"/>
              <a:cs typeface="Calibri" panose="020F0502020204030204" pitchFamily="34" charset="0"/>
            </a:endParaRPr>
          </a:p>
        </p:txBody>
      </p:sp>
      <p:sp>
        <p:nvSpPr>
          <p:cNvPr id="25" name="TextBox 24">
            <a:extLst>
              <a:ext uri="{FF2B5EF4-FFF2-40B4-BE49-F238E27FC236}">
                <a16:creationId xmlns:a16="http://schemas.microsoft.com/office/drawing/2014/main" id="{78A0F8D4-BE5C-03EC-59C8-EDF966CB0FDB}"/>
              </a:ext>
            </a:extLst>
          </p:cNvPr>
          <p:cNvSpPr txBox="1"/>
          <p:nvPr/>
        </p:nvSpPr>
        <p:spPr>
          <a:xfrm>
            <a:off x="6400800" y="4956048"/>
            <a:ext cx="5212080" cy="624658"/>
          </a:xfrm>
          <a:prstGeom prst="rect">
            <a:avLst/>
          </a:prstGeom>
          <a:noFill/>
        </p:spPr>
        <p:txBody>
          <a:bodyPr wrap="square" lIns="0" tIns="0" rIns="0" bIns="0">
            <a:spAutoFit/>
          </a:bodyPr>
          <a:lstStyle/>
          <a:p>
            <a:pPr>
              <a:lnSpc>
                <a:spcPct val="115000"/>
              </a:lnSpc>
            </a:pPr>
            <a:r>
              <a:rPr sz="1200" b="0" dirty="0">
                <a:solidFill>
                  <a:srgbClr val="1F3A3D"/>
                </a:solidFill>
                <a:latin typeface="Calibri" panose="020F0502020204030204" pitchFamily="34" charset="0"/>
                <a:ea typeface="Calibri" panose="020F0502020204030204" pitchFamily="34" charset="0"/>
                <a:cs typeface="Calibri" panose="020F0502020204030204" pitchFamily="34" charset="0"/>
              </a:rPr>
              <a:t>Reviews written in the 12 months to July 26, 2026.</a:t>
            </a:r>
            <a:r>
              <a:rPr lang="en-US" sz="1200" b="0" dirty="0">
                <a:solidFill>
                  <a:srgbClr val="1F3A3D"/>
                </a:solidFill>
                <a:latin typeface="Calibri" panose="020F0502020204030204" pitchFamily="34" charset="0"/>
                <a:ea typeface="Calibri" panose="020F0502020204030204" pitchFamily="34" charset="0"/>
                <a:cs typeface="Calibri" panose="020F0502020204030204" pitchFamily="34" charset="0"/>
              </a:rPr>
              <a:t> While still a finding, not a major component of the review data analysis. Intended to provide an idea of how players respond to the title currently.</a:t>
            </a:r>
            <a:endParaRPr sz="1200" b="0" dirty="0">
              <a:solidFill>
                <a:srgbClr val="1F3A3D"/>
              </a:solidFill>
              <a:latin typeface="Calibri" panose="020F0502020204030204" pitchFamily="34" charset="0"/>
              <a:ea typeface="Calibri" panose="020F0502020204030204" pitchFamily="34" charset="0"/>
              <a:cs typeface="Calibri" panose="020F0502020204030204" pitchFamily="34" charset="0"/>
            </a:endParaRPr>
          </a:p>
        </p:txBody>
      </p:sp>
      <p:sp>
        <p:nvSpPr>
          <p:cNvPr id="26" name="Rectangle 25">
            <a:extLst>
              <a:ext uri="{FF2B5EF4-FFF2-40B4-BE49-F238E27FC236}">
                <a16:creationId xmlns:a16="http://schemas.microsoft.com/office/drawing/2014/main" id="{167143C9-9F27-7FE3-16F9-47AF493192FF}"/>
              </a:ext>
            </a:extLst>
          </p:cNvPr>
          <p:cNvSpPr/>
          <p:nvPr/>
        </p:nvSpPr>
        <p:spPr>
          <a:xfrm>
            <a:off x="548640" y="5870448"/>
            <a:ext cx="11091672" cy="10972"/>
          </a:xfrm>
          <a:prstGeom prst="rect">
            <a:avLst/>
          </a:prstGeom>
          <a:solidFill>
            <a:srgbClr val="DCDF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505959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School Days</Template>
  <TotalTime>1765</TotalTime>
  <Words>2418</Words>
  <Application>Microsoft Office PowerPoint</Application>
  <PresentationFormat>Widescreen</PresentationFormat>
  <Paragraphs>283</Paragraphs>
  <Slides>19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Aptos</vt:lpstr>
      <vt:lpstr>Aptos Display</vt:lpstr>
      <vt:lpstr>Arial</vt:lpstr>
      <vt:lpstr>Calibri</vt:lpstr>
      <vt:lpstr>Office Theme</vt:lpstr>
      <vt:lpstr>PowerPoint Presentation</vt:lpstr>
      <vt:lpstr>PowerPoint Presentation</vt:lpstr>
      <vt:lpstr>State of the next BioShock</vt:lpstr>
      <vt:lpstr>PowerPoint Presentation</vt:lpstr>
      <vt:lpstr>A decade later, the remasters review better than their lifetime average</vt:lpstr>
      <vt:lpstr>Narrative is the only theme mentioned in at least 20% of reviews across all BioShock titles</vt:lpstr>
      <vt:lpstr>BioShock 1 &amp; 2 reviews mention technical performance in negative reviews at a higher rate than Infinite</vt:lpstr>
      <vt:lpstr>Combat and pacing mentioned in a higher percent of Infinite’s negative reviews compared to remasters</vt:lpstr>
      <vt:lpstr>Positive reviews skew higher in later eras and as playtime increased, except in Infinite’s later era decline</vt:lpstr>
      <vt:lpstr>Hypothesis results</vt:lpstr>
      <vt:lpstr>PowerPoint Presentation</vt:lpstr>
      <vt:lpstr>DOOM (2016) – When the revival goes right</vt:lpstr>
      <vt:lpstr>Dishonored 2 (2016) – Acclaim alone cannot carry a sequel</vt:lpstr>
      <vt:lpstr>PowerPoint Presentation</vt:lpstr>
      <vt:lpstr>PowerPoint Presentation</vt:lpstr>
      <vt:lpstr>PowerPoint Presentation</vt:lpstr>
      <vt:lpstr>PowerPoint Presentation</vt:lpstr>
      <vt:lpstr> </vt:lpstr>
      <vt:lpstr>Appendix - scope and definitions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Savion Barron Barron</dc:creator>
  <cp:lastModifiedBy>Savion Barron</cp:lastModifiedBy>
  <cp:revision>73</cp:revision>
  <dcterms:created xsi:type="dcterms:W3CDTF">2026-08-28T01:52:33Z</dcterms:created>
  <dcterms:modified xsi:type="dcterms:W3CDTF">2026-09-10T22:25:51Z</dcterms:modified>
</cp:coreProperties>
</file>